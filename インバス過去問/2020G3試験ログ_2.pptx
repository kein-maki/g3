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1" r:id="rId5"/>
    <p:sldId id="259" r:id="rId6"/>
    <p:sldId id="262" r:id="rId7"/>
    <p:sldId id="263"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4" d="100"/>
          <a:sy n="154" d="100"/>
        </p:scale>
        <p:origin x="888"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1589239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172914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2161248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2936022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2191368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1995842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3718453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971616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3899065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1134577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71EEB29-1A7B-41C4-8CD4-44BDA8DE8943}" type="datetimeFigureOut">
              <a:rPr kumimoji="1" lang="ja-JP" altLang="en-US" smtClean="0"/>
              <a:t>2021/4/5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2269722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1EEB29-1A7B-41C4-8CD4-44BDA8DE8943}" type="datetimeFigureOut">
              <a:rPr kumimoji="1" lang="ja-JP" altLang="en-US" smtClean="0"/>
              <a:t>2021/4/5</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1339969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dirty="0" smtClean="0"/>
              <a:t>G3</a:t>
            </a:r>
            <a:r>
              <a:rPr kumimoji="1" lang="ja-JP" altLang="en-US" dirty="0" smtClean="0"/>
              <a:t>試験ログ</a:t>
            </a:r>
            <a:endParaRPr kumimoji="1" lang="ja-JP" altLang="en-US" dirty="0"/>
          </a:p>
        </p:txBody>
      </p:sp>
      <p:sp>
        <p:nvSpPr>
          <p:cNvPr id="3" name="サブタイトル 2"/>
          <p:cNvSpPr>
            <a:spLocks noGrp="1"/>
          </p:cNvSpPr>
          <p:nvPr>
            <p:ph type="subTitle" idx="1"/>
          </p:nvPr>
        </p:nvSpPr>
        <p:spPr/>
        <p:txBody>
          <a:bodyPr/>
          <a:lstStyle/>
          <a:p>
            <a:r>
              <a:rPr kumimoji="1" lang="ja-JP" altLang="en-US" dirty="0" smtClean="0"/>
              <a:t>作成：吉田、松原</a:t>
            </a:r>
            <a:endParaRPr kumimoji="1" lang="ja-JP" altLang="en-US" dirty="0"/>
          </a:p>
        </p:txBody>
      </p:sp>
    </p:spTree>
    <p:extLst>
      <p:ext uri="{BB962C8B-B14F-4D97-AF65-F5344CB8AC3E}">
        <p14:creationId xmlns:p14="http://schemas.microsoft.com/office/powerpoint/2010/main" val="1582425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インバスケット</a:t>
            </a:r>
            <a:endParaRPr kumimoji="1" lang="ja-JP" altLang="en-US" dirty="0"/>
          </a:p>
        </p:txBody>
      </p:sp>
      <p:sp>
        <p:nvSpPr>
          <p:cNvPr id="3" name="コンテンツ プレースホルダー 2"/>
          <p:cNvSpPr>
            <a:spLocks noGrp="1"/>
          </p:cNvSpPr>
          <p:nvPr>
            <p:ph idx="1"/>
          </p:nvPr>
        </p:nvSpPr>
        <p:spPr>
          <a:xfrm>
            <a:off x="838200" y="1772871"/>
            <a:ext cx="10515600" cy="4351338"/>
          </a:xfrm>
        </p:spPr>
        <p:txBody>
          <a:bodyPr/>
          <a:lstStyle/>
          <a:p>
            <a:pPr marL="457200" indent="-457200">
              <a:buFont typeface="+mj-lt"/>
              <a:buAutoNum type="arabicPeriod"/>
            </a:pPr>
            <a:r>
              <a:rPr lang="ja-JP" altLang="en-US" sz="1800" dirty="0"/>
              <a:t>資料の配布、名前の記入</a:t>
            </a:r>
            <a:endParaRPr lang="en-US" altLang="ja-JP" sz="1800" dirty="0"/>
          </a:p>
          <a:p>
            <a:pPr marL="731520" lvl="1" indent="-457200"/>
            <a:r>
              <a:rPr lang="ja-JP" altLang="en-US" sz="1600" dirty="0"/>
              <a:t>受験の手引（冊子）</a:t>
            </a:r>
            <a:endParaRPr lang="en-US" altLang="ja-JP" sz="1600" dirty="0"/>
          </a:p>
          <a:p>
            <a:pPr marL="731520" lvl="1" indent="-457200"/>
            <a:r>
              <a:rPr lang="ja-JP" altLang="en-US" sz="1600" dirty="0" smtClean="0"/>
              <a:t>案件資料１８枚（封筒）</a:t>
            </a:r>
            <a:endParaRPr lang="en-US" altLang="ja-JP" sz="1600" dirty="0" smtClean="0"/>
          </a:p>
          <a:p>
            <a:pPr marL="731520" lvl="1" indent="-457200"/>
            <a:r>
              <a:rPr lang="ja-JP" altLang="en-US" sz="1600" dirty="0"/>
              <a:t>答案用紙</a:t>
            </a:r>
            <a:endParaRPr lang="en-US" altLang="ja-JP" sz="1600" dirty="0"/>
          </a:p>
          <a:p>
            <a:pPr marL="457200" indent="-457200">
              <a:buFont typeface="+mj-lt"/>
              <a:buAutoNum type="arabicPeriod"/>
            </a:pPr>
            <a:r>
              <a:rPr lang="ja-JP" altLang="en-US" sz="1800" dirty="0"/>
              <a:t>状況の把握</a:t>
            </a:r>
            <a:r>
              <a:rPr lang="en-US" altLang="ja-JP" sz="1800" dirty="0"/>
              <a:t>(</a:t>
            </a:r>
            <a:r>
              <a:rPr lang="ja-JP" altLang="en-US" sz="1800" dirty="0"/>
              <a:t>手引きに記載</a:t>
            </a:r>
            <a:r>
              <a:rPr lang="en-US" altLang="ja-JP" sz="1800" dirty="0"/>
              <a:t>) 6</a:t>
            </a:r>
            <a:r>
              <a:rPr lang="ja-JP" altLang="en-US" sz="1800" dirty="0" smtClean="0"/>
              <a:t>分（表紙含め</a:t>
            </a:r>
            <a:r>
              <a:rPr lang="en-US" altLang="ja-JP" sz="1800" dirty="0" smtClean="0"/>
              <a:t>8</a:t>
            </a:r>
            <a:r>
              <a:rPr lang="ja-JP" altLang="en-US" sz="1800" dirty="0" smtClean="0"/>
              <a:t>ページ）</a:t>
            </a:r>
            <a:endParaRPr lang="en-US" altLang="ja-JP" sz="1800" dirty="0"/>
          </a:p>
          <a:p>
            <a:pPr marL="457200" indent="-457200">
              <a:buFont typeface="+mj-lt"/>
              <a:buAutoNum type="arabicPeriod"/>
            </a:pPr>
            <a:r>
              <a:rPr lang="en-US" altLang="ja-JP" sz="1800" dirty="0"/>
              <a:t>【Ⅰ</a:t>
            </a:r>
            <a:r>
              <a:rPr lang="ja-JP" altLang="en-US" sz="1800" dirty="0"/>
              <a:t>：分析</a:t>
            </a:r>
            <a:r>
              <a:rPr lang="en-US" altLang="ja-JP" sz="1800" dirty="0"/>
              <a:t>】</a:t>
            </a:r>
            <a:r>
              <a:rPr lang="ja-JP" altLang="en-US" sz="1800" dirty="0"/>
              <a:t>優先度の高い処理</a:t>
            </a:r>
            <a:r>
              <a:rPr lang="en-US" altLang="ja-JP" sz="1800" dirty="0"/>
              <a:t>6</a:t>
            </a:r>
            <a:r>
              <a:rPr lang="ja-JP" altLang="en-US" sz="1800" dirty="0"/>
              <a:t>件と関連案件のピックアップ　</a:t>
            </a:r>
            <a:r>
              <a:rPr lang="en-US" altLang="ja-JP" sz="1800" dirty="0"/>
              <a:t>20</a:t>
            </a:r>
            <a:r>
              <a:rPr lang="ja-JP" altLang="en-US" sz="1800" dirty="0"/>
              <a:t>分</a:t>
            </a:r>
            <a:endParaRPr lang="en-US" altLang="ja-JP" sz="1800" dirty="0"/>
          </a:p>
          <a:p>
            <a:pPr marL="457200" indent="-457200">
              <a:buFont typeface="+mj-lt"/>
              <a:buAutoNum type="arabicPeriod"/>
            </a:pPr>
            <a:r>
              <a:rPr lang="en-US" altLang="ja-JP" sz="1800" dirty="0"/>
              <a:t>【Ⅱ</a:t>
            </a:r>
            <a:r>
              <a:rPr lang="ja-JP" altLang="en-US" sz="1800" dirty="0"/>
              <a:t>：判断</a:t>
            </a:r>
            <a:r>
              <a:rPr lang="en-US" altLang="ja-JP" sz="1800" dirty="0"/>
              <a:t>】Ⅰ</a:t>
            </a:r>
            <a:r>
              <a:rPr lang="ja-JP" altLang="en-US" sz="1800" dirty="0"/>
              <a:t>の案件のうち</a:t>
            </a:r>
            <a:r>
              <a:rPr lang="en-US" altLang="ja-JP" sz="1800" dirty="0"/>
              <a:t>3</a:t>
            </a:r>
            <a:r>
              <a:rPr lang="ja-JP" altLang="en-US" sz="1800" dirty="0"/>
              <a:t>つ</a:t>
            </a:r>
            <a:r>
              <a:rPr lang="ja-JP" altLang="en-US" sz="1800" dirty="0" smtClean="0"/>
              <a:t>がピックアップされ、それらに対して優先される三つの行動を処理依頼者と処理内容の組合せで解答　</a:t>
            </a:r>
            <a:r>
              <a:rPr lang="en-US" altLang="ja-JP" sz="1800" dirty="0" smtClean="0"/>
              <a:t>15</a:t>
            </a:r>
            <a:r>
              <a:rPr lang="ja-JP" altLang="en-US" sz="1800" dirty="0" smtClean="0"/>
              <a:t>分</a:t>
            </a:r>
            <a:r>
              <a:rPr lang="en-US" altLang="ja-JP" sz="1800" dirty="0" smtClean="0"/>
              <a:t/>
            </a:r>
            <a:br>
              <a:rPr lang="en-US" altLang="ja-JP" sz="1800" dirty="0" smtClean="0"/>
            </a:br>
            <a:r>
              <a:rPr lang="en-US" altLang="ja-JP" sz="1800" dirty="0" smtClean="0"/>
              <a:t/>
            </a:r>
            <a:br>
              <a:rPr lang="en-US" altLang="ja-JP" sz="1800" dirty="0" smtClean="0"/>
            </a:br>
            <a:r>
              <a:rPr lang="ja-JP" altLang="en-US" sz="1800" dirty="0" smtClean="0">
                <a:solidFill>
                  <a:srgbClr val="FF0000"/>
                </a:solidFill>
              </a:rPr>
              <a:t>例年と異なり、</a:t>
            </a:r>
            <a:r>
              <a:rPr lang="en-US" altLang="ja-JP" sz="1800" dirty="0" smtClean="0">
                <a:solidFill>
                  <a:srgbClr val="FF0000"/>
                </a:solidFill>
              </a:rPr>
              <a:t>【Ⅲ</a:t>
            </a:r>
            <a:r>
              <a:rPr lang="ja-JP" altLang="en-US" sz="1800" dirty="0" smtClean="0">
                <a:solidFill>
                  <a:srgbClr val="FF0000"/>
                </a:solidFill>
              </a:rPr>
              <a:t>：計画</a:t>
            </a:r>
            <a:r>
              <a:rPr lang="en-US" altLang="ja-JP" sz="1800" dirty="0" smtClean="0">
                <a:solidFill>
                  <a:srgbClr val="FF0000"/>
                </a:solidFill>
              </a:rPr>
              <a:t>】【Ⅳ</a:t>
            </a:r>
            <a:r>
              <a:rPr lang="ja-JP" altLang="en-US" sz="1800" dirty="0" smtClean="0">
                <a:solidFill>
                  <a:srgbClr val="FF0000"/>
                </a:solidFill>
              </a:rPr>
              <a:t>：チーム主導</a:t>
            </a:r>
            <a:r>
              <a:rPr lang="en-US" altLang="ja-JP" sz="1800" dirty="0" smtClean="0">
                <a:solidFill>
                  <a:srgbClr val="FF0000"/>
                </a:solidFill>
              </a:rPr>
              <a:t>】</a:t>
            </a:r>
            <a:r>
              <a:rPr lang="ja-JP" altLang="en-US" sz="1800" dirty="0" smtClean="0">
                <a:solidFill>
                  <a:srgbClr val="FF0000"/>
                </a:solidFill>
              </a:rPr>
              <a:t>がなくなっていた</a:t>
            </a:r>
            <a:endParaRPr lang="en-US" altLang="ja-JP" sz="1800" dirty="0" smtClean="0">
              <a:solidFill>
                <a:srgbClr val="FF0000"/>
              </a:solidFill>
            </a:endParaRPr>
          </a:p>
          <a:p>
            <a:endParaRPr kumimoji="1" lang="ja-JP" altLang="en-US" dirty="0"/>
          </a:p>
        </p:txBody>
      </p:sp>
    </p:spTree>
    <p:extLst>
      <p:ext uri="{BB962C8B-B14F-4D97-AF65-F5344CB8AC3E}">
        <p14:creationId xmlns:p14="http://schemas.microsoft.com/office/powerpoint/2010/main" val="607365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インバスケット状況設定</a:t>
            </a:r>
            <a:endParaRPr kumimoji="1" lang="ja-JP" altLang="en-US" dirty="0"/>
          </a:p>
        </p:txBody>
      </p:sp>
      <p:sp>
        <p:nvSpPr>
          <p:cNvPr id="3" name="コンテンツ プレースホルダー 2"/>
          <p:cNvSpPr>
            <a:spLocks noGrp="1"/>
          </p:cNvSpPr>
          <p:nvPr>
            <p:ph idx="1"/>
          </p:nvPr>
        </p:nvSpPr>
        <p:spPr>
          <a:xfrm>
            <a:off x="838200" y="1825624"/>
            <a:ext cx="9681927" cy="4683817"/>
          </a:xfrm>
        </p:spPr>
        <p:txBody>
          <a:bodyPr>
            <a:normAutofit fontScale="62500" lnSpcReduction="20000"/>
          </a:bodyPr>
          <a:lstStyle/>
          <a:p>
            <a:pPr>
              <a:lnSpc>
                <a:spcPct val="120000"/>
              </a:lnSpc>
            </a:pPr>
            <a:r>
              <a:rPr lang="ja-JP" altLang="en-US" dirty="0"/>
              <a:t>受験の手引（冊子）</a:t>
            </a:r>
          </a:p>
          <a:p>
            <a:pPr lvl="1">
              <a:lnSpc>
                <a:spcPct val="120000"/>
              </a:lnSpc>
            </a:pPr>
            <a:r>
              <a:rPr lang="ja-JP" altLang="en-US" dirty="0"/>
              <a:t>はじめに状況設定、組織図、各部門の役割、社長方針等が記載されている</a:t>
            </a:r>
          </a:p>
          <a:p>
            <a:pPr lvl="1">
              <a:lnSpc>
                <a:spcPct val="120000"/>
              </a:lnSpc>
            </a:pPr>
            <a:r>
              <a:rPr lang="ja-JP" altLang="en-US" dirty="0"/>
              <a:t>その次に問題が記載されている</a:t>
            </a:r>
          </a:p>
          <a:p>
            <a:pPr lvl="1">
              <a:lnSpc>
                <a:spcPct val="120000"/>
              </a:lnSpc>
            </a:pPr>
            <a:r>
              <a:rPr lang="ja-JP" altLang="en-US" dirty="0"/>
              <a:t>主人公は発動機メーカーの</a:t>
            </a:r>
            <a:r>
              <a:rPr lang="en-US" altLang="ja-JP" dirty="0"/>
              <a:t>9</a:t>
            </a:r>
            <a:r>
              <a:rPr lang="ja-JP" altLang="en-US" dirty="0"/>
              <a:t>年目社員であり</a:t>
            </a:r>
            <a:r>
              <a:rPr lang="ja-JP" altLang="en-US" dirty="0" smtClean="0"/>
              <a:t>、発動機の開発部門</a:t>
            </a:r>
            <a:r>
              <a:rPr lang="en-US" altLang="ja-JP" dirty="0"/>
              <a:t>【</a:t>
            </a:r>
            <a:r>
              <a:rPr lang="ja-JP" altLang="en-US" dirty="0"/>
              <a:t>製品開発第二課</a:t>
            </a:r>
            <a:r>
              <a:rPr lang="en-US" altLang="ja-JP" dirty="0"/>
              <a:t>】</a:t>
            </a:r>
            <a:r>
              <a:rPr lang="ja-JP" altLang="en-US" dirty="0"/>
              <a:t>に所属している</a:t>
            </a:r>
          </a:p>
          <a:p>
            <a:pPr lvl="1">
              <a:lnSpc>
                <a:spcPct val="120000"/>
              </a:lnSpc>
            </a:pPr>
            <a:r>
              <a:rPr lang="ja-JP" altLang="en-US" dirty="0"/>
              <a:t>出張から帰ってきたら仕事が溜まっていた、という</a:t>
            </a:r>
            <a:r>
              <a:rPr lang="ja-JP" altLang="en-US" dirty="0" smtClean="0"/>
              <a:t>設定</a:t>
            </a:r>
            <a:r>
              <a:rPr lang="en-US" altLang="ja-JP" dirty="0" smtClean="0"/>
              <a:t/>
            </a:r>
            <a:br>
              <a:rPr lang="en-US" altLang="ja-JP" dirty="0" smtClean="0"/>
            </a:br>
            <a:endParaRPr lang="en-US" altLang="ja-JP" dirty="0" smtClean="0"/>
          </a:p>
          <a:p>
            <a:pPr>
              <a:lnSpc>
                <a:spcPct val="120000"/>
              </a:lnSpc>
            </a:pPr>
            <a:r>
              <a:rPr lang="ja-JP" altLang="en-US" dirty="0" smtClean="0"/>
              <a:t>説明資料</a:t>
            </a:r>
            <a:endParaRPr lang="en-US" altLang="ja-JP" dirty="0" smtClean="0"/>
          </a:p>
          <a:p>
            <a:pPr marL="914400" lvl="1" indent="-457200">
              <a:lnSpc>
                <a:spcPct val="120000"/>
              </a:lnSpc>
              <a:buFont typeface="+mj-lt"/>
              <a:buAutoNum type="arabicPeriod"/>
            </a:pPr>
            <a:r>
              <a:rPr lang="ja-JP" altLang="en-US" dirty="0" smtClean="0"/>
              <a:t>会社の説明（マリン事業、発動機事業、など部門が色々ある説明があったが必要な情報はほぼゼロ）</a:t>
            </a:r>
            <a:endParaRPr lang="en-US" altLang="ja-JP" dirty="0" smtClean="0"/>
          </a:p>
          <a:p>
            <a:pPr marL="914400" lvl="1" indent="-457200">
              <a:lnSpc>
                <a:spcPct val="120000"/>
              </a:lnSpc>
              <a:buFont typeface="+mj-lt"/>
              <a:buAutoNum type="arabicPeriod"/>
            </a:pPr>
            <a:r>
              <a:rPr lang="ja-JP" altLang="en-US" dirty="0" smtClean="0"/>
              <a:t>組織図：生産管理部、品質部、製造部、技術研究部、マーケティング部、国内外営業部、法務部、デザイン部、製品設計部、調達部、お客様対応部門</a:t>
            </a:r>
            <a:endParaRPr lang="en-US" altLang="ja-JP" dirty="0" smtClean="0"/>
          </a:p>
          <a:p>
            <a:pPr marL="914400" lvl="1" indent="-457200">
              <a:lnSpc>
                <a:spcPct val="120000"/>
              </a:lnSpc>
              <a:buFont typeface="+mj-lt"/>
              <a:buAutoNum type="arabicPeriod"/>
            </a:pPr>
            <a:r>
              <a:rPr lang="ja-JP" altLang="en-US" dirty="0"/>
              <a:t>各部門</a:t>
            </a:r>
            <a:r>
              <a:rPr lang="ja-JP" altLang="en-US" dirty="0" smtClean="0"/>
              <a:t>の役割についての役割説明</a:t>
            </a:r>
            <a:endParaRPr lang="en-US" altLang="ja-JP" dirty="0" smtClean="0"/>
          </a:p>
          <a:p>
            <a:pPr marL="914400" lvl="1" indent="-457200">
              <a:lnSpc>
                <a:spcPct val="120000"/>
              </a:lnSpc>
              <a:buFont typeface="+mj-lt"/>
              <a:buAutoNum type="arabicPeriod"/>
            </a:pPr>
            <a:r>
              <a:rPr lang="ja-JP" altLang="en-US" dirty="0" smtClean="0"/>
              <a:t>製品の開発・製造フローチャート（各ステップの担当部門が明記されている）</a:t>
            </a:r>
            <a:endParaRPr lang="en-US" altLang="ja-JP" dirty="0" smtClean="0"/>
          </a:p>
          <a:p>
            <a:pPr marL="914400" lvl="1" indent="-457200">
              <a:lnSpc>
                <a:spcPct val="120000"/>
              </a:lnSpc>
              <a:buFont typeface="+mj-lt"/>
              <a:buAutoNum type="arabicPeriod"/>
            </a:pPr>
            <a:r>
              <a:rPr lang="ja-JP" altLang="en-US" dirty="0" smtClean="0"/>
              <a:t>製品開発第二課の製品と担当者</a:t>
            </a:r>
            <a:endParaRPr lang="en-US" altLang="ja-JP" dirty="0" smtClean="0"/>
          </a:p>
          <a:p>
            <a:pPr marL="914400" lvl="1" indent="-457200">
              <a:lnSpc>
                <a:spcPct val="120000"/>
              </a:lnSpc>
              <a:buFont typeface="+mj-lt"/>
              <a:buAutoNum type="arabicPeriod"/>
            </a:pPr>
            <a:r>
              <a:rPr lang="ja-JP" altLang="en-US" dirty="0"/>
              <a:t>発動機</a:t>
            </a:r>
            <a:r>
              <a:rPr lang="ja-JP" altLang="en-US" dirty="0" smtClean="0"/>
              <a:t>の部品の説明図</a:t>
            </a:r>
            <a:endParaRPr lang="en-US" altLang="ja-JP" dirty="0" smtClean="0"/>
          </a:p>
          <a:p>
            <a:pPr marL="914400" lvl="1" indent="-457200">
              <a:lnSpc>
                <a:spcPct val="120000"/>
              </a:lnSpc>
              <a:buFont typeface="+mj-lt"/>
              <a:buAutoNum type="arabicPeriod"/>
            </a:pPr>
            <a:r>
              <a:rPr lang="ja-JP" altLang="en-US" dirty="0" smtClean="0"/>
              <a:t>開始状況の説明（本日の日付</a:t>
            </a:r>
            <a:r>
              <a:rPr lang="en-US" altLang="ja-JP" dirty="0" smtClean="0"/>
              <a:t>2020/8/27</a:t>
            </a:r>
            <a:r>
              <a:rPr lang="ja-JP" altLang="en-US" dirty="0"/>
              <a:t>（</a:t>
            </a:r>
            <a:r>
              <a:rPr lang="ja-JP" altLang="en-US" dirty="0" smtClean="0"/>
              <a:t>木曜日）、土日は仕事できない）</a:t>
            </a:r>
            <a:endParaRPr lang="ja-JP" altLang="en-US" dirty="0"/>
          </a:p>
        </p:txBody>
      </p:sp>
      <p:graphicFrame>
        <p:nvGraphicFramePr>
          <p:cNvPr id="4" name="表 3"/>
          <p:cNvGraphicFramePr>
            <a:graphicFrameLocks noGrp="1"/>
          </p:cNvGraphicFramePr>
          <p:nvPr>
            <p:extLst>
              <p:ext uri="{D42A27DB-BD31-4B8C-83A1-F6EECF244321}">
                <p14:modId xmlns:p14="http://schemas.microsoft.com/office/powerpoint/2010/main" val="1925109136"/>
              </p:ext>
            </p:extLst>
          </p:nvPr>
        </p:nvGraphicFramePr>
        <p:xfrm>
          <a:off x="10191048" y="315474"/>
          <a:ext cx="1878648" cy="3352800"/>
        </p:xfrm>
        <a:graphic>
          <a:graphicData uri="http://schemas.openxmlformats.org/drawingml/2006/table">
            <a:tbl>
              <a:tblPr firstRow="1" bandRow="1">
                <a:tableStyleId>{5C22544A-7EE6-4342-B048-85BDC9FD1C3A}</a:tableStyleId>
              </a:tblPr>
              <a:tblGrid>
                <a:gridCol w="944880">
                  <a:extLst>
                    <a:ext uri="{9D8B030D-6E8A-4147-A177-3AD203B41FA5}">
                      <a16:colId xmlns:a16="http://schemas.microsoft.com/office/drawing/2014/main" val="2848519289"/>
                    </a:ext>
                  </a:extLst>
                </a:gridCol>
                <a:gridCol w="933768">
                  <a:extLst>
                    <a:ext uri="{9D8B030D-6E8A-4147-A177-3AD203B41FA5}">
                      <a16:colId xmlns:a16="http://schemas.microsoft.com/office/drawing/2014/main" val="1159048579"/>
                    </a:ext>
                  </a:extLst>
                </a:gridCol>
              </a:tblGrid>
              <a:tr h="276628">
                <a:tc>
                  <a:txBody>
                    <a:bodyPr/>
                    <a:lstStyle/>
                    <a:p>
                      <a:r>
                        <a:rPr kumimoji="1" lang="ja-JP" altLang="en-US" sz="1400" dirty="0" smtClean="0"/>
                        <a:t>製品番号</a:t>
                      </a:r>
                      <a:endParaRPr kumimoji="1" lang="ja-JP" altLang="en-US" sz="1400" dirty="0"/>
                    </a:p>
                  </a:txBody>
                  <a:tcPr/>
                </a:tc>
                <a:tc>
                  <a:txBody>
                    <a:bodyPr/>
                    <a:lstStyle/>
                    <a:p>
                      <a:r>
                        <a:rPr kumimoji="1" lang="ja-JP" altLang="en-US" sz="1400" dirty="0" smtClean="0"/>
                        <a:t>担当者</a:t>
                      </a:r>
                      <a:endParaRPr kumimoji="1" lang="ja-JP" altLang="en-US" sz="1400" dirty="0"/>
                    </a:p>
                  </a:txBody>
                  <a:tcPr/>
                </a:tc>
                <a:extLst>
                  <a:ext uri="{0D108BD9-81ED-4DB2-BD59-A6C34878D82A}">
                    <a16:rowId xmlns:a16="http://schemas.microsoft.com/office/drawing/2014/main" val="2517047501"/>
                  </a:ext>
                </a:extLst>
              </a:tr>
              <a:tr h="276628">
                <a:tc>
                  <a:txBody>
                    <a:bodyPr/>
                    <a:lstStyle/>
                    <a:p>
                      <a:r>
                        <a:rPr kumimoji="1" lang="en-US" altLang="ja-JP" sz="1400" dirty="0" smtClean="0"/>
                        <a:t>RG001</a:t>
                      </a:r>
                      <a:endParaRPr kumimoji="1" lang="ja-JP" altLang="en-US" sz="1400" dirty="0"/>
                    </a:p>
                  </a:txBody>
                  <a:tcPr/>
                </a:tc>
                <a:tc>
                  <a:txBody>
                    <a:bodyPr/>
                    <a:lstStyle/>
                    <a:p>
                      <a:r>
                        <a:rPr kumimoji="1" lang="ja-JP" altLang="en-US" sz="1400" dirty="0" smtClean="0"/>
                        <a:t>主人公</a:t>
                      </a:r>
                      <a:endParaRPr kumimoji="1" lang="ja-JP" altLang="en-US" sz="1400" dirty="0"/>
                    </a:p>
                  </a:txBody>
                  <a:tcPr/>
                </a:tc>
                <a:extLst>
                  <a:ext uri="{0D108BD9-81ED-4DB2-BD59-A6C34878D82A}">
                    <a16:rowId xmlns:a16="http://schemas.microsoft.com/office/drawing/2014/main" val="159445699"/>
                  </a:ext>
                </a:extLst>
              </a:tr>
              <a:tr h="276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smtClean="0"/>
                        <a:t>RG002</a:t>
                      </a:r>
                      <a:endParaRPr kumimoji="1" lang="ja-JP" altLang="en-US" sz="1400" dirty="0" smtClean="0"/>
                    </a:p>
                  </a:txBody>
                  <a:tcPr/>
                </a:tc>
                <a:tc>
                  <a:txBody>
                    <a:bodyPr/>
                    <a:lstStyle/>
                    <a:p>
                      <a:endParaRPr kumimoji="1" lang="ja-JP" altLang="en-US" sz="1400" dirty="0"/>
                    </a:p>
                  </a:txBody>
                  <a:tcPr/>
                </a:tc>
                <a:extLst>
                  <a:ext uri="{0D108BD9-81ED-4DB2-BD59-A6C34878D82A}">
                    <a16:rowId xmlns:a16="http://schemas.microsoft.com/office/drawing/2014/main" val="3992770040"/>
                  </a:ext>
                </a:extLst>
              </a:tr>
              <a:tr h="276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smtClean="0"/>
                        <a:t>RG003</a:t>
                      </a:r>
                      <a:endParaRPr kumimoji="1" lang="ja-JP" altLang="en-US"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t>主人公</a:t>
                      </a:r>
                      <a:endParaRPr kumimoji="1" lang="ja-JP" altLang="en-US" sz="1400" dirty="0"/>
                    </a:p>
                  </a:txBody>
                  <a:tcPr/>
                </a:tc>
                <a:extLst>
                  <a:ext uri="{0D108BD9-81ED-4DB2-BD59-A6C34878D82A}">
                    <a16:rowId xmlns:a16="http://schemas.microsoft.com/office/drawing/2014/main" val="2280138032"/>
                  </a:ext>
                </a:extLst>
              </a:tr>
              <a:tr h="276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smtClean="0"/>
                        <a:t>RG004</a:t>
                      </a:r>
                      <a:endParaRPr kumimoji="1" lang="ja-JP" altLang="en-US" sz="1400" dirty="0"/>
                    </a:p>
                  </a:txBody>
                  <a:tcPr/>
                </a:tc>
                <a:tc>
                  <a:txBody>
                    <a:bodyPr/>
                    <a:lstStyle/>
                    <a:p>
                      <a:r>
                        <a:rPr kumimoji="1" lang="ja-JP" altLang="en-US" sz="1400" dirty="0" smtClean="0"/>
                        <a:t>主人公</a:t>
                      </a:r>
                      <a:endParaRPr kumimoji="1" lang="ja-JP" altLang="en-US" sz="1400" dirty="0"/>
                    </a:p>
                  </a:txBody>
                  <a:tcPr/>
                </a:tc>
                <a:extLst>
                  <a:ext uri="{0D108BD9-81ED-4DB2-BD59-A6C34878D82A}">
                    <a16:rowId xmlns:a16="http://schemas.microsoft.com/office/drawing/2014/main" val="76369505"/>
                  </a:ext>
                </a:extLst>
              </a:tr>
              <a:tr h="276628">
                <a:tc>
                  <a:txBody>
                    <a:bodyPr/>
                    <a:lstStyle/>
                    <a:p>
                      <a:r>
                        <a:rPr kumimoji="1" lang="en-US" altLang="ja-JP" sz="1400" dirty="0" smtClean="0"/>
                        <a:t>RG005</a:t>
                      </a:r>
                      <a:endParaRPr kumimoji="1" lang="ja-JP" altLang="en-US" sz="1400" dirty="0"/>
                    </a:p>
                  </a:txBody>
                  <a:tcPr/>
                </a:tc>
                <a:tc>
                  <a:txBody>
                    <a:bodyPr/>
                    <a:lstStyle/>
                    <a:p>
                      <a:endParaRPr kumimoji="1" lang="ja-JP" altLang="en-US" sz="1400" dirty="0"/>
                    </a:p>
                  </a:txBody>
                  <a:tcPr/>
                </a:tc>
                <a:extLst>
                  <a:ext uri="{0D108BD9-81ED-4DB2-BD59-A6C34878D82A}">
                    <a16:rowId xmlns:a16="http://schemas.microsoft.com/office/drawing/2014/main" val="388366525"/>
                  </a:ext>
                </a:extLst>
              </a:tr>
              <a:tr h="276628">
                <a:tc>
                  <a:txBody>
                    <a:bodyPr/>
                    <a:lstStyle/>
                    <a:p>
                      <a:r>
                        <a:rPr kumimoji="1" lang="en-US" altLang="ja-JP" sz="1400" dirty="0" smtClean="0"/>
                        <a:t>RG006</a:t>
                      </a:r>
                      <a:endParaRPr kumimoji="1" lang="ja-JP" altLang="en-US" sz="1400" dirty="0"/>
                    </a:p>
                  </a:txBody>
                  <a:tcPr/>
                </a:tc>
                <a:tc>
                  <a:txBody>
                    <a:bodyPr/>
                    <a:lstStyle/>
                    <a:p>
                      <a:endParaRPr kumimoji="1" lang="ja-JP" altLang="en-US" sz="1400" dirty="0"/>
                    </a:p>
                  </a:txBody>
                  <a:tcPr/>
                </a:tc>
                <a:extLst>
                  <a:ext uri="{0D108BD9-81ED-4DB2-BD59-A6C34878D82A}">
                    <a16:rowId xmlns:a16="http://schemas.microsoft.com/office/drawing/2014/main" val="1023923396"/>
                  </a:ext>
                </a:extLst>
              </a:tr>
              <a:tr h="276628">
                <a:tc>
                  <a:txBody>
                    <a:bodyPr/>
                    <a:lstStyle/>
                    <a:p>
                      <a:r>
                        <a:rPr kumimoji="1" lang="en-US" altLang="ja-JP" sz="1400" dirty="0" smtClean="0"/>
                        <a:t>RG007</a:t>
                      </a:r>
                      <a:endParaRPr kumimoji="1" lang="ja-JP" altLang="en-US" sz="1400" dirty="0"/>
                    </a:p>
                  </a:txBody>
                  <a:tcPr/>
                </a:tc>
                <a:tc>
                  <a:txBody>
                    <a:bodyPr/>
                    <a:lstStyle/>
                    <a:p>
                      <a:r>
                        <a:rPr kumimoji="1" lang="ja-JP" altLang="en-US" sz="1400" dirty="0" smtClean="0"/>
                        <a:t>主人公</a:t>
                      </a:r>
                      <a:endParaRPr kumimoji="1" lang="ja-JP" altLang="en-US" sz="1400" dirty="0"/>
                    </a:p>
                  </a:txBody>
                  <a:tcPr/>
                </a:tc>
                <a:extLst>
                  <a:ext uri="{0D108BD9-81ED-4DB2-BD59-A6C34878D82A}">
                    <a16:rowId xmlns:a16="http://schemas.microsoft.com/office/drawing/2014/main" val="536518689"/>
                  </a:ext>
                </a:extLst>
              </a:tr>
              <a:tr h="276628">
                <a:tc>
                  <a:txBody>
                    <a:bodyPr/>
                    <a:lstStyle/>
                    <a:p>
                      <a:r>
                        <a:rPr kumimoji="1" lang="en-US" altLang="ja-JP" sz="1400" dirty="0" smtClean="0"/>
                        <a:t>RG008</a:t>
                      </a:r>
                      <a:endParaRPr kumimoji="1" lang="ja-JP" altLang="en-US" sz="1400" dirty="0"/>
                    </a:p>
                  </a:txBody>
                  <a:tcPr/>
                </a:tc>
                <a:tc>
                  <a:txBody>
                    <a:bodyPr/>
                    <a:lstStyle/>
                    <a:p>
                      <a:endParaRPr kumimoji="1" lang="ja-JP" altLang="en-US" sz="1400" dirty="0"/>
                    </a:p>
                  </a:txBody>
                  <a:tcPr/>
                </a:tc>
                <a:extLst>
                  <a:ext uri="{0D108BD9-81ED-4DB2-BD59-A6C34878D82A}">
                    <a16:rowId xmlns:a16="http://schemas.microsoft.com/office/drawing/2014/main" val="855294852"/>
                  </a:ext>
                </a:extLst>
              </a:tr>
              <a:tr h="276628">
                <a:tc>
                  <a:txBody>
                    <a:bodyPr/>
                    <a:lstStyle/>
                    <a:p>
                      <a:r>
                        <a:rPr kumimoji="1" lang="en-US" altLang="ja-JP" sz="1400" dirty="0" smtClean="0"/>
                        <a:t>RG009</a:t>
                      </a:r>
                      <a:endParaRPr kumimoji="1" lang="ja-JP" altLang="en-US" sz="1400" dirty="0"/>
                    </a:p>
                  </a:txBody>
                  <a:tcPr/>
                </a:tc>
                <a:tc>
                  <a:txBody>
                    <a:bodyPr/>
                    <a:lstStyle/>
                    <a:p>
                      <a:r>
                        <a:rPr kumimoji="1" lang="ja-JP" altLang="en-US" sz="1400" dirty="0" smtClean="0"/>
                        <a:t>主人公</a:t>
                      </a:r>
                      <a:endParaRPr kumimoji="1" lang="ja-JP" altLang="en-US" sz="1400" dirty="0"/>
                    </a:p>
                  </a:txBody>
                  <a:tcPr/>
                </a:tc>
                <a:extLst>
                  <a:ext uri="{0D108BD9-81ED-4DB2-BD59-A6C34878D82A}">
                    <a16:rowId xmlns:a16="http://schemas.microsoft.com/office/drawing/2014/main" val="2927755713"/>
                  </a:ext>
                </a:extLst>
              </a:tr>
              <a:tr h="276628">
                <a:tc>
                  <a:txBody>
                    <a:bodyPr/>
                    <a:lstStyle/>
                    <a:p>
                      <a:r>
                        <a:rPr kumimoji="1" lang="en-US" altLang="ja-JP" sz="1400" dirty="0" smtClean="0"/>
                        <a:t>RG010</a:t>
                      </a:r>
                      <a:endParaRPr kumimoji="1" lang="ja-JP" altLang="en-US" sz="1400" dirty="0"/>
                    </a:p>
                  </a:txBody>
                  <a:tcPr/>
                </a:tc>
                <a:tc>
                  <a:txBody>
                    <a:bodyPr/>
                    <a:lstStyle/>
                    <a:p>
                      <a:r>
                        <a:rPr kumimoji="1" lang="ja-JP" altLang="en-US" sz="1400" dirty="0" smtClean="0"/>
                        <a:t>主人公</a:t>
                      </a:r>
                      <a:endParaRPr kumimoji="1" lang="ja-JP" altLang="en-US" sz="1400" dirty="0"/>
                    </a:p>
                  </a:txBody>
                  <a:tcPr/>
                </a:tc>
                <a:extLst>
                  <a:ext uri="{0D108BD9-81ED-4DB2-BD59-A6C34878D82A}">
                    <a16:rowId xmlns:a16="http://schemas.microsoft.com/office/drawing/2014/main" val="3438119060"/>
                  </a:ext>
                </a:extLst>
              </a:tr>
            </a:tbl>
          </a:graphicData>
        </a:graphic>
      </p:graphicFrame>
    </p:spTree>
    <p:extLst>
      <p:ext uri="{BB962C8B-B14F-4D97-AF65-F5344CB8AC3E}">
        <p14:creationId xmlns:p14="http://schemas.microsoft.com/office/powerpoint/2010/main" val="3660485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インバスケット案件</a:t>
            </a:r>
            <a:endParaRPr kumimoji="1" lang="ja-JP" altLang="en-US" dirty="0"/>
          </a:p>
        </p:txBody>
      </p:sp>
      <p:sp>
        <p:nvSpPr>
          <p:cNvPr id="3" name="コンテンツ プレースホルダー 2"/>
          <p:cNvSpPr>
            <a:spLocks noGrp="1"/>
          </p:cNvSpPr>
          <p:nvPr>
            <p:ph idx="1"/>
          </p:nvPr>
        </p:nvSpPr>
        <p:spPr>
          <a:xfrm>
            <a:off x="838200" y="1582616"/>
            <a:ext cx="10515600" cy="5275384"/>
          </a:xfrm>
        </p:spPr>
        <p:txBody>
          <a:bodyPr>
            <a:normAutofit fontScale="40000" lnSpcReduction="20000"/>
          </a:bodyPr>
          <a:lstStyle/>
          <a:p>
            <a:pPr marL="514350" indent="-514350">
              <a:lnSpc>
                <a:spcPct val="120000"/>
              </a:lnSpc>
              <a:buFont typeface="+mj-lt"/>
              <a:buAutoNum type="arabicPeriod"/>
            </a:pPr>
            <a:r>
              <a:rPr kumimoji="1" lang="ja-JP" altLang="en-US" dirty="0" smtClean="0">
                <a:solidFill>
                  <a:srgbClr val="FF0000"/>
                </a:solidFill>
              </a:rPr>
              <a:t>発動機</a:t>
            </a:r>
            <a:r>
              <a:rPr kumimoji="1" lang="en-US" altLang="ja-JP" dirty="0" smtClean="0">
                <a:solidFill>
                  <a:srgbClr val="FF0000"/>
                </a:solidFill>
              </a:rPr>
              <a:t>RG007</a:t>
            </a:r>
            <a:r>
              <a:rPr lang="ja-JP" altLang="en-US" dirty="0">
                <a:solidFill>
                  <a:srgbClr val="FF0000"/>
                </a:solidFill>
              </a:rPr>
              <a:t>が</a:t>
            </a:r>
            <a:r>
              <a:rPr kumimoji="1" lang="ja-JP" altLang="en-US" dirty="0" smtClean="0">
                <a:solidFill>
                  <a:srgbClr val="FF0000"/>
                </a:solidFill>
              </a:rPr>
              <a:t>発熱してやけどしそうになったという顧客報告</a:t>
            </a:r>
            <a:endParaRPr kumimoji="1" lang="en-US" altLang="ja-JP" dirty="0" smtClean="0">
              <a:solidFill>
                <a:srgbClr val="FF0000"/>
              </a:solidFill>
            </a:endParaRPr>
          </a:p>
          <a:p>
            <a:pPr marL="514350" indent="-514350">
              <a:lnSpc>
                <a:spcPct val="120000"/>
              </a:lnSpc>
              <a:buFont typeface="+mj-lt"/>
              <a:buAutoNum type="arabicPeriod"/>
            </a:pPr>
            <a:r>
              <a:rPr lang="ja-JP" altLang="en-US" dirty="0">
                <a:solidFill>
                  <a:srgbClr val="FF0000"/>
                </a:solidFill>
              </a:rPr>
              <a:t>発動機</a:t>
            </a:r>
            <a:r>
              <a:rPr lang="en-US" altLang="ja-JP" dirty="0" smtClean="0">
                <a:solidFill>
                  <a:srgbClr val="FF0000"/>
                </a:solidFill>
              </a:rPr>
              <a:t>RG007</a:t>
            </a:r>
            <a:r>
              <a:rPr lang="ja-JP" altLang="en-US" dirty="0" smtClean="0">
                <a:solidFill>
                  <a:srgbClr val="FF0000"/>
                </a:solidFill>
              </a:rPr>
              <a:t>からガソリン臭がしたという</a:t>
            </a:r>
            <a:r>
              <a:rPr lang="ja-JP" altLang="en-US" dirty="0">
                <a:solidFill>
                  <a:srgbClr val="FF0000"/>
                </a:solidFill>
              </a:rPr>
              <a:t>顧客</a:t>
            </a:r>
            <a:r>
              <a:rPr lang="ja-JP" altLang="en-US" dirty="0" smtClean="0">
                <a:solidFill>
                  <a:srgbClr val="FF0000"/>
                </a:solidFill>
              </a:rPr>
              <a:t>報告</a:t>
            </a:r>
            <a:endParaRPr lang="en-US" altLang="ja-JP" dirty="0">
              <a:solidFill>
                <a:srgbClr val="FF0000"/>
              </a:solidFill>
            </a:endParaRPr>
          </a:p>
          <a:p>
            <a:pPr marL="514350" indent="-514350">
              <a:lnSpc>
                <a:spcPct val="120000"/>
              </a:lnSpc>
              <a:buFont typeface="+mj-lt"/>
              <a:buAutoNum type="arabicPeriod"/>
            </a:pPr>
            <a:r>
              <a:rPr kumimoji="1" lang="ja-JP" altLang="en-US" dirty="0" smtClean="0">
                <a:solidFill>
                  <a:srgbClr val="FF0000"/>
                </a:solidFill>
              </a:rPr>
              <a:t>発動機</a:t>
            </a:r>
            <a:r>
              <a:rPr kumimoji="1" lang="en-US" altLang="ja-JP" dirty="0" smtClean="0">
                <a:solidFill>
                  <a:srgbClr val="FF0000"/>
                </a:solidFill>
              </a:rPr>
              <a:t>RG003</a:t>
            </a:r>
            <a:r>
              <a:rPr kumimoji="1" lang="ja-JP" altLang="en-US" dirty="0" smtClean="0">
                <a:solidFill>
                  <a:srgbClr val="FF0000"/>
                </a:solidFill>
              </a:rPr>
              <a:t>のキャスターが脱落するという</a:t>
            </a:r>
            <a:r>
              <a:rPr lang="ja-JP" altLang="en-US" dirty="0">
                <a:solidFill>
                  <a:srgbClr val="FF0000"/>
                </a:solidFill>
              </a:rPr>
              <a:t>顧客</a:t>
            </a:r>
            <a:r>
              <a:rPr kumimoji="1" lang="ja-JP" altLang="en-US" dirty="0" smtClean="0">
                <a:solidFill>
                  <a:srgbClr val="FF0000"/>
                </a:solidFill>
              </a:rPr>
              <a:t>報告</a:t>
            </a:r>
            <a:r>
              <a:rPr lang="ja-JP" altLang="en-US" dirty="0" smtClean="0">
                <a:solidFill>
                  <a:srgbClr val="FF0000"/>
                </a:solidFill>
              </a:rPr>
              <a:t>発動機</a:t>
            </a:r>
            <a:endParaRPr lang="en-US" altLang="ja-JP" dirty="0" smtClean="0">
              <a:solidFill>
                <a:srgbClr val="FF0000"/>
              </a:solidFill>
            </a:endParaRPr>
          </a:p>
          <a:p>
            <a:pPr marL="514350" indent="-514350">
              <a:lnSpc>
                <a:spcPct val="120000"/>
              </a:lnSpc>
              <a:buFont typeface="+mj-lt"/>
              <a:buAutoNum type="arabicPeriod"/>
            </a:pPr>
            <a:r>
              <a:rPr lang="en-US" altLang="ja-JP" dirty="0" smtClean="0">
                <a:solidFill>
                  <a:srgbClr val="FF0000"/>
                </a:solidFill>
              </a:rPr>
              <a:t>RG002</a:t>
            </a:r>
            <a:r>
              <a:rPr lang="ja-JP" altLang="en-US" dirty="0" smtClean="0">
                <a:solidFill>
                  <a:srgbClr val="FF0000"/>
                </a:solidFill>
              </a:rPr>
              <a:t>の使い方がわからないから動画などを作ってみてはどうでしょうという提案のメール</a:t>
            </a:r>
            <a:endParaRPr lang="en-US" altLang="ja-JP" dirty="0" smtClean="0">
              <a:solidFill>
                <a:srgbClr val="FF0000"/>
              </a:solidFill>
            </a:endParaRPr>
          </a:p>
          <a:p>
            <a:pPr marL="514350" indent="-514350">
              <a:lnSpc>
                <a:spcPct val="120000"/>
              </a:lnSpc>
              <a:buFont typeface="+mj-lt"/>
              <a:buAutoNum type="arabicPeriod"/>
            </a:pPr>
            <a:r>
              <a:rPr lang="ja-JP" altLang="en-US" dirty="0" smtClean="0"/>
              <a:t>これらを含めた顧客報告のリスト</a:t>
            </a:r>
            <a:endParaRPr lang="en-US" altLang="ja-JP" dirty="0"/>
          </a:p>
          <a:p>
            <a:pPr marL="514350" indent="-514350">
              <a:lnSpc>
                <a:spcPct val="120000"/>
              </a:lnSpc>
              <a:buFont typeface="+mj-lt"/>
              <a:buAutoNum type="arabicPeriod"/>
            </a:pPr>
            <a:r>
              <a:rPr lang="ja-JP" altLang="en-US" dirty="0" smtClean="0"/>
              <a:t>キャスターの脱落は発動機</a:t>
            </a:r>
            <a:r>
              <a:rPr lang="en-US" altLang="ja-JP" dirty="0" smtClean="0"/>
              <a:t>RG002</a:t>
            </a:r>
            <a:r>
              <a:rPr lang="ja-JP" altLang="en-US" dirty="0" smtClean="0"/>
              <a:t>のキャスターと</a:t>
            </a:r>
            <a:r>
              <a:rPr lang="en-US" altLang="ja-JP" dirty="0" smtClean="0"/>
              <a:t>RG003</a:t>
            </a:r>
            <a:r>
              <a:rPr lang="ja-JP" altLang="en-US" dirty="0" smtClean="0"/>
              <a:t>のキャスターを取り違えているのでは？というメール</a:t>
            </a:r>
            <a:endParaRPr kumimoji="1" lang="en-US" altLang="ja-JP" dirty="0" smtClean="0"/>
          </a:p>
          <a:p>
            <a:pPr marL="514350" indent="-514350">
              <a:lnSpc>
                <a:spcPct val="120000"/>
              </a:lnSpc>
              <a:buFont typeface="+mj-lt"/>
              <a:buAutoNum type="arabicPeriod"/>
            </a:pPr>
            <a:r>
              <a:rPr kumimoji="1" lang="ja-JP" altLang="en-US" dirty="0" smtClean="0">
                <a:solidFill>
                  <a:srgbClr val="FF0000"/>
                </a:solidFill>
              </a:rPr>
              <a:t>発動機</a:t>
            </a:r>
            <a:r>
              <a:rPr kumimoji="1" lang="en-US" altLang="ja-JP" dirty="0" smtClean="0">
                <a:solidFill>
                  <a:srgbClr val="FF0000"/>
                </a:solidFill>
              </a:rPr>
              <a:t>RG002</a:t>
            </a:r>
            <a:r>
              <a:rPr lang="ja-JP" altLang="en-US" dirty="0" err="1" smtClean="0">
                <a:solidFill>
                  <a:srgbClr val="FF0000"/>
                </a:solidFill>
              </a:rPr>
              <a:t>、</a:t>
            </a:r>
            <a:r>
              <a:rPr lang="en-US" altLang="ja-JP" dirty="0" smtClean="0">
                <a:solidFill>
                  <a:srgbClr val="FF0000"/>
                </a:solidFill>
              </a:rPr>
              <a:t>RG003</a:t>
            </a:r>
            <a:r>
              <a:rPr lang="ja-JP" altLang="en-US" dirty="0" smtClean="0">
                <a:solidFill>
                  <a:srgbClr val="FF0000"/>
                </a:solidFill>
              </a:rPr>
              <a:t>の部品を作っている工場が火災で使えないという報告</a:t>
            </a:r>
            <a:endParaRPr lang="en-US" altLang="ja-JP" dirty="0" smtClean="0">
              <a:solidFill>
                <a:srgbClr val="FF0000"/>
              </a:solidFill>
            </a:endParaRPr>
          </a:p>
          <a:p>
            <a:pPr marL="514350" indent="-514350">
              <a:lnSpc>
                <a:spcPct val="120000"/>
              </a:lnSpc>
              <a:buFont typeface="+mj-lt"/>
              <a:buAutoNum type="arabicPeriod"/>
            </a:pPr>
            <a:r>
              <a:rPr kumimoji="1" lang="ja-JP" altLang="en-US" dirty="0" smtClean="0"/>
              <a:t>火事の工場の</a:t>
            </a:r>
            <a:r>
              <a:rPr kumimoji="1" lang="ja-JP" altLang="en-US" dirty="0"/>
              <a:t>部品</a:t>
            </a:r>
            <a:r>
              <a:rPr kumimoji="1" lang="ja-JP" altLang="en-US" dirty="0" smtClean="0"/>
              <a:t>を去年まで作っていた工場があるというメール</a:t>
            </a:r>
            <a:endParaRPr kumimoji="1" lang="en-US" altLang="ja-JP" dirty="0" smtClean="0"/>
          </a:p>
          <a:p>
            <a:pPr marL="514350" indent="-514350">
              <a:lnSpc>
                <a:spcPct val="120000"/>
              </a:lnSpc>
              <a:buFont typeface="+mj-lt"/>
              <a:buAutoNum type="arabicPeriod"/>
            </a:pPr>
            <a:r>
              <a:rPr lang="ja-JP" altLang="en-US" dirty="0" smtClean="0"/>
              <a:t>社内広報</a:t>
            </a:r>
            <a:endParaRPr lang="en-US" altLang="ja-JP" dirty="0" smtClean="0"/>
          </a:p>
          <a:p>
            <a:pPr marL="514350" indent="-514350">
              <a:lnSpc>
                <a:spcPct val="120000"/>
              </a:lnSpc>
              <a:buFont typeface="+mj-lt"/>
              <a:buAutoNum type="arabicPeriod"/>
            </a:pPr>
            <a:r>
              <a:rPr lang="ja-JP" altLang="en-US" dirty="0" smtClean="0"/>
              <a:t>企画検討会議があります（マーケティング調査部門が若者向けに</a:t>
            </a:r>
            <a:r>
              <a:rPr lang="en-US" altLang="ja-JP" dirty="0" smtClean="0"/>
              <a:t>RG010</a:t>
            </a:r>
            <a:r>
              <a:rPr lang="ja-JP" altLang="en-US" dirty="0" smtClean="0"/>
              <a:t>発売するなら</a:t>
            </a:r>
            <a:r>
              <a:rPr lang="en-US" altLang="ja-JP" dirty="0" smtClean="0"/>
              <a:t>USB</a:t>
            </a:r>
            <a:r>
              <a:rPr lang="ja-JP" altLang="en-US" dirty="0" smtClean="0"/>
              <a:t>の口があった方がいいのでは？ということに回答したい）</a:t>
            </a:r>
            <a:endParaRPr lang="en-US" altLang="ja-JP" dirty="0" smtClean="0"/>
          </a:p>
          <a:p>
            <a:pPr marL="514350" indent="-514350">
              <a:lnSpc>
                <a:spcPct val="120000"/>
              </a:lnSpc>
              <a:buFont typeface="+mj-lt"/>
              <a:buAutoNum type="arabicPeriod"/>
            </a:pPr>
            <a:r>
              <a:rPr lang="ja-JP" altLang="en-US" dirty="0" smtClean="0"/>
              <a:t>企画検討</a:t>
            </a:r>
            <a:r>
              <a:rPr lang="ja-JP" altLang="en-US" dirty="0"/>
              <a:t>会議</a:t>
            </a:r>
            <a:r>
              <a:rPr lang="ja-JP" altLang="en-US" dirty="0" smtClean="0"/>
              <a:t>の資料を作ってほしい、企画検討会議は来週の月曜日にある</a:t>
            </a:r>
            <a:endParaRPr lang="en-US" altLang="ja-JP" dirty="0" smtClean="0"/>
          </a:p>
          <a:p>
            <a:pPr marL="514350" indent="-514350">
              <a:lnSpc>
                <a:spcPct val="120000"/>
              </a:lnSpc>
              <a:buFont typeface="+mj-lt"/>
              <a:buAutoNum type="arabicPeriod"/>
            </a:pPr>
            <a:r>
              <a:rPr lang="ja-JP" altLang="en-US" dirty="0" smtClean="0"/>
              <a:t>契約書の体裁修正するという告知</a:t>
            </a:r>
            <a:endParaRPr lang="en-US" altLang="ja-JP" dirty="0" smtClean="0"/>
          </a:p>
          <a:p>
            <a:pPr marL="514350" indent="-514350">
              <a:lnSpc>
                <a:spcPct val="120000"/>
              </a:lnSpc>
              <a:buFont typeface="+mj-lt"/>
              <a:buAutoNum type="arabicPeriod"/>
            </a:pPr>
            <a:r>
              <a:rPr lang="ja-JP" altLang="en-US" dirty="0" smtClean="0"/>
              <a:t>北米でキャンペーンをやりたい</a:t>
            </a:r>
            <a:endParaRPr lang="en-US" altLang="ja-JP" dirty="0" smtClean="0"/>
          </a:p>
          <a:p>
            <a:pPr marL="514350" indent="-514350">
              <a:lnSpc>
                <a:spcPct val="120000"/>
              </a:lnSpc>
              <a:buFont typeface="+mj-lt"/>
              <a:buAutoNum type="arabicPeriod"/>
            </a:pPr>
            <a:r>
              <a:rPr lang="ja-JP" altLang="en-US" dirty="0" smtClean="0"/>
              <a:t>スタートアップ企業とのタイアップイベントをやりたい</a:t>
            </a:r>
            <a:endParaRPr lang="en-US" altLang="ja-JP" dirty="0" smtClean="0"/>
          </a:p>
          <a:p>
            <a:pPr marL="514350" indent="-514350">
              <a:lnSpc>
                <a:spcPct val="120000"/>
              </a:lnSpc>
              <a:buFont typeface="+mj-lt"/>
              <a:buAutoNum type="arabicPeriod"/>
            </a:pPr>
            <a:r>
              <a:rPr kumimoji="1" lang="ja-JP" altLang="en-US" dirty="0" smtClean="0">
                <a:solidFill>
                  <a:srgbClr val="FF0000"/>
                </a:solidFill>
              </a:rPr>
              <a:t>排ガス規制法律の改定のための説明会</a:t>
            </a:r>
            <a:endParaRPr kumimoji="1" lang="en-US" altLang="ja-JP" dirty="0" smtClean="0">
              <a:solidFill>
                <a:srgbClr val="FF0000"/>
              </a:solidFill>
            </a:endParaRPr>
          </a:p>
          <a:p>
            <a:pPr marL="514350" indent="-514350">
              <a:lnSpc>
                <a:spcPct val="120000"/>
              </a:lnSpc>
              <a:buFont typeface="+mj-lt"/>
              <a:buAutoNum type="arabicPeriod"/>
            </a:pPr>
            <a:r>
              <a:rPr lang="ja-JP" altLang="en-US" dirty="0" smtClean="0"/>
              <a:t>デザインから設計部が提案を突っぱねるのでどうにかしてほしいという愚痴</a:t>
            </a:r>
            <a:endParaRPr lang="en-US" altLang="ja-JP" dirty="0" smtClean="0"/>
          </a:p>
          <a:p>
            <a:pPr marL="514350" indent="-514350">
              <a:lnSpc>
                <a:spcPct val="120000"/>
              </a:lnSpc>
              <a:buFont typeface="+mj-lt"/>
              <a:buAutoNum type="arabicPeriod"/>
            </a:pPr>
            <a:r>
              <a:rPr lang="ja-JP" altLang="en-US" dirty="0" smtClean="0"/>
              <a:t>設計部からデザインが無理を言うのでどうにかしてほしいという愚痴</a:t>
            </a:r>
            <a:endParaRPr lang="en-US" altLang="ja-JP" dirty="0" smtClean="0"/>
          </a:p>
          <a:p>
            <a:pPr marL="514350" indent="-514350">
              <a:lnSpc>
                <a:spcPct val="120000"/>
              </a:lnSpc>
              <a:buFont typeface="+mj-lt"/>
              <a:buAutoNum type="arabicPeriod"/>
            </a:pPr>
            <a:r>
              <a:rPr lang="ja-JP" altLang="en-US" dirty="0" smtClean="0"/>
              <a:t>～</a:t>
            </a:r>
            <a:r>
              <a:rPr lang="ja-JP" altLang="en-US" dirty="0"/>
              <a:t>～</a:t>
            </a:r>
            <a:endParaRPr lang="en-US" altLang="ja-JP" dirty="0" smtClean="0"/>
          </a:p>
          <a:p>
            <a:pPr marL="514350" indent="-514350">
              <a:lnSpc>
                <a:spcPct val="120000"/>
              </a:lnSpc>
              <a:buFont typeface="+mj-lt"/>
              <a:buAutoNum type="arabicPeriod"/>
            </a:pPr>
            <a:endParaRPr lang="en-US" altLang="ja-JP" dirty="0" smtClean="0"/>
          </a:p>
          <a:p>
            <a:pPr marL="514350" indent="-514350">
              <a:lnSpc>
                <a:spcPct val="120000"/>
              </a:lnSpc>
              <a:buFont typeface="+mj-lt"/>
              <a:buAutoNum type="arabicPeriod"/>
            </a:pPr>
            <a:endParaRPr kumimoji="1" lang="ja-JP" altLang="en-US" dirty="0"/>
          </a:p>
        </p:txBody>
      </p:sp>
    </p:spTree>
    <p:extLst>
      <p:ext uri="{BB962C8B-B14F-4D97-AF65-F5344CB8AC3E}">
        <p14:creationId xmlns:p14="http://schemas.microsoft.com/office/powerpoint/2010/main" val="918700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【Ⅰ</a:t>
            </a:r>
            <a:r>
              <a:rPr lang="ja-JP" altLang="en-US" dirty="0" smtClean="0"/>
              <a:t>：分析</a:t>
            </a:r>
            <a:r>
              <a:rPr lang="en-US" altLang="ja-JP" dirty="0" smtClean="0"/>
              <a:t>】</a:t>
            </a:r>
            <a:r>
              <a:rPr lang="ja-JP" altLang="en-US" dirty="0" smtClean="0"/>
              <a:t>　</a:t>
            </a:r>
            <a:r>
              <a:rPr lang="en-US" altLang="ja-JP" dirty="0" smtClean="0"/>
              <a:t>20</a:t>
            </a:r>
            <a:r>
              <a:rPr lang="ja-JP" altLang="en-US" dirty="0" smtClean="0"/>
              <a:t>分</a:t>
            </a:r>
            <a:endParaRPr kumimoji="1" lang="ja-JP" altLang="en-US" dirty="0"/>
          </a:p>
        </p:txBody>
      </p:sp>
      <p:sp>
        <p:nvSpPr>
          <p:cNvPr id="3" name="コンテンツ プレースホルダー 2"/>
          <p:cNvSpPr>
            <a:spLocks noGrp="1"/>
          </p:cNvSpPr>
          <p:nvPr>
            <p:ph idx="1"/>
          </p:nvPr>
        </p:nvSpPr>
        <p:spPr/>
        <p:txBody>
          <a:bodyPr/>
          <a:lstStyle/>
          <a:p>
            <a:pPr>
              <a:lnSpc>
                <a:spcPct val="100000"/>
              </a:lnSpc>
            </a:pPr>
            <a:r>
              <a:rPr lang="ja-JP" altLang="en-US" sz="2100" dirty="0" smtClean="0"/>
              <a:t>優先度の高い処理６つと関係する案件を複数選択する</a:t>
            </a:r>
            <a:endParaRPr lang="en-US" altLang="ja-JP" sz="2100" dirty="0" smtClean="0"/>
          </a:p>
          <a:p>
            <a:pPr>
              <a:lnSpc>
                <a:spcPct val="100000"/>
              </a:lnSpc>
            </a:pPr>
            <a:endParaRPr lang="en-US" altLang="ja-JP" sz="2100" dirty="0" smtClean="0"/>
          </a:p>
          <a:p>
            <a:pPr>
              <a:lnSpc>
                <a:spcPct val="100000"/>
              </a:lnSpc>
            </a:pPr>
            <a:r>
              <a:rPr lang="ja-JP" altLang="en-US" sz="2100" dirty="0" smtClean="0"/>
              <a:t>選択順</a:t>
            </a:r>
          </a:p>
          <a:p>
            <a:pPr lvl="1">
              <a:lnSpc>
                <a:spcPct val="100000"/>
              </a:lnSpc>
            </a:pPr>
            <a:r>
              <a:rPr lang="ja-JP" altLang="en-US" sz="1700" dirty="0" smtClean="0"/>
              <a:t>顧客がケガする可能性のある案件：</a:t>
            </a:r>
            <a:r>
              <a:rPr lang="en-US" altLang="ja-JP" sz="1700" dirty="0" smtClean="0"/>
              <a:t>3</a:t>
            </a:r>
            <a:r>
              <a:rPr lang="ja-JP" altLang="en-US" sz="1700" dirty="0" smtClean="0"/>
              <a:t>つ（案件</a:t>
            </a:r>
            <a:r>
              <a:rPr lang="en-US" altLang="ja-JP" sz="1700" dirty="0" smtClean="0"/>
              <a:t>1,2,3</a:t>
            </a:r>
            <a:r>
              <a:rPr lang="ja-JP" altLang="en-US" sz="1700" dirty="0" smtClean="0"/>
              <a:t>）</a:t>
            </a:r>
            <a:endParaRPr lang="en-US" altLang="ja-JP" sz="1700" dirty="0" smtClean="0"/>
          </a:p>
          <a:p>
            <a:pPr lvl="1">
              <a:lnSpc>
                <a:spcPct val="100000"/>
              </a:lnSpc>
            </a:pPr>
            <a:r>
              <a:rPr lang="ja-JP" altLang="en-US" sz="1700" dirty="0" smtClean="0"/>
              <a:t>納品への支障を来す案件：</a:t>
            </a:r>
            <a:r>
              <a:rPr lang="en-US" altLang="ja-JP" sz="1700" dirty="0" smtClean="0"/>
              <a:t>1</a:t>
            </a:r>
            <a:r>
              <a:rPr lang="ja-JP" altLang="en-US" sz="1700" dirty="0" smtClean="0"/>
              <a:t>つ（案件</a:t>
            </a:r>
            <a:r>
              <a:rPr lang="en-US" altLang="ja-JP" sz="1700" dirty="0" smtClean="0"/>
              <a:t>7</a:t>
            </a:r>
            <a:r>
              <a:rPr lang="ja-JP" altLang="en-US" sz="1700" dirty="0" smtClean="0"/>
              <a:t>）</a:t>
            </a:r>
            <a:r>
              <a:rPr lang="en-US" altLang="ja-JP" sz="1700" dirty="0"/>
              <a:t/>
            </a:r>
            <a:br>
              <a:rPr lang="en-US" altLang="ja-JP" sz="1700" dirty="0"/>
            </a:br>
            <a:r>
              <a:rPr lang="ja-JP" altLang="en-US" sz="1700" dirty="0" smtClean="0"/>
              <a:t>－－－－－－越えられない壁（下は判断分れた）－－－－－－－－－－－－－－－</a:t>
            </a:r>
            <a:endParaRPr lang="en-US" altLang="ja-JP" sz="1700" dirty="0" smtClean="0"/>
          </a:p>
          <a:p>
            <a:pPr lvl="1">
              <a:lnSpc>
                <a:spcPct val="100000"/>
              </a:lnSpc>
            </a:pPr>
            <a:r>
              <a:rPr lang="ja-JP" altLang="en-US" sz="1700" dirty="0" smtClean="0"/>
              <a:t>顧客の希望に対応する案件：</a:t>
            </a:r>
            <a:r>
              <a:rPr lang="en-US" altLang="ja-JP" sz="1700" dirty="0" smtClean="0"/>
              <a:t>2</a:t>
            </a:r>
            <a:r>
              <a:rPr lang="ja-JP" altLang="en-US" sz="1700" dirty="0" smtClean="0"/>
              <a:t>つ（案件</a:t>
            </a:r>
            <a:r>
              <a:rPr lang="en-US" altLang="ja-JP" sz="1700" dirty="0" smtClean="0"/>
              <a:t>10, 4</a:t>
            </a:r>
            <a:r>
              <a:rPr lang="ja-JP" altLang="en-US" sz="1700" dirty="0" smtClean="0"/>
              <a:t>）</a:t>
            </a:r>
            <a:endParaRPr lang="en-US" altLang="ja-JP" sz="1700" dirty="0" smtClean="0"/>
          </a:p>
          <a:p>
            <a:pPr lvl="1">
              <a:lnSpc>
                <a:spcPct val="100000"/>
              </a:lnSpc>
            </a:pPr>
            <a:r>
              <a:rPr lang="ja-JP" altLang="en-US" sz="1700" dirty="0" smtClean="0"/>
              <a:t>コンプライアンスに対応するための案件：１つ（案件</a:t>
            </a:r>
            <a:r>
              <a:rPr lang="en-US" altLang="ja-JP" sz="1700" dirty="0" smtClean="0"/>
              <a:t>15</a:t>
            </a:r>
            <a:r>
              <a:rPr lang="ja-JP" altLang="en-US" sz="1700" dirty="0" smtClean="0"/>
              <a:t>）</a:t>
            </a:r>
            <a:endParaRPr lang="en-US" altLang="ja-JP" sz="1700" dirty="0" smtClean="0"/>
          </a:p>
          <a:p>
            <a:pPr>
              <a:lnSpc>
                <a:spcPct val="100000"/>
              </a:lnSpc>
            </a:pPr>
            <a:endParaRPr kumimoji="1" lang="ja-JP" altLang="en-US" dirty="0"/>
          </a:p>
        </p:txBody>
      </p:sp>
    </p:spTree>
    <p:extLst>
      <p:ext uri="{BB962C8B-B14F-4D97-AF65-F5344CB8AC3E}">
        <p14:creationId xmlns:p14="http://schemas.microsoft.com/office/powerpoint/2010/main" val="2637699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【Ⅱ</a:t>
            </a:r>
            <a:r>
              <a:rPr lang="ja-JP" altLang="en-US" dirty="0" smtClean="0"/>
              <a:t>：判断</a:t>
            </a:r>
            <a:r>
              <a:rPr lang="en-US" altLang="ja-JP" dirty="0" smtClean="0"/>
              <a:t>】</a:t>
            </a:r>
            <a:r>
              <a:rPr kumimoji="1" lang="en-US" altLang="ja-JP" dirty="0" smtClean="0"/>
              <a:t>15</a:t>
            </a:r>
            <a:r>
              <a:rPr kumimoji="1" lang="ja-JP" altLang="en-US" dirty="0" smtClean="0"/>
              <a:t>分</a:t>
            </a:r>
            <a:endParaRPr kumimoji="1" lang="ja-JP" altLang="en-US" dirty="0"/>
          </a:p>
        </p:txBody>
      </p:sp>
      <p:sp>
        <p:nvSpPr>
          <p:cNvPr id="3" name="コンテンツ プレースホルダー 2"/>
          <p:cNvSpPr>
            <a:spLocks noGrp="1"/>
          </p:cNvSpPr>
          <p:nvPr>
            <p:ph idx="1"/>
          </p:nvPr>
        </p:nvSpPr>
        <p:spPr>
          <a:xfrm>
            <a:off x="838200" y="1825625"/>
            <a:ext cx="10515600" cy="4777398"/>
          </a:xfrm>
        </p:spPr>
        <p:txBody>
          <a:bodyPr>
            <a:normAutofit fontScale="40000" lnSpcReduction="20000"/>
          </a:bodyPr>
          <a:lstStyle/>
          <a:p>
            <a:pPr>
              <a:lnSpc>
                <a:spcPct val="120000"/>
              </a:lnSpc>
            </a:pPr>
            <a:r>
              <a:rPr lang="en-US" altLang="ja-JP" dirty="0"/>
              <a:t>3</a:t>
            </a:r>
            <a:r>
              <a:rPr lang="ja-JP" altLang="en-US" dirty="0" err="1"/>
              <a:t>つの</a:t>
            </a:r>
            <a:r>
              <a:rPr lang="ja-JP" altLang="en-US" dirty="0"/>
              <a:t>課題が提示され、この課題に対してそれぞれＡ</a:t>
            </a:r>
            <a:r>
              <a:rPr lang="ja-JP" altLang="en-US" dirty="0" smtClean="0"/>
              <a:t>依頼者（選択肢</a:t>
            </a:r>
            <a:r>
              <a:rPr lang="en-US" altLang="ja-JP" dirty="0" smtClean="0"/>
              <a:t>6</a:t>
            </a:r>
            <a:r>
              <a:rPr lang="ja-JP" altLang="en-US" dirty="0"/>
              <a:t>個</a:t>
            </a:r>
            <a:r>
              <a:rPr lang="ja-JP" altLang="en-US" dirty="0" smtClean="0"/>
              <a:t>）と</a:t>
            </a:r>
            <a:r>
              <a:rPr lang="ja-JP" altLang="en-US" dirty="0"/>
              <a:t>Ｂ</a:t>
            </a:r>
            <a:r>
              <a:rPr lang="ja-JP" altLang="en-US" dirty="0" smtClean="0"/>
              <a:t>処理（選択肢</a:t>
            </a:r>
            <a:r>
              <a:rPr lang="en-US" altLang="ja-JP" dirty="0" smtClean="0"/>
              <a:t>8</a:t>
            </a:r>
            <a:r>
              <a:rPr lang="ja-JP" altLang="en-US" dirty="0" smtClean="0"/>
              <a:t>個？）の</a:t>
            </a:r>
            <a:r>
              <a:rPr lang="ja-JP" altLang="en-US" dirty="0"/>
              <a:t>選択肢が与えられる</a:t>
            </a:r>
            <a:endParaRPr lang="en-US" altLang="ja-JP" dirty="0"/>
          </a:p>
          <a:p>
            <a:pPr>
              <a:lnSpc>
                <a:spcPct val="120000"/>
              </a:lnSpc>
            </a:pPr>
            <a:r>
              <a:rPr lang="ja-JP" altLang="en-US" dirty="0"/>
              <a:t>それぞれの課題に対して、優先すべき３つの処理とその処理への依頼者を組合せ選択する</a:t>
            </a:r>
            <a:endParaRPr lang="en-US" altLang="ja-JP" dirty="0"/>
          </a:p>
          <a:p>
            <a:pPr>
              <a:lnSpc>
                <a:spcPct val="120000"/>
              </a:lnSpc>
            </a:pPr>
            <a:r>
              <a:rPr lang="ja-JP" altLang="en-US" dirty="0"/>
              <a:t>判断の材料は</a:t>
            </a:r>
            <a:r>
              <a:rPr lang="en-US" altLang="ja-JP" dirty="0"/>
              <a:t>18</a:t>
            </a:r>
            <a:r>
              <a:rPr lang="ja-JP" altLang="en-US" dirty="0"/>
              <a:t>の案件や手引きに記載の状況設定</a:t>
            </a:r>
            <a:endParaRPr lang="en-US" altLang="ja-JP" dirty="0"/>
          </a:p>
          <a:p>
            <a:pPr>
              <a:lnSpc>
                <a:spcPct val="120000"/>
              </a:lnSpc>
            </a:pPr>
            <a:endParaRPr kumimoji="1" lang="en-US" altLang="ja-JP" dirty="0" smtClean="0"/>
          </a:p>
          <a:p>
            <a:pPr>
              <a:lnSpc>
                <a:spcPct val="120000"/>
              </a:lnSpc>
            </a:pPr>
            <a:r>
              <a:rPr lang="ja-JP" altLang="en-US" dirty="0" smtClean="0"/>
              <a:t>火事への対応</a:t>
            </a:r>
            <a:endParaRPr lang="en-US" altLang="ja-JP" dirty="0" smtClean="0"/>
          </a:p>
          <a:p>
            <a:pPr lvl="1">
              <a:lnSpc>
                <a:spcPct val="120000"/>
              </a:lnSpc>
            </a:pPr>
            <a:r>
              <a:rPr lang="ja-JP" altLang="en-US" dirty="0" smtClean="0"/>
              <a:t>スケジュールの確認</a:t>
            </a:r>
            <a:endParaRPr lang="en-US" altLang="ja-JP" dirty="0" smtClean="0"/>
          </a:p>
          <a:p>
            <a:pPr lvl="1">
              <a:lnSpc>
                <a:spcPct val="120000"/>
              </a:lnSpc>
            </a:pPr>
            <a:r>
              <a:rPr lang="ja-JP" altLang="en-US" dirty="0"/>
              <a:t>在庫</a:t>
            </a:r>
            <a:r>
              <a:rPr lang="ja-JP" altLang="en-US" dirty="0" smtClean="0"/>
              <a:t>の確認</a:t>
            </a:r>
            <a:endParaRPr lang="en-US" altLang="ja-JP" dirty="0" smtClean="0"/>
          </a:p>
          <a:p>
            <a:pPr lvl="1">
              <a:lnSpc>
                <a:spcPct val="120000"/>
              </a:lnSpc>
            </a:pPr>
            <a:r>
              <a:rPr lang="ja-JP" altLang="en-US" dirty="0" smtClean="0"/>
              <a:t>他の工場について</a:t>
            </a:r>
            <a:r>
              <a:rPr lang="ja-JP" altLang="en-US" dirty="0"/>
              <a:t>の</a:t>
            </a:r>
            <a:r>
              <a:rPr lang="ja-JP" altLang="en-US" dirty="0" smtClean="0"/>
              <a:t>火災対策の監査</a:t>
            </a:r>
            <a:endParaRPr lang="en-US" altLang="ja-JP" dirty="0" smtClean="0"/>
          </a:p>
          <a:p>
            <a:pPr lvl="1">
              <a:lnSpc>
                <a:spcPct val="120000"/>
              </a:lnSpc>
            </a:pPr>
            <a:r>
              <a:rPr lang="en-US" altLang="ja-JP" dirty="0" smtClean="0"/>
              <a:t>XX</a:t>
            </a:r>
            <a:r>
              <a:rPr lang="ja-JP" altLang="en-US" dirty="0" smtClean="0"/>
              <a:t>社への部品再生産の依頼</a:t>
            </a:r>
            <a:endParaRPr lang="en-US" altLang="ja-JP" dirty="0" smtClean="0"/>
          </a:p>
          <a:p>
            <a:pPr lvl="1">
              <a:lnSpc>
                <a:spcPct val="120000"/>
              </a:lnSpc>
            </a:pPr>
            <a:r>
              <a:rPr lang="en-US" altLang="ja-JP" dirty="0" smtClean="0"/>
              <a:t>XX</a:t>
            </a:r>
            <a:r>
              <a:rPr lang="ja-JP" altLang="en-US" dirty="0" smtClean="0"/>
              <a:t>社への部品再生産可能か確認</a:t>
            </a:r>
            <a:endParaRPr lang="en-US" altLang="ja-JP" dirty="0" smtClean="0"/>
          </a:p>
          <a:p>
            <a:pPr>
              <a:lnSpc>
                <a:spcPct val="120000"/>
              </a:lnSpc>
            </a:pPr>
            <a:r>
              <a:rPr kumimoji="1" lang="en-US" altLang="ja-JP" dirty="0" smtClean="0"/>
              <a:t>RG010</a:t>
            </a:r>
            <a:r>
              <a:rPr kumimoji="1" lang="ja-JP" altLang="en-US" dirty="0" smtClean="0"/>
              <a:t>の</a:t>
            </a:r>
            <a:r>
              <a:rPr kumimoji="1" lang="en-US" altLang="ja-JP" dirty="0" smtClean="0"/>
              <a:t>USB</a:t>
            </a:r>
            <a:r>
              <a:rPr kumimoji="1" lang="ja-JP" altLang="en-US" dirty="0" smtClean="0"/>
              <a:t>の口の追加について</a:t>
            </a:r>
            <a:endParaRPr kumimoji="1" lang="en-US" altLang="ja-JP" dirty="0" smtClean="0"/>
          </a:p>
          <a:p>
            <a:pPr lvl="1">
              <a:lnSpc>
                <a:spcPct val="120000"/>
              </a:lnSpc>
            </a:pPr>
            <a:r>
              <a:rPr kumimoji="1" lang="ja-JP" altLang="en-US" dirty="0" smtClean="0"/>
              <a:t>市場情報の確認</a:t>
            </a:r>
            <a:endParaRPr lang="en-US" altLang="ja-JP" dirty="0"/>
          </a:p>
          <a:p>
            <a:pPr lvl="1">
              <a:lnSpc>
                <a:spcPct val="120000"/>
              </a:lnSpc>
            </a:pPr>
            <a:r>
              <a:rPr kumimoji="1" lang="ja-JP" altLang="en-US" dirty="0" smtClean="0"/>
              <a:t>需要を把握するための商品企画のやり方の見直し</a:t>
            </a:r>
            <a:endParaRPr kumimoji="1" lang="en-US" altLang="ja-JP" dirty="0" smtClean="0"/>
          </a:p>
          <a:p>
            <a:pPr lvl="1">
              <a:lnSpc>
                <a:spcPct val="120000"/>
              </a:lnSpc>
            </a:pPr>
            <a:r>
              <a:rPr lang="en-US" altLang="ja-JP" dirty="0" smtClean="0"/>
              <a:t>USB</a:t>
            </a:r>
            <a:r>
              <a:rPr lang="ja-JP" altLang="en-US" dirty="0" smtClean="0"/>
              <a:t>を追加する設計依頼</a:t>
            </a:r>
            <a:endParaRPr lang="en-US" altLang="ja-JP" dirty="0" smtClean="0"/>
          </a:p>
          <a:p>
            <a:pPr lvl="1">
              <a:lnSpc>
                <a:spcPct val="120000"/>
              </a:lnSpc>
            </a:pPr>
            <a:r>
              <a:rPr kumimoji="1" lang="ja-JP" altLang="en-US" dirty="0" smtClean="0"/>
              <a:t>企画</a:t>
            </a:r>
            <a:r>
              <a:rPr kumimoji="1" lang="ja-JP" altLang="en-US" dirty="0"/>
              <a:t>会議</a:t>
            </a:r>
            <a:r>
              <a:rPr kumimoji="1" lang="ja-JP" altLang="en-US" dirty="0" smtClean="0"/>
              <a:t>の</a:t>
            </a:r>
            <a:r>
              <a:rPr kumimoji="1" lang="ja-JP" altLang="en-US" dirty="0"/>
              <a:t>資料</a:t>
            </a:r>
            <a:r>
              <a:rPr kumimoji="1" lang="ja-JP" altLang="en-US" dirty="0" smtClean="0"/>
              <a:t>を</a:t>
            </a:r>
            <a:r>
              <a:rPr kumimoji="1" lang="ja-JP" altLang="en-US" dirty="0"/>
              <a:t>作</a:t>
            </a:r>
            <a:r>
              <a:rPr kumimoji="1" lang="ja-JP" altLang="en-US" dirty="0" smtClean="0"/>
              <a:t>る</a:t>
            </a:r>
            <a:endParaRPr kumimoji="1" lang="en-US" altLang="ja-JP" dirty="0" smtClean="0"/>
          </a:p>
          <a:p>
            <a:pPr>
              <a:lnSpc>
                <a:spcPct val="120000"/>
              </a:lnSpc>
            </a:pPr>
            <a:r>
              <a:rPr kumimoji="1" lang="ja-JP" altLang="en-US" dirty="0" smtClean="0"/>
              <a:t>新規デザインついて</a:t>
            </a:r>
            <a:endParaRPr kumimoji="1" lang="en-US" altLang="ja-JP" dirty="0" smtClean="0"/>
          </a:p>
          <a:p>
            <a:pPr lvl="1">
              <a:lnSpc>
                <a:spcPct val="120000"/>
              </a:lnSpc>
            </a:pPr>
            <a:r>
              <a:rPr kumimoji="1" lang="ja-JP" altLang="en-US" dirty="0" smtClean="0"/>
              <a:t>新しい素材を使ったら静穏性が基準を満たすか確認</a:t>
            </a:r>
            <a:endParaRPr kumimoji="1" lang="en-US" altLang="ja-JP" dirty="0" smtClean="0"/>
          </a:p>
          <a:p>
            <a:pPr lvl="1">
              <a:lnSpc>
                <a:spcPct val="120000"/>
              </a:lnSpc>
            </a:pPr>
            <a:r>
              <a:rPr kumimoji="1" lang="ja-JP" altLang="en-US" dirty="0" smtClean="0"/>
              <a:t>新しい素材を使った時のコストの確認</a:t>
            </a:r>
            <a:endParaRPr kumimoji="1" lang="en-US" altLang="ja-JP" dirty="0" smtClean="0"/>
          </a:p>
          <a:p>
            <a:pPr lvl="1">
              <a:lnSpc>
                <a:spcPct val="120000"/>
              </a:lnSpc>
            </a:pPr>
            <a:endParaRPr kumimoji="1" lang="ja-JP" altLang="en-US" dirty="0"/>
          </a:p>
        </p:txBody>
      </p:sp>
    </p:spTree>
    <p:extLst>
      <p:ext uri="{BB962C8B-B14F-4D97-AF65-F5344CB8AC3E}">
        <p14:creationId xmlns:p14="http://schemas.microsoft.com/office/powerpoint/2010/main" val="2807660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論文　</a:t>
            </a:r>
            <a:r>
              <a:rPr kumimoji="1" lang="en-US" altLang="ja-JP" dirty="0" smtClean="0"/>
              <a:t>150</a:t>
            </a:r>
            <a:r>
              <a:rPr kumimoji="1" lang="ja-JP" altLang="en-US" dirty="0" smtClean="0"/>
              <a:t>分</a:t>
            </a:r>
            <a:endParaRPr kumimoji="1" lang="ja-JP" altLang="en-US" dirty="0"/>
          </a:p>
        </p:txBody>
      </p:sp>
      <p:sp>
        <p:nvSpPr>
          <p:cNvPr id="3" name="コンテンツ プレースホルダー 2"/>
          <p:cNvSpPr>
            <a:spLocks noGrp="1"/>
          </p:cNvSpPr>
          <p:nvPr>
            <p:ph idx="1"/>
          </p:nvPr>
        </p:nvSpPr>
        <p:spPr/>
        <p:txBody>
          <a:bodyPr/>
          <a:lstStyle/>
          <a:p>
            <a:pPr marL="0" indent="0">
              <a:buNone/>
            </a:pPr>
            <a:r>
              <a:rPr kumimoji="1" lang="ja-JP" altLang="en-US" dirty="0" smtClean="0"/>
              <a:t>激しい環境の変化を捉えて飛躍していくために、強みを堅持し、変化に合わせた取り組みをすることが必要です。</a:t>
            </a:r>
            <a:r>
              <a:rPr lang="en-US" altLang="ja-JP" dirty="0" smtClean="0"/>
              <a:t/>
            </a:r>
            <a:br>
              <a:rPr lang="en-US" altLang="ja-JP" dirty="0" smtClean="0"/>
            </a:br>
            <a:r>
              <a:rPr lang="ja-JP" altLang="en-US" dirty="0" smtClean="0"/>
              <a:t>あなたの業務において、守るべき強みと、時代に合わせて変えていくべきものについて述べ、変えるべきものに対する具体的な取り組みを述べなさい。</a:t>
            </a:r>
            <a:endParaRPr kumimoji="1" lang="en-US" altLang="ja-JP" dirty="0" smtClean="0"/>
          </a:p>
        </p:txBody>
      </p:sp>
    </p:spTree>
    <p:extLst>
      <p:ext uri="{BB962C8B-B14F-4D97-AF65-F5344CB8AC3E}">
        <p14:creationId xmlns:p14="http://schemas.microsoft.com/office/powerpoint/2010/main" val="380144498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TotalTime>
  <Words>919</Words>
  <Application>Microsoft Office PowerPoint</Application>
  <PresentationFormat>ワイド画面</PresentationFormat>
  <Paragraphs>90</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G3試験ログ</vt:lpstr>
      <vt:lpstr>インバスケット</vt:lpstr>
      <vt:lpstr>インバスケット状況設定</vt:lpstr>
      <vt:lpstr>インバスケット案件</vt:lpstr>
      <vt:lpstr>【Ⅰ：分析】　20分</vt:lpstr>
      <vt:lpstr>【Ⅱ：判断】15分</vt:lpstr>
      <vt:lpstr>論文　150分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113012</dc:creator>
  <cp:lastModifiedBy>113012</cp:lastModifiedBy>
  <cp:revision>16</cp:revision>
  <dcterms:created xsi:type="dcterms:W3CDTF">2020-09-07T00:53:19Z</dcterms:created>
  <dcterms:modified xsi:type="dcterms:W3CDTF">2021-04-05T04:16:29Z</dcterms:modified>
</cp:coreProperties>
</file>