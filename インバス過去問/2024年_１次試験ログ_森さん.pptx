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9" r:id="rId5"/>
    <p:sldId id="260" r:id="rId6"/>
    <p:sldId id="264" r:id="rId7"/>
    <p:sldId id="261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914400" y="2362200"/>
            <a:ext cx="10363200" cy="152400"/>
          </a:xfrm>
          <a:prstGeom prst="rect">
            <a:avLst/>
          </a:prstGeom>
          <a:gradFill rotWithShape="0">
            <a:gsLst>
              <a:gs pos="0">
                <a:srgbClr val="98ADEB"/>
              </a:gs>
              <a:gs pos="100000">
                <a:srgbClr val="00339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 sz="135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14400" y="2538432"/>
            <a:ext cx="10363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650"/>
            </a:lvl1pPr>
          </a:lstStyle>
          <a:p>
            <a:r>
              <a:rPr lang="ja-JP" altLang="en-US"/>
              <a:t>サブタイトル</a:t>
            </a:r>
          </a:p>
        </p:txBody>
      </p:sp>
      <p:sp>
        <p:nvSpPr>
          <p:cNvPr id="9" name="タイトル 8"/>
          <p:cNvSpPr>
            <a:spLocks noGrp="1"/>
          </p:cNvSpPr>
          <p:nvPr>
            <p:ph type="title" hasCustomPrompt="1"/>
          </p:nvPr>
        </p:nvSpPr>
        <p:spPr>
          <a:xfrm>
            <a:off x="914400" y="1918558"/>
            <a:ext cx="10363200" cy="4318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ECB0-9E0A-4801-A2CA-E3B2ACD6B028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11" name="フッター プレースホルダー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D5BACF49-3BA9-45A1-BBA2-96C9F81FA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40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ECB0-9E0A-4801-A2CA-E3B2ACD6B028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ACF49-3BA9-45A1-BBA2-96C9F81FA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904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ECB0-9E0A-4801-A2CA-E3B2ACD6B028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ACF49-3BA9-45A1-BBA2-96C9F81FA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801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372" y="260648"/>
            <a:ext cx="11329259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372" y="908720"/>
            <a:ext cx="11329259" cy="539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第 </a:t>
            </a:r>
            <a:r>
              <a:rPr lang="en-US" altLang="ja-JP"/>
              <a:t>1 </a:t>
            </a:r>
            <a:r>
              <a:rPr lang="ja-JP" altLang="en-US"/>
              <a:t>レベル</a:t>
            </a:r>
            <a:endParaRPr lang="en-US" altLang="ja-JP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372" y="6536379"/>
            <a:ext cx="220824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kumimoji="0" sz="900" b="1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6C69ECB0-9E0A-4801-A2CA-E3B2ACD6B028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89658" y="6536379"/>
            <a:ext cx="666671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kumimoji="0" sz="900" b="1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2439" y="6536379"/>
            <a:ext cx="215421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kumimoji="0" sz="900" b="1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D5BACF49-3BA9-45A1-BBA2-96C9F81FA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431372" y="764704"/>
            <a:ext cx="11329259" cy="105276"/>
          </a:xfrm>
          <a:prstGeom prst="rect">
            <a:avLst/>
          </a:prstGeom>
          <a:gradFill rotWithShape="0">
            <a:gsLst>
              <a:gs pos="0">
                <a:srgbClr val="98ADEB"/>
              </a:gs>
              <a:gs pos="100000">
                <a:srgbClr val="00339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 sz="1350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68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rgbClr val="003399"/>
          </a:solidFill>
          <a:latin typeface="+mn-ea"/>
          <a:ea typeface="+mn-ea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100">
          <a:solidFill>
            <a:srgbClr val="003399"/>
          </a:solidFill>
          <a:latin typeface="MS UI Gothic" pitchFamily="50" charset="-128"/>
          <a:ea typeface="MS UI Gothic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100">
          <a:solidFill>
            <a:srgbClr val="003399"/>
          </a:solidFill>
          <a:latin typeface="MS UI Gothic" pitchFamily="50" charset="-128"/>
          <a:ea typeface="MS UI Gothic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100">
          <a:solidFill>
            <a:srgbClr val="003399"/>
          </a:solidFill>
          <a:latin typeface="MS UI Gothic" pitchFamily="50" charset="-128"/>
          <a:ea typeface="MS UI Gothic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100">
          <a:solidFill>
            <a:srgbClr val="003399"/>
          </a:solidFill>
          <a:latin typeface="MS UI Gothic" pitchFamily="50" charset="-128"/>
          <a:ea typeface="MS UI Gothic" pitchFamily="50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100">
          <a:solidFill>
            <a:srgbClr val="003399"/>
          </a:solidFill>
          <a:latin typeface="MS UI Gothic" pitchFamily="50" charset="-128"/>
          <a:ea typeface="MS UI Gothic" pitchFamily="50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100">
          <a:solidFill>
            <a:srgbClr val="003399"/>
          </a:solidFill>
          <a:latin typeface="MS UI Gothic" pitchFamily="50" charset="-128"/>
          <a:ea typeface="MS UI Gothic" pitchFamily="50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100">
          <a:solidFill>
            <a:srgbClr val="003399"/>
          </a:solidFill>
          <a:latin typeface="MS UI Gothic" pitchFamily="50" charset="-128"/>
          <a:ea typeface="MS UI Gothic" pitchFamily="50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100">
          <a:solidFill>
            <a:srgbClr val="003399"/>
          </a:solidFill>
          <a:latin typeface="MS UI Gothic" pitchFamily="50" charset="-128"/>
          <a:ea typeface="MS UI Gothic" pitchFamily="50" charset="-128"/>
        </a:defRPr>
      </a:lvl9pPr>
    </p:titleStyle>
    <p:bodyStyle>
      <a:lvl1pPr marL="198835" indent="-198835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1800" b="1">
          <a:solidFill>
            <a:srgbClr val="003399"/>
          </a:solidFill>
          <a:latin typeface="+mn-ea"/>
          <a:ea typeface="+mn-ea"/>
          <a:cs typeface="Meiryo UI" panose="020B0604030504040204" pitchFamily="50" charset="-128"/>
        </a:defRPr>
      </a:lvl1pPr>
      <a:lvl2pPr marL="333375" indent="-198835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anose="05000000000000000000" pitchFamily="2" charset="2"/>
        <a:buChar char="n"/>
        <a:defRPr kumimoji="1" sz="1500" b="0">
          <a:solidFill>
            <a:srgbClr val="003399"/>
          </a:solidFill>
          <a:latin typeface="+mn-ea"/>
          <a:ea typeface="+mn-ea"/>
          <a:cs typeface="Meiryo UI" panose="020B0604030504040204" pitchFamily="50" charset="-128"/>
        </a:defRPr>
      </a:lvl2pPr>
      <a:lvl3pPr marL="467916" indent="-198835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anose="05000000000000000000" pitchFamily="2" charset="2"/>
        <a:buChar char="n"/>
        <a:defRPr kumimoji="1" b="0">
          <a:solidFill>
            <a:srgbClr val="003399"/>
          </a:solidFill>
          <a:latin typeface="+mn-ea"/>
          <a:ea typeface="+mn-ea"/>
          <a:cs typeface="Meiryo UI" panose="020B0604030504040204" pitchFamily="50" charset="-128"/>
        </a:defRPr>
      </a:lvl3pPr>
      <a:lvl4pPr marL="607219" indent="-203597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anose="05000000000000000000" pitchFamily="2" charset="2"/>
        <a:buChar char="n"/>
        <a:defRPr kumimoji="1" b="0">
          <a:solidFill>
            <a:srgbClr val="003399"/>
          </a:solidFill>
          <a:latin typeface="+mn-ea"/>
          <a:ea typeface="+mn-ea"/>
          <a:cs typeface="Meiryo UI" panose="020B0604030504040204" pitchFamily="50" charset="-128"/>
        </a:defRPr>
      </a:lvl4pPr>
      <a:lvl5pPr marL="741760" indent="-204788" algn="l" rtl="0" eaLnBrk="1" fontAlgn="base" hangingPunct="1">
        <a:spcBef>
          <a:spcPct val="25000"/>
        </a:spcBef>
        <a:spcAft>
          <a:spcPct val="0"/>
        </a:spcAft>
        <a:buClr>
          <a:srgbClr val="003399"/>
        </a:buClr>
        <a:buSzPct val="80000"/>
        <a:buFont typeface="Wingdings" panose="05000000000000000000" pitchFamily="2" charset="2"/>
        <a:buChar char="n"/>
        <a:defRPr kumimoji="1" b="0">
          <a:solidFill>
            <a:srgbClr val="003399"/>
          </a:solidFill>
          <a:latin typeface="+mn-ea"/>
          <a:ea typeface="+mn-ea"/>
          <a:cs typeface="Meiryo UI" panose="020B0604030504040204" pitchFamily="50" charset="-128"/>
        </a:defRPr>
      </a:lvl5pPr>
      <a:lvl6pPr marL="2057400" indent="-210741" algn="l" rtl="0" eaLnBrk="1" fontAlgn="base" hangingPunct="1">
        <a:spcBef>
          <a:spcPct val="25000"/>
        </a:spcBef>
        <a:spcAft>
          <a:spcPct val="0"/>
        </a:spcAft>
        <a:buClr>
          <a:srgbClr val="003399"/>
        </a:buClr>
        <a:buFont typeface="Wingdings" pitchFamily="2" charset="2"/>
        <a:buChar char="§"/>
        <a:defRPr kumimoji="1">
          <a:solidFill>
            <a:srgbClr val="003399"/>
          </a:solidFill>
          <a:latin typeface="+mn-lt"/>
          <a:ea typeface="+mn-ea"/>
        </a:defRPr>
      </a:lvl6pPr>
      <a:lvl7pPr marL="2400300" indent="-210741" algn="l" rtl="0" eaLnBrk="1" fontAlgn="base" hangingPunct="1">
        <a:spcBef>
          <a:spcPct val="25000"/>
        </a:spcBef>
        <a:spcAft>
          <a:spcPct val="0"/>
        </a:spcAft>
        <a:buClr>
          <a:srgbClr val="003399"/>
        </a:buClr>
        <a:buFont typeface="Wingdings" pitchFamily="2" charset="2"/>
        <a:buChar char="§"/>
        <a:defRPr kumimoji="1">
          <a:solidFill>
            <a:srgbClr val="003399"/>
          </a:solidFill>
          <a:latin typeface="+mn-lt"/>
          <a:ea typeface="+mn-ea"/>
        </a:defRPr>
      </a:lvl7pPr>
      <a:lvl8pPr marL="2743200" indent="-210741" algn="l" rtl="0" eaLnBrk="1" fontAlgn="base" hangingPunct="1">
        <a:spcBef>
          <a:spcPct val="25000"/>
        </a:spcBef>
        <a:spcAft>
          <a:spcPct val="0"/>
        </a:spcAft>
        <a:buClr>
          <a:srgbClr val="003399"/>
        </a:buClr>
        <a:buFont typeface="Wingdings" pitchFamily="2" charset="2"/>
        <a:buChar char="§"/>
        <a:defRPr kumimoji="1">
          <a:solidFill>
            <a:srgbClr val="003399"/>
          </a:solidFill>
          <a:latin typeface="+mn-lt"/>
          <a:ea typeface="+mn-ea"/>
        </a:defRPr>
      </a:lvl8pPr>
      <a:lvl9pPr marL="3086100" indent="-210741" algn="l" rtl="0" eaLnBrk="1" fontAlgn="base" hangingPunct="1">
        <a:spcBef>
          <a:spcPct val="25000"/>
        </a:spcBef>
        <a:spcAft>
          <a:spcPct val="0"/>
        </a:spcAft>
        <a:buClr>
          <a:srgbClr val="003399"/>
        </a:buClr>
        <a:buFont typeface="Wingdings" pitchFamily="2" charset="2"/>
        <a:buChar char="§"/>
        <a:defRPr kumimoji="1">
          <a:solidFill>
            <a:srgbClr val="003399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9D0DC409-CDFB-75A7-3C4F-6F1C6D4386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en-US" altLang="ja-JP" dirty="0"/>
              <a:t>31</a:t>
            </a:r>
            <a:r>
              <a:rPr kumimoji="1" lang="ja-JP" altLang="en-US" dirty="0"/>
              <a:t>開　森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5DC6C10-B793-F941-2013-A3D15DB6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2024</a:t>
            </a:r>
            <a:r>
              <a:rPr kumimoji="1" lang="ja-JP" altLang="en-US" dirty="0"/>
              <a:t>年　１次試験ログ</a:t>
            </a:r>
          </a:p>
        </p:txBody>
      </p:sp>
    </p:spTree>
    <p:extLst>
      <p:ext uri="{BB962C8B-B14F-4D97-AF65-F5344CB8AC3E}">
        <p14:creationId xmlns:p14="http://schemas.microsoft.com/office/powerpoint/2010/main" val="86728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5DABE0-0364-936D-A9F0-EB3DCFA0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89A998-64AB-BFFD-E01B-2C7683D81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2" y="908720"/>
            <a:ext cx="11551078" cy="5392568"/>
          </a:xfrm>
        </p:spPr>
        <p:txBody>
          <a:bodyPr/>
          <a:lstStyle/>
          <a:p>
            <a:r>
              <a:rPr kumimoji="1" lang="ja-JP" altLang="en-US" sz="1600" dirty="0">
                <a:solidFill>
                  <a:schemeClr val="tx1"/>
                </a:solidFill>
              </a:rPr>
              <a:t>開催日時　</a:t>
            </a:r>
            <a:r>
              <a:rPr kumimoji="1" lang="en-US" altLang="ja-JP" sz="1600" dirty="0">
                <a:solidFill>
                  <a:schemeClr val="tx1"/>
                </a:solidFill>
              </a:rPr>
              <a:t>2024</a:t>
            </a:r>
            <a:r>
              <a:rPr kumimoji="1" lang="ja-JP" altLang="en-US" sz="1600" dirty="0">
                <a:solidFill>
                  <a:schemeClr val="tx1"/>
                </a:solidFill>
              </a:rPr>
              <a:t>年</a:t>
            </a:r>
            <a:r>
              <a:rPr kumimoji="1" lang="en-US" altLang="ja-JP" sz="1600" dirty="0">
                <a:solidFill>
                  <a:schemeClr val="tx1"/>
                </a:solidFill>
              </a:rPr>
              <a:t>9</a:t>
            </a:r>
            <a:r>
              <a:rPr kumimoji="1" lang="ja-JP" altLang="en-US" sz="1600" dirty="0">
                <a:solidFill>
                  <a:schemeClr val="tx1"/>
                </a:solidFill>
              </a:rPr>
              <a:t>月</a:t>
            </a:r>
            <a:r>
              <a:rPr kumimoji="1" lang="en-US" altLang="ja-JP" sz="1600" dirty="0">
                <a:solidFill>
                  <a:schemeClr val="tx1"/>
                </a:solidFill>
              </a:rPr>
              <a:t>7</a:t>
            </a:r>
            <a:r>
              <a:rPr kumimoji="1" lang="ja-JP" altLang="en-US" sz="1600" dirty="0">
                <a:solidFill>
                  <a:schemeClr val="tx1"/>
                </a:solidFill>
              </a:rPr>
              <a:t>日</a:t>
            </a:r>
            <a:r>
              <a:rPr lang="ja-JP" altLang="en-US" sz="1600" dirty="0">
                <a:solidFill>
                  <a:schemeClr val="tx1"/>
                </a:solidFill>
              </a:rPr>
              <a:t>　</a:t>
            </a:r>
            <a:r>
              <a:rPr lang="en-US" altLang="ja-JP" sz="1600" dirty="0">
                <a:solidFill>
                  <a:schemeClr val="tx1"/>
                </a:solidFill>
              </a:rPr>
              <a:t>AM</a:t>
            </a: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開催場所　御手洗記念館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endParaRPr lang="en-US" altLang="ja-JP" sz="1600" dirty="0">
              <a:solidFill>
                <a:schemeClr val="tx1"/>
              </a:solidFill>
            </a:endParaRPr>
          </a:p>
          <a:p>
            <a:r>
              <a:rPr lang="ja-JP" altLang="en-US" sz="1600" dirty="0">
                <a:solidFill>
                  <a:schemeClr val="tx1"/>
                </a:solidFill>
              </a:rPr>
              <a:t>試験内容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lvl="1"/>
            <a:r>
              <a:rPr lang="ja-JP" altLang="en-US" sz="1400" dirty="0">
                <a:solidFill>
                  <a:schemeClr val="tx1"/>
                </a:solidFill>
              </a:rPr>
              <a:t>インバスケット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lvl="1"/>
            <a:r>
              <a:rPr lang="ja-JP" altLang="en-US" sz="1400" dirty="0">
                <a:solidFill>
                  <a:schemeClr val="tx1"/>
                </a:solidFill>
              </a:rPr>
              <a:t>論文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lvl="2"/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600" dirty="0">
                <a:solidFill>
                  <a:schemeClr val="tx1"/>
                </a:solidFill>
              </a:rPr>
              <a:t>試験時間について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lvl="1"/>
            <a:r>
              <a:rPr lang="ja-JP" altLang="en-US" sz="1400" dirty="0">
                <a:solidFill>
                  <a:schemeClr val="tx1"/>
                </a:solidFill>
              </a:rPr>
              <a:t>例年と同じ</a:t>
            </a:r>
            <a:endParaRPr lang="en-US" altLang="ja-JP" sz="1400" dirty="0">
              <a:solidFill>
                <a:schemeClr val="tx1"/>
              </a:solidFill>
            </a:endParaRPr>
          </a:p>
          <a:p>
            <a:endParaRPr kumimoji="1" lang="ja-JP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30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6D8D59-144C-4408-43AA-29A7D7FF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論文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9577E8-C266-CEC0-1285-F6ED0A01B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1900" dirty="0">
                <a:solidFill>
                  <a:schemeClr val="tx1"/>
                </a:solidFill>
              </a:rPr>
              <a:t>キヤノンが激しい競争を勝ち抜き、更なる成長を遂げるためには、取り巻く環境の変化に対して？一人一人が行動をしていかなければなりません。あなたの組織における環境の変化と、それを踏まえた課題を明らかにし、あなたが解決のために取り組んだ内容を具体的に述べなさい。</a:t>
            </a:r>
            <a:endParaRPr lang="en-US" altLang="ja-JP" sz="1900" dirty="0">
              <a:solidFill>
                <a:schemeClr val="tx1"/>
              </a:solidFill>
            </a:endParaRPr>
          </a:p>
          <a:p>
            <a:endParaRPr lang="en-US" altLang="ja-JP" sz="1900" dirty="0">
              <a:solidFill>
                <a:schemeClr val="tx1"/>
              </a:solidFill>
            </a:endParaRPr>
          </a:p>
          <a:p>
            <a:pPr lvl="1"/>
            <a:r>
              <a:rPr lang="ja-JP" altLang="en-US" sz="1750" dirty="0">
                <a:solidFill>
                  <a:schemeClr val="tx1"/>
                </a:solidFill>
              </a:rPr>
              <a:t>個人的には答えやすいお題だった</a:t>
            </a:r>
            <a:endParaRPr lang="en-US" altLang="ja-JP" sz="1750" dirty="0">
              <a:solidFill>
                <a:schemeClr val="tx1"/>
              </a:solidFill>
            </a:endParaRPr>
          </a:p>
          <a:p>
            <a:pPr lvl="1"/>
            <a:r>
              <a:rPr lang="ja-JP" altLang="en-US" sz="1750" dirty="0">
                <a:solidFill>
                  <a:schemeClr val="tx1"/>
                </a:solidFill>
              </a:rPr>
              <a:t>時間はピッタリくらいに終わった</a:t>
            </a:r>
            <a:endParaRPr lang="en-US" altLang="ja-JP" sz="1750" dirty="0">
              <a:solidFill>
                <a:schemeClr val="tx1"/>
              </a:solidFill>
            </a:endParaRPr>
          </a:p>
          <a:p>
            <a:pPr lvl="2"/>
            <a:r>
              <a:rPr lang="ja-JP" altLang="en-US" sz="1600" dirty="0">
                <a:solidFill>
                  <a:schemeClr val="tx1"/>
                </a:solidFill>
              </a:rPr>
              <a:t>残り時間</a:t>
            </a:r>
            <a:r>
              <a:rPr lang="en-US" altLang="ja-JP" sz="1600" dirty="0">
                <a:solidFill>
                  <a:schemeClr val="tx1"/>
                </a:solidFill>
              </a:rPr>
              <a:t>30</a:t>
            </a:r>
            <a:r>
              <a:rPr lang="ja-JP" altLang="en-US" sz="1600" dirty="0">
                <a:solidFill>
                  <a:schemeClr val="tx1"/>
                </a:solidFill>
              </a:rPr>
              <a:t>分くらいの時に書き終えて、見直ししたら残り</a:t>
            </a:r>
            <a:r>
              <a:rPr lang="en-US" altLang="ja-JP" sz="1600" dirty="0">
                <a:solidFill>
                  <a:schemeClr val="tx1"/>
                </a:solidFill>
              </a:rPr>
              <a:t>10</a:t>
            </a:r>
            <a:r>
              <a:rPr lang="ja-JP" altLang="en-US" sz="1600" dirty="0">
                <a:solidFill>
                  <a:schemeClr val="tx1"/>
                </a:solidFill>
              </a:rPr>
              <a:t>分だった</a:t>
            </a:r>
            <a:endParaRPr lang="en-US" altLang="ja-JP" sz="1600" dirty="0">
              <a:solidFill>
                <a:schemeClr val="tx1"/>
              </a:solidFill>
            </a:endParaRPr>
          </a:p>
          <a:p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22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4F9C96-F22A-61E1-80DE-FF10B33C3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インバスケット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C6FDE9-71B6-945D-FDFE-630858D0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1800" dirty="0">
                <a:solidFill>
                  <a:schemeClr val="tx1"/>
                </a:solidFill>
              </a:rPr>
              <a:t>出題環境</a:t>
            </a:r>
            <a:endParaRPr lang="en-US" altLang="ja-JP" sz="1800" dirty="0">
              <a:solidFill>
                <a:schemeClr val="tx1"/>
              </a:solidFill>
            </a:endParaRPr>
          </a:p>
          <a:p>
            <a:pPr lvl="1"/>
            <a:r>
              <a:rPr lang="ja-JP" altLang="en-US" sz="1600" dirty="0">
                <a:solidFill>
                  <a:schemeClr val="tx1"/>
                </a:solidFill>
              </a:rPr>
              <a:t>問題用紙は、問題冊子、回答用紙マークシート、状況設定が書いてある冊子、メール</a:t>
            </a:r>
            <a:r>
              <a:rPr lang="en-US" altLang="ja-JP" sz="1600" dirty="0">
                <a:solidFill>
                  <a:schemeClr val="tx1"/>
                </a:solidFill>
              </a:rPr>
              <a:t>18</a:t>
            </a:r>
            <a:r>
              <a:rPr lang="ja-JP" altLang="en-US" sz="1600" dirty="0">
                <a:solidFill>
                  <a:schemeClr val="tx1"/>
                </a:solidFill>
              </a:rPr>
              <a:t>枚</a:t>
            </a:r>
            <a:r>
              <a:rPr lang="en-US" altLang="ja-JP" sz="1600" dirty="0">
                <a:solidFill>
                  <a:schemeClr val="tx1"/>
                </a:solidFill>
              </a:rPr>
              <a:t>(</a:t>
            </a:r>
            <a:r>
              <a:rPr lang="ja-JP" altLang="en-US" sz="1600" dirty="0">
                <a:solidFill>
                  <a:schemeClr val="tx1"/>
                </a:solidFill>
              </a:rPr>
              <a:t>これは冊子ではない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ja-JP" sz="1600" dirty="0">
                <a:solidFill>
                  <a:schemeClr val="tx1"/>
                </a:solidFill>
              </a:rPr>
              <a:t>Ⅰ</a:t>
            </a:r>
            <a:r>
              <a:rPr lang="ja-JP" altLang="en-US" sz="1600" dirty="0">
                <a:solidFill>
                  <a:schemeClr val="tx1"/>
                </a:solidFill>
              </a:rPr>
              <a:t>と</a:t>
            </a:r>
            <a:r>
              <a:rPr lang="en-US" altLang="ja-JP" sz="1600" dirty="0">
                <a:solidFill>
                  <a:schemeClr val="tx1"/>
                </a:solidFill>
              </a:rPr>
              <a:t>Ⅱ</a:t>
            </a:r>
            <a:r>
              <a:rPr lang="ja-JP" altLang="en-US" sz="1600" dirty="0">
                <a:solidFill>
                  <a:schemeClr val="tx1"/>
                </a:solidFill>
              </a:rPr>
              <a:t>は決められた時間内でしか回答できないが、状況設定とメールはいつでも読むことが出来る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ja-JP" sz="1800" dirty="0">
              <a:solidFill>
                <a:schemeClr val="tx1"/>
              </a:solidFill>
            </a:endParaRPr>
          </a:p>
          <a:p>
            <a:r>
              <a:rPr lang="ja-JP" altLang="en-US" sz="1800" dirty="0">
                <a:solidFill>
                  <a:schemeClr val="tx1"/>
                </a:solidFill>
              </a:rPr>
              <a:t>状況設定</a:t>
            </a:r>
            <a:endParaRPr kumimoji="1" lang="en-US" altLang="ja-JP" sz="18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1600" dirty="0">
                <a:solidFill>
                  <a:schemeClr val="tx1"/>
                </a:solidFill>
              </a:rPr>
              <a:t>ホームセンター的な大手販売店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lvl="2"/>
            <a:r>
              <a:rPr kumimoji="1" lang="ja-JP" altLang="en-US" sz="1450" dirty="0">
                <a:solidFill>
                  <a:schemeClr val="tx1"/>
                </a:solidFill>
              </a:rPr>
              <a:t>収納用の箱がヒットして、今では家電等も手掛けるメーカー</a:t>
            </a:r>
            <a:endParaRPr kumimoji="1" lang="en-US" altLang="ja-JP" sz="1450" dirty="0">
              <a:solidFill>
                <a:schemeClr val="tx1"/>
              </a:solidFill>
            </a:endParaRPr>
          </a:p>
          <a:p>
            <a:pPr lvl="2"/>
            <a:r>
              <a:rPr kumimoji="1" lang="ja-JP" altLang="en-US" sz="1450" dirty="0">
                <a:solidFill>
                  <a:schemeClr val="tx1"/>
                </a:solidFill>
              </a:rPr>
              <a:t>中国やアジアの展開を加速していきたい</a:t>
            </a:r>
            <a:endParaRPr kumimoji="1" lang="en-US" altLang="ja-JP" sz="1450" dirty="0">
              <a:solidFill>
                <a:schemeClr val="tx1"/>
              </a:solidFill>
            </a:endParaRPr>
          </a:p>
          <a:p>
            <a:pPr lvl="2"/>
            <a:r>
              <a:rPr lang="ja-JP" altLang="en-US" sz="1450" dirty="0">
                <a:solidFill>
                  <a:schemeClr val="tx1"/>
                </a:solidFill>
              </a:rPr>
              <a:t>北米等に工場を新設しようと思っているが、話は進んでいない</a:t>
            </a:r>
            <a:endParaRPr kumimoji="1" lang="en-US" altLang="ja-JP" sz="1450" dirty="0">
              <a:solidFill>
                <a:schemeClr val="tx1"/>
              </a:solidFill>
            </a:endParaRPr>
          </a:p>
          <a:p>
            <a:pPr lvl="1"/>
            <a:r>
              <a:rPr lang="ja-JP" altLang="en-US" sz="1600" dirty="0">
                <a:solidFill>
                  <a:schemeClr val="tx1"/>
                </a:solidFill>
              </a:rPr>
              <a:t>主人公は駒本さん、部下が複数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lvl="2"/>
            <a:r>
              <a:rPr lang="ja-JP" altLang="en-US" sz="1450" dirty="0">
                <a:solidFill>
                  <a:schemeClr val="tx1"/>
                </a:solidFill>
              </a:rPr>
              <a:t>駒本が所属するのは製品開発部、第一課</a:t>
            </a:r>
            <a:endParaRPr lang="en-US" altLang="ja-JP" sz="1450" dirty="0">
              <a:solidFill>
                <a:schemeClr val="tx1"/>
              </a:solidFill>
            </a:endParaRPr>
          </a:p>
          <a:p>
            <a:pPr lvl="2"/>
            <a:r>
              <a:rPr lang="ja-JP" altLang="en-US" sz="1450" dirty="0">
                <a:solidFill>
                  <a:schemeClr val="tx1"/>
                </a:solidFill>
              </a:rPr>
              <a:t>第一課は、家電とかを担当していた？気がする</a:t>
            </a:r>
            <a:endParaRPr lang="en-US" altLang="ja-JP" sz="145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1600" dirty="0">
                <a:solidFill>
                  <a:schemeClr val="tx1"/>
                </a:solidFill>
              </a:rPr>
              <a:t>課における担当製品は駒本さんが半分くらい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lvl="2"/>
            <a:r>
              <a:rPr lang="ja-JP" altLang="en-US" sz="1450" dirty="0">
                <a:solidFill>
                  <a:schemeClr val="tx1"/>
                </a:solidFill>
              </a:rPr>
              <a:t>中型、小型、超小型冷蔵庫、炊飯器</a:t>
            </a:r>
            <a:r>
              <a:rPr lang="en-US" altLang="ja-JP" sz="1450" dirty="0">
                <a:solidFill>
                  <a:schemeClr val="tx1"/>
                </a:solidFill>
              </a:rPr>
              <a:t>(</a:t>
            </a:r>
            <a:r>
              <a:rPr lang="ja-JP" altLang="en-US" sz="1450" dirty="0">
                <a:solidFill>
                  <a:schemeClr val="tx1"/>
                </a:solidFill>
              </a:rPr>
              <a:t>後輩と一緒に</a:t>
            </a:r>
            <a:r>
              <a:rPr lang="en-US" altLang="ja-JP" sz="1450" dirty="0">
                <a:solidFill>
                  <a:schemeClr val="tx1"/>
                </a:solidFill>
              </a:rPr>
              <a:t>)</a:t>
            </a:r>
            <a:r>
              <a:rPr lang="ja-JP" altLang="en-US" sz="1450" dirty="0">
                <a:solidFill>
                  <a:schemeClr val="tx1"/>
                </a:solidFill>
              </a:rPr>
              <a:t>、スチームアイロン、、、、</a:t>
            </a:r>
            <a:endParaRPr lang="en-US" altLang="ja-JP" sz="1450" dirty="0">
              <a:solidFill>
                <a:schemeClr val="tx1"/>
              </a:solidFill>
            </a:endParaRPr>
          </a:p>
          <a:p>
            <a:pPr lvl="1"/>
            <a:r>
              <a:rPr lang="ja-JP" altLang="en-US" sz="1600" dirty="0">
                <a:solidFill>
                  <a:schemeClr val="tx1"/>
                </a:solidFill>
              </a:rPr>
              <a:t>周辺の課の業務合掌は細かく設定されている</a:t>
            </a:r>
            <a:endParaRPr lang="en-US" altLang="ja-JP" sz="1450" dirty="0">
              <a:solidFill>
                <a:schemeClr val="tx1"/>
              </a:solidFill>
            </a:endParaRPr>
          </a:p>
          <a:p>
            <a:pPr lvl="1"/>
            <a:r>
              <a:rPr lang="ja-JP" altLang="en-US" sz="1600" dirty="0">
                <a:solidFill>
                  <a:schemeClr val="tx1"/>
                </a:solidFill>
              </a:rPr>
              <a:t>あなたは休暇</a:t>
            </a:r>
            <a:r>
              <a:rPr lang="en-US" altLang="ja-JP" sz="1600" dirty="0">
                <a:solidFill>
                  <a:schemeClr val="tx1"/>
                </a:solidFill>
              </a:rPr>
              <a:t>+</a:t>
            </a:r>
            <a:r>
              <a:rPr lang="ja-JP" altLang="en-US" sz="1600" dirty="0">
                <a:solidFill>
                  <a:schemeClr val="tx1"/>
                </a:solidFill>
              </a:rPr>
              <a:t>夏季休暇のため、</a:t>
            </a:r>
            <a:r>
              <a:rPr lang="en-US" altLang="ja-JP" sz="1600" dirty="0">
                <a:solidFill>
                  <a:schemeClr val="tx1"/>
                </a:solidFill>
              </a:rPr>
              <a:t>8</a:t>
            </a:r>
            <a:r>
              <a:rPr lang="ja-JP" altLang="en-US" sz="1600" dirty="0">
                <a:solidFill>
                  <a:schemeClr val="tx1"/>
                </a:solidFill>
              </a:rPr>
              <a:t>月の出社は今日が初日です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lvl="1"/>
            <a:r>
              <a:rPr lang="ja-JP" altLang="en-US" sz="1600" dirty="0">
                <a:solidFill>
                  <a:schemeClr val="tx1"/>
                </a:solidFill>
              </a:rPr>
              <a:t>今は</a:t>
            </a:r>
            <a:r>
              <a:rPr lang="en-US" altLang="ja-JP" sz="1600" dirty="0">
                <a:solidFill>
                  <a:schemeClr val="tx1"/>
                </a:solidFill>
              </a:rPr>
              <a:t>8/19</a:t>
            </a:r>
            <a:r>
              <a:rPr lang="ja-JP" altLang="en-US" sz="1600" dirty="0">
                <a:solidFill>
                  <a:schemeClr val="tx1"/>
                </a:solidFill>
              </a:rPr>
              <a:t>日の</a:t>
            </a:r>
            <a:r>
              <a:rPr lang="en-US" altLang="ja-JP" sz="1600" dirty="0">
                <a:solidFill>
                  <a:schemeClr val="tx1"/>
                </a:solidFill>
              </a:rPr>
              <a:t>10</a:t>
            </a:r>
            <a:r>
              <a:rPr lang="ja-JP" altLang="en-US" sz="1600" dirty="0">
                <a:solidFill>
                  <a:schemeClr val="tx1"/>
                </a:solidFill>
              </a:rPr>
              <a:t>時です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lvl="1"/>
            <a:endParaRPr lang="en-US" altLang="ja-JP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39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E1EE19-929A-D9FB-930C-892DEE0B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インバスケット　</a:t>
            </a:r>
            <a:r>
              <a:rPr kumimoji="1" lang="en-US" altLang="ja-JP" dirty="0"/>
              <a:t>Ⅰ</a:t>
            </a:r>
            <a:r>
              <a:rPr kumimoji="1" lang="ja-JP" altLang="en-US" dirty="0"/>
              <a:t>分析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6B203B-1ABB-B9C4-319D-A41DCDD95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2" y="908720"/>
            <a:ext cx="11329259" cy="5175557"/>
          </a:xfrm>
        </p:spPr>
        <p:txBody>
          <a:bodyPr/>
          <a:lstStyle/>
          <a:p>
            <a:r>
              <a:rPr lang="ja-JP" altLang="en-US" sz="1400" dirty="0">
                <a:solidFill>
                  <a:schemeClr val="tx1"/>
                </a:solidFill>
              </a:rPr>
              <a:t>出題内容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1400" dirty="0">
                <a:solidFill>
                  <a:schemeClr val="tx1"/>
                </a:solidFill>
              </a:rPr>
              <a:t>例年と変化なく、重要な案件の上位</a:t>
            </a:r>
            <a:r>
              <a:rPr kumimoji="1" lang="en-US" altLang="ja-JP" sz="1400" dirty="0">
                <a:solidFill>
                  <a:schemeClr val="tx1"/>
                </a:solidFill>
              </a:rPr>
              <a:t>6</a:t>
            </a:r>
            <a:r>
              <a:rPr kumimoji="1" lang="ja-JP" altLang="en-US" sz="1400" dirty="0">
                <a:solidFill>
                  <a:schemeClr val="tx1"/>
                </a:solidFill>
              </a:rPr>
              <a:t>つを答える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lvl="1"/>
            <a:endParaRPr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出題傾向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lvl="1"/>
            <a:r>
              <a:rPr lang="ja-JP" altLang="en-US" sz="1400" dirty="0">
                <a:solidFill>
                  <a:schemeClr val="tx1"/>
                </a:solidFill>
              </a:rPr>
              <a:t>去年よりは選択肢の文章量が少ない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lvl="1"/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550" dirty="0">
                <a:solidFill>
                  <a:schemeClr val="tx1"/>
                </a:solidFill>
              </a:rPr>
              <a:t>所感</a:t>
            </a:r>
            <a:endParaRPr lang="en-US" altLang="ja-JP" sz="1250" dirty="0">
              <a:solidFill>
                <a:schemeClr val="tx1"/>
              </a:solidFill>
            </a:endParaRPr>
          </a:p>
          <a:p>
            <a:pPr lvl="1"/>
            <a:r>
              <a:rPr lang="ja-JP" altLang="en-US" sz="1400" dirty="0">
                <a:solidFill>
                  <a:schemeClr val="tx1"/>
                </a:solidFill>
              </a:rPr>
              <a:t>クレームや工場が燃えるなどありがちな重要案件が少なく、選びにくかった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lvl="1"/>
            <a:r>
              <a:rPr lang="ja-JP" altLang="en-US" sz="1400" dirty="0">
                <a:solidFill>
                  <a:schemeClr val="tx1"/>
                </a:solidFill>
              </a:rPr>
              <a:t>選びにくかったので、手ごたえがない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lvl="1"/>
            <a:r>
              <a:rPr lang="ja-JP" altLang="en-US" sz="1400" dirty="0">
                <a:solidFill>
                  <a:schemeClr val="tx1"/>
                </a:solidFill>
              </a:rPr>
              <a:t>次のページに私が選んだ案件を記載、</a:t>
            </a:r>
            <a:r>
              <a:rPr lang="en-US" altLang="ja-JP" sz="1400" dirty="0">
                <a:solidFill>
                  <a:schemeClr val="tx1"/>
                </a:solidFill>
              </a:rPr>
              <a:t>1</a:t>
            </a:r>
            <a:r>
              <a:rPr lang="ja-JP" altLang="en-US" sz="1400" dirty="0">
                <a:solidFill>
                  <a:schemeClr val="tx1"/>
                </a:solidFill>
              </a:rPr>
              <a:t>、</a:t>
            </a:r>
            <a:r>
              <a:rPr lang="en-US" altLang="ja-JP" sz="1400" dirty="0">
                <a:solidFill>
                  <a:schemeClr val="tx1"/>
                </a:solidFill>
              </a:rPr>
              <a:t>2</a:t>
            </a:r>
            <a:r>
              <a:rPr lang="ja-JP" altLang="en-US" sz="1400" dirty="0">
                <a:solidFill>
                  <a:schemeClr val="tx1"/>
                </a:solidFill>
              </a:rPr>
              <a:t>は確実にこの順番で書いたが、</a:t>
            </a:r>
            <a:r>
              <a:rPr lang="en-US" altLang="ja-JP" sz="1400" dirty="0">
                <a:solidFill>
                  <a:schemeClr val="tx1"/>
                </a:solidFill>
              </a:rPr>
              <a:t>3</a:t>
            </a:r>
            <a:r>
              <a:rPr lang="ja-JP" altLang="en-US" sz="1400" dirty="0">
                <a:solidFill>
                  <a:schemeClr val="tx1"/>
                </a:solidFill>
              </a:rPr>
              <a:t>、</a:t>
            </a:r>
            <a:r>
              <a:rPr lang="en-US" altLang="ja-JP" sz="1400" dirty="0">
                <a:solidFill>
                  <a:schemeClr val="tx1"/>
                </a:solidFill>
              </a:rPr>
              <a:t>4</a:t>
            </a:r>
            <a:r>
              <a:rPr lang="ja-JP" altLang="en-US" sz="1400" dirty="0">
                <a:solidFill>
                  <a:schemeClr val="tx1"/>
                </a:solidFill>
              </a:rPr>
              <a:t>、</a:t>
            </a:r>
            <a:r>
              <a:rPr lang="en-US" altLang="ja-JP" sz="1400" dirty="0">
                <a:solidFill>
                  <a:schemeClr val="tx1"/>
                </a:solidFill>
              </a:rPr>
              <a:t>5</a:t>
            </a:r>
            <a:r>
              <a:rPr lang="ja-JP" altLang="en-US" sz="1400" dirty="0">
                <a:solidFill>
                  <a:schemeClr val="tx1"/>
                </a:solidFill>
              </a:rPr>
              <a:t>はどの順番で書いたかうる覚えである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kumimoji="1" lang="en-US" altLang="ja-JP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978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156413-BE6F-E71F-417B-5154D113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インバスケット　</a:t>
            </a:r>
            <a:r>
              <a:rPr kumimoji="1" lang="en-US" altLang="ja-JP" dirty="0"/>
              <a:t>Ⅰ</a:t>
            </a:r>
            <a:r>
              <a:rPr kumimoji="1" lang="ja-JP" altLang="en-US" dirty="0"/>
              <a:t>分析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2903A7-676B-983D-5912-9265B6936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1600" dirty="0">
                <a:solidFill>
                  <a:schemeClr val="tx1"/>
                </a:solidFill>
              </a:rPr>
              <a:t>以下、選んだ案件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477440" lvl="1" indent="-342900">
              <a:buFont typeface="+mj-lt"/>
              <a:buAutoNum type="arabicPeriod"/>
            </a:pPr>
            <a:r>
              <a:rPr lang="ja-JP" altLang="en-US" sz="1600" dirty="0">
                <a:solidFill>
                  <a:schemeClr val="tx1"/>
                </a:solidFill>
              </a:rPr>
              <a:t>スチームアイロンが高温になっちゃって、ユーザーからクレーム？被害？の案件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⇒スチームアイロンは自分の担当だったはず、他者</a:t>
            </a:r>
            <a:r>
              <a:rPr lang="en-US" altLang="ja-JP" sz="1400" dirty="0">
                <a:solidFill>
                  <a:schemeClr val="tx1"/>
                </a:solidFill>
              </a:rPr>
              <a:t>(</a:t>
            </a:r>
            <a:r>
              <a:rPr lang="ja-JP" altLang="en-US" sz="1400" dirty="0">
                <a:solidFill>
                  <a:schemeClr val="tx1"/>
                </a:solidFill>
              </a:rPr>
              <a:t>ユーザー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  <a:r>
              <a:rPr lang="ja-JP" altLang="en-US" sz="1400" dirty="0">
                <a:solidFill>
                  <a:schemeClr val="tx1"/>
                </a:solidFill>
              </a:rPr>
              <a:t>の安全衛生が最優先と考えて</a:t>
            </a:r>
            <a:r>
              <a:rPr lang="en-US" altLang="ja-JP" sz="1400" dirty="0">
                <a:solidFill>
                  <a:schemeClr val="tx1"/>
                </a:solidFill>
              </a:rPr>
              <a:t>1</a:t>
            </a:r>
            <a:r>
              <a:rPr lang="ja-JP" altLang="en-US" sz="1400" dirty="0">
                <a:solidFill>
                  <a:schemeClr val="tx1"/>
                </a:solidFill>
              </a:rPr>
              <a:t>番に選択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endParaRPr lang="en-US" altLang="ja-JP" sz="1400" dirty="0">
              <a:solidFill>
                <a:schemeClr val="tx1"/>
              </a:solidFill>
            </a:endParaRPr>
          </a:p>
          <a:p>
            <a:pPr marL="477440" lvl="1" indent="-342900">
              <a:buFont typeface="+mj-lt"/>
              <a:buAutoNum type="arabicPeriod"/>
            </a:pPr>
            <a:r>
              <a:rPr lang="ja-JP" altLang="en-US" sz="1600" dirty="0">
                <a:solidFill>
                  <a:schemeClr val="tx1"/>
                </a:solidFill>
              </a:rPr>
              <a:t>小型冷蔵庫について、ユーザークレームを受けたが良くない対応してしまい、</a:t>
            </a:r>
            <a:r>
              <a:rPr lang="en-US" altLang="ja-JP" sz="1600" dirty="0">
                <a:solidFill>
                  <a:schemeClr val="tx1"/>
                </a:solidFill>
              </a:rPr>
              <a:t>SNS</a:t>
            </a:r>
            <a:r>
              <a:rPr lang="ja-JP" altLang="en-US" sz="1600" dirty="0">
                <a:solidFill>
                  <a:schemeClr val="tx1"/>
                </a:solidFill>
              </a:rPr>
              <a:t>にそのことを書かれて拡散されたという件について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⇒他者からのクレーム、経営にも影響する、なおかつ担当製品のため</a:t>
            </a:r>
            <a:r>
              <a:rPr lang="en-US" altLang="ja-JP" sz="1400" dirty="0">
                <a:solidFill>
                  <a:schemeClr val="tx1"/>
                </a:solidFill>
              </a:rPr>
              <a:t>2</a:t>
            </a:r>
            <a:r>
              <a:rPr lang="ja-JP" altLang="en-US" sz="1400" dirty="0">
                <a:solidFill>
                  <a:schemeClr val="tx1"/>
                </a:solidFill>
              </a:rPr>
              <a:t>番に選択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endParaRPr lang="en-US" altLang="ja-JP" sz="1400" dirty="0">
              <a:solidFill>
                <a:schemeClr val="tx1"/>
              </a:solidFill>
            </a:endParaRPr>
          </a:p>
          <a:p>
            <a:pPr marL="477440" lvl="1" indent="-342900">
              <a:buFont typeface="+mj-lt"/>
              <a:buAutoNum type="arabicPeriod"/>
            </a:pPr>
            <a:r>
              <a:rPr lang="ja-JP" altLang="en-US" sz="1600" dirty="0">
                <a:solidFill>
                  <a:schemeClr val="tx1"/>
                </a:solidFill>
              </a:rPr>
              <a:t>後輩が担当している何か</a:t>
            </a:r>
            <a:r>
              <a:rPr lang="en-US" altLang="ja-JP" sz="1600" dirty="0">
                <a:solidFill>
                  <a:schemeClr val="tx1"/>
                </a:solidFill>
              </a:rPr>
              <a:t>(</a:t>
            </a:r>
            <a:r>
              <a:rPr lang="ja-JP" altLang="en-US" sz="1600" dirty="0">
                <a:solidFill>
                  <a:schemeClr val="tx1"/>
                </a:solidFill>
              </a:rPr>
              <a:t>何なのかは忘れた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  <a:r>
              <a:rPr lang="ja-JP" altLang="en-US" sz="1600" dirty="0">
                <a:solidFill>
                  <a:schemeClr val="tx1"/>
                </a:solidFill>
              </a:rPr>
              <a:t>がすごく売れており、予想を上回る反響、直近で偉い人たちと会議をするんだけど、初めてでどうしたら良いかわからない、駒本さん前に似たような製品やっていましたよね、相談させてください、という件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⇒自身の担当ではないが、自身に関係が</a:t>
            </a:r>
            <a:r>
              <a:rPr lang="ja-JP" altLang="en-US" sz="1400">
                <a:solidFill>
                  <a:schemeClr val="tx1"/>
                </a:solidFill>
              </a:rPr>
              <a:t>深く、経営にも影響、緊急度</a:t>
            </a:r>
            <a:r>
              <a:rPr lang="ja-JP" altLang="en-US" sz="1400" dirty="0">
                <a:solidFill>
                  <a:schemeClr val="tx1"/>
                </a:solidFill>
              </a:rPr>
              <a:t>高いので</a:t>
            </a:r>
            <a:r>
              <a:rPr lang="en-US" altLang="ja-JP" sz="1400" dirty="0">
                <a:solidFill>
                  <a:schemeClr val="tx1"/>
                </a:solidFill>
              </a:rPr>
              <a:t>3</a:t>
            </a:r>
            <a:r>
              <a:rPr lang="ja-JP" altLang="en-US" sz="1400" dirty="0">
                <a:solidFill>
                  <a:schemeClr val="tx1"/>
                </a:solidFill>
              </a:rPr>
              <a:t>番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endParaRPr lang="en-US" altLang="ja-JP" sz="1400" dirty="0">
              <a:solidFill>
                <a:schemeClr val="tx1"/>
              </a:solidFill>
            </a:endParaRPr>
          </a:p>
          <a:p>
            <a:pPr marL="477440" lvl="1" indent="-342900">
              <a:buFont typeface="+mj-lt"/>
              <a:buAutoNum type="arabicPeriod"/>
            </a:pPr>
            <a:r>
              <a:rPr lang="ja-JP" altLang="en-US" sz="1600" dirty="0">
                <a:solidFill>
                  <a:schemeClr val="tx1"/>
                </a:solidFill>
              </a:rPr>
              <a:t>中型冷蔵庫の案、いいアイデアが思いついたとかなんとかで、連休明けにすぐに話させてほしいと課長から連絡が来ていた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⇒自分の担当であるのと、重要度は微妙？だけれど、緊急度は一応高めかなと判断して</a:t>
            </a:r>
            <a:r>
              <a:rPr lang="en-US" altLang="ja-JP" sz="1400" dirty="0">
                <a:solidFill>
                  <a:schemeClr val="tx1"/>
                </a:solidFill>
              </a:rPr>
              <a:t>4</a:t>
            </a:r>
            <a:r>
              <a:rPr lang="ja-JP" altLang="en-US" sz="1400" dirty="0">
                <a:solidFill>
                  <a:schemeClr val="tx1"/>
                </a:solidFill>
              </a:rPr>
              <a:t>番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endParaRPr lang="en-US" altLang="ja-JP" sz="1400" dirty="0">
              <a:solidFill>
                <a:schemeClr val="tx1"/>
              </a:solidFill>
            </a:endParaRPr>
          </a:p>
          <a:p>
            <a:pPr marL="477440" lvl="1" indent="-342900">
              <a:buFont typeface="+mj-lt"/>
              <a:buAutoNum type="arabicPeriod"/>
            </a:pPr>
            <a:r>
              <a:rPr lang="ja-JP" altLang="en-US" sz="1600" dirty="0">
                <a:solidFill>
                  <a:schemeClr val="tx1"/>
                </a:solidFill>
              </a:rPr>
              <a:t>小型冷蔵庫のデザイン、</a:t>
            </a:r>
            <a:r>
              <a:rPr lang="en-US" altLang="ja-JP" sz="1600" dirty="0">
                <a:solidFill>
                  <a:schemeClr val="tx1"/>
                </a:solidFill>
              </a:rPr>
              <a:t>EC</a:t>
            </a:r>
            <a:r>
              <a:rPr lang="ja-JP" altLang="en-US" sz="1600" dirty="0">
                <a:solidFill>
                  <a:schemeClr val="tx1"/>
                </a:solidFill>
              </a:rPr>
              <a:t>サイトだとドアポケットと呼ばれる部分が付いている</a:t>
            </a:r>
            <a:r>
              <a:rPr lang="en-US" altLang="ja-JP" sz="1600" dirty="0">
                <a:solidFill>
                  <a:schemeClr val="tx1"/>
                </a:solidFill>
              </a:rPr>
              <a:t>(</a:t>
            </a:r>
            <a:r>
              <a:rPr lang="ja-JP" altLang="en-US" sz="1600" dirty="0">
                <a:solidFill>
                  <a:schemeClr val="tx1"/>
                </a:solidFill>
              </a:rPr>
              <a:t>ついていない？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  <a:r>
              <a:rPr lang="ja-JP" altLang="en-US" sz="1600" dirty="0">
                <a:solidFill>
                  <a:schemeClr val="tx1"/>
                </a:solidFill>
              </a:rPr>
              <a:t>ように見えるよ、という後輩からの指摘、</a:t>
            </a:r>
            <a:r>
              <a:rPr lang="en-US" altLang="ja-JP" sz="1600" dirty="0">
                <a:solidFill>
                  <a:schemeClr val="tx1"/>
                </a:solidFill>
              </a:rPr>
              <a:t>8/23</a:t>
            </a:r>
            <a:r>
              <a:rPr lang="ja-JP" altLang="en-US" sz="1600" dirty="0">
                <a:solidFill>
                  <a:schemeClr val="tx1"/>
                </a:solidFill>
              </a:rPr>
              <a:t>までに見てもらえれば、</a:t>
            </a:r>
            <a:r>
              <a:rPr lang="en-US" altLang="ja-JP" sz="1600" dirty="0">
                <a:solidFill>
                  <a:schemeClr val="tx1"/>
                </a:solidFill>
              </a:rPr>
              <a:t>8/27</a:t>
            </a:r>
            <a:r>
              <a:rPr lang="ja-JP" altLang="en-US" sz="1600" dirty="0">
                <a:solidFill>
                  <a:schemeClr val="tx1"/>
                </a:solidFill>
              </a:rPr>
              <a:t>？の図面？の提出に間に合いますと言っていた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⇒担当業務だし重要だけど、緊急度が低め</a:t>
            </a:r>
            <a:r>
              <a:rPr lang="en-US" altLang="ja-JP" sz="1400" dirty="0">
                <a:solidFill>
                  <a:schemeClr val="tx1"/>
                </a:solidFill>
              </a:rPr>
              <a:t>(8/23</a:t>
            </a:r>
            <a:r>
              <a:rPr lang="ja-JP" altLang="en-US" sz="1400" dirty="0">
                <a:solidFill>
                  <a:schemeClr val="tx1"/>
                </a:solidFill>
              </a:rPr>
              <a:t>まで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  <a:r>
              <a:rPr lang="ja-JP" altLang="en-US" sz="1400" dirty="0">
                <a:solidFill>
                  <a:schemeClr val="tx1"/>
                </a:solidFill>
              </a:rPr>
              <a:t>だったので、</a:t>
            </a:r>
            <a:r>
              <a:rPr lang="en-US" altLang="ja-JP" sz="1400" dirty="0">
                <a:solidFill>
                  <a:schemeClr val="tx1"/>
                </a:solidFill>
              </a:rPr>
              <a:t>5</a:t>
            </a:r>
            <a:r>
              <a:rPr lang="ja-JP" altLang="en-US" sz="1400" dirty="0">
                <a:solidFill>
                  <a:schemeClr val="tx1"/>
                </a:solidFill>
              </a:rPr>
              <a:t>番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endParaRPr lang="en-US" altLang="ja-JP" sz="1600" dirty="0">
              <a:solidFill>
                <a:schemeClr val="tx1"/>
              </a:solidFill>
            </a:endParaRPr>
          </a:p>
          <a:p>
            <a:pPr marL="477440" lvl="1" indent="-342900">
              <a:buFont typeface="+mj-lt"/>
              <a:buAutoNum type="arabicPeriod"/>
            </a:pPr>
            <a:r>
              <a:rPr lang="ja-JP" altLang="en-US" sz="1600" dirty="0">
                <a:solidFill>
                  <a:schemeClr val="tx1"/>
                </a:solidFill>
              </a:rPr>
              <a:t>後輩から小型</a:t>
            </a:r>
            <a:r>
              <a:rPr lang="en-US" altLang="ja-JP" sz="1600" dirty="0">
                <a:solidFill>
                  <a:schemeClr val="tx1"/>
                </a:solidFill>
              </a:rPr>
              <a:t>LED</a:t>
            </a:r>
            <a:r>
              <a:rPr lang="ja-JP" altLang="en-US" sz="1600" dirty="0">
                <a:solidFill>
                  <a:schemeClr val="tx1"/>
                </a:solidFill>
              </a:rPr>
              <a:t>？の相談、</a:t>
            </a:r>
            <a:r>
              <a:rPr lang="en-US" altLang="ja-JP" sz="1600" dirty="0">
                <a:solidFill>
                  <a:schemeClr val="tx1"/>
                </a:solidFill>
              </a:rPr>
              <a:t>8/19</a:t>
            </a:r>
            <a:r>
              <a:rPr lang="ja-JP" altLang="en-US" sz="1600" dirty="0">
                <a:solidFill>
                  <a:schemeClr val="tx1"/>
                </a:solidFill>
              </a:rPr>
              <a:t>日中に連絡くれとか言われていた気がする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269081" lvl="2" indent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⇒緊急度は高めだけれど重要度が分からなかった、どこかにヒントがあったのかも、、、</a:t>
            </a:r>
            <a:endParaRPr lang="en-US" altLang="ja-JP" sz="1400" dirty="0">
              <a:solidFill>
                <a:schemeClr val="tx1"/>
              </a:solidFill>
            </a:endParaRPr>
          </a:p>
          <a:p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83027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9CA664-75E5-0478-F1C4-798B0C42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インバスケット　</a:t>
            </a:r>
            <a:r>
              <a:rPr kumimoji="1" lang="en-US" altLang="ja-JP" dirty="0"/>
              <a:t>Ⅱ</a:t>
            </a:r>
            <a:r>
              <a:rPr kumimoji="1" lang="ja-JP" altLang="en-US" dirty="0"/>
              <a:t>判断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D6961D-E6D0-C359-2184-BE12DD1BB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</a:rPr>
              <a:t>出題内容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記載された</a:t>
            </a:r>
            <a:r>
              <a:rPr kumimoji="1" lang="ja-JP" altLang="en-US" dirty="0">
                <a:solidFill>
                  <a:schemeClr val="tx1"/>
                </a:solidFill>
              </a:rPr>
              <a:t>案件を処理する際、何をどの部門に頼むかを選ぶ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案件は</a:t>
            </a:r>
            <a:r>
              <a:rPr lang="en-US" altLang="ja-JP" dirty="0">
                <a:solidFill>
                  <a:schemeClr val="tx1"/>
                </a:solidFill>
              </a:rPr>
              <a:t>3</a:t>
            </a:r>
            <a:r>
              <a:rPr lang="ja-JP" altLang="en-US" dirty="0">
                <a:solidFill>
                  <a:schemeClr val="tx1"/>
                </a:solidFill>
              </a:rPr>
              <a:t>つ、１つの案件につき</a:t>
            </a:r>
            <a:r>
              <a:rPr lang="en-US" altLang="ja-JP" dirty="0">
                <a:solidFill>
                  <a:schemeClr val="tx1"/>
                </a:solidFill>
              </a:rPr>
              <a:t>3</a:t>
            </a:r>
            <a:r>
              <a:rPr lang="ja-JP" altLang="en-US" dirty="0">
                <a:solidFill>
                  <a:schemeClr val="tx1"/>
                </a:solidFill>
              </a:rPr>
              <a:t>つ選択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「何を」するかは１回しか選べないが、「部門」は何回でも選択可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lvl="1"/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所感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難易度は高くないと感じたが、特に「部門」が分からなくて悩んだ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一番手ごたえがない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endParaRPr lang="en-US" altLang="ja-JP" dirty="0">
              <a:solidFill>
                <a:schemeClr val="tx1"/>
              </a:solidFill>
            </a:endParaRPr>
          </a:p>
          <a:p>
            <a:pPr marL="134540" lvl="1" indent="0">
              <a:buNone/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348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31D34-C736-0877-B2B1-DFA58B23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その他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0A87E6-BF1E-F931-2CF9-D2394F5E5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</a:rPr>
              <a:t>全体を通して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インバスと論文の間に休憩あり、</a:t>
            </a:r>
            <a:r>
              <a:rPr lang="en-US" altLang="ja-JP" dirty="0">
                <a:solidFill>
                  <a:schemeClr val="tx1"/>
                </a:solidFill>
              </a:rPr>
              <a:t>25</a:t>
            </a:r>
            <a:r>
              <a:rPr lang="ja-JP" altLang="en-US" dirty="0">
                <a:solidFill>
                  <a:schemeClr val="tx1"/>
                </a:solidFill>
              </a:rPr>
              <a:t>分もある、長い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冷房が効いているので上着を持っていった方がいい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長机とパイプ椅子が一人一つ</a:t>
            </a:r>
            <a:endParaRPr lang="en-US" altLang="ja-JP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ja-JP" dirty="0">
              <a:solidFill>
                <a:schemeClr val="tx1"/>
              </a:solidFill>
            </a:endParaRPr>
          </a:p>
          <a:p>
            <a:pPr lvl="1"/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661163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solidFill>
              <a:srgbClr val="003399"/>
            </a:solidFill>
            <a:latin typeface="MS UI Gothic" pitchFamily="50" charset="-128"/>
            <a:ea typeface="MS UI Gothic" pitchFamily="50" charset="-128"/>
          </a:defRPr>
        </a:defPPr>
      </a:lstStyle>
    </a:txDef>
  </a:objectDefaults>
  <a:extraClrSchemeLst>
    <a:extraClrScheme>
      <a:clrScheme name="20060904_テンプレート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60904_テンプレート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60904_テンプレート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60904_テンプレート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60904_テンプレート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60904_テンプレート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60904_テンプレート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60904_テンプレート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60904_テンプレート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テーマ1" id="{5C1E7C63-99C0-4B05-9164-90363E849A52}" vid="{56499B5D-D480-4F6E-9F82-3C126241F4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テーマ1</Template>
  <TotalTime>98</TotalTime>
  <Words>881</Words>
  <Application>Microsoft Office PowerPoint</Application>
  <PresentationFormat>ワイド画面</PresentationFormat>
  <Paragraphs>80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ＭＳ Ｐゴシック</vt:lpstr>
      <vt:lpstr>MS UI Gothic</vt:lpstr>
      <vt:lpstr>Verdana</vt:lpstr>
      <vt:lpstr>Wingdings</vt:lpstr>
      <vt:lpstr>テーマ1</vt:lpstr>
      <vt:lpstr>2024年　１次試験ログ</vt:lpstr>
      <vt:lpstr>概要</vt:lpstr>
      <vt:lpstr>論文</vt:lpstr>
      <vt:lpstr>インバスケット</vt:lpstr>
      <vt:lpstr>インバスケット　Ⅰ分析</vt:lpstr>
      <vt:lpstr>インバスケット　Ⅰ分析</vt:lpstr>
      <vt:lpstr>インバスケット　Ⅱ判断</vt:lpstr>
      <vt:lpstr>その他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　SAT過去ログ</dc:title>
  <dc:creator>mori.maho</dc:creator>
  <cp:lastModifiedBy>mori.maho</cp:lastModifiedBy>
  <cp:revision>33</cp:revision>
  <dcterms:created xsi:type="dcterms:W3CDTF">2024-09-08T23:05:18Z</dcterms:created>
  <dcterms:modified xsi:type="dcterms:W3CDTF">2024-11-06T23:50:47Z</dcterms:modified>
</cp:coreProperties>
</file>