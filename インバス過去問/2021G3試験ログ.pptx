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3" r:id="rId3"/>
    <p:sldId id="258" r:id="rId4"/>
    <p:sldId id="260" r:id="rId5"/>
    <p:sldId id="261" r:id="rId6"/>
    <p:sldId id="259" r:id="rId7"/>
    <p:sldId id="264" r:id="rId8"/>
    <p:sldId id="262"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872" autoAdjust="0"/>
  </p:normalViewPr>
  <p:slideViewPr>
    <p:cSldViewPr snapToGrid="0">
      <p:cViewPr varScale="1">
        <p:scale>
          <a:sx n="103" d="100"/>
          <a:sy n="103" d="100"/>
        </p:scale>
        <p:origin x="87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80A7C0-B9D0-4733-90CD-D28AF6E38970}" type="datetimeFigureOut">
              <a:rPr kumimoji="1" lang="ja-JP" altLang="en-US" smtClean="0"/>
              <a:t>2021/10/25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D05ED9-B6B8-4169-8BB9-29BB65FC5667}" type="slidenum">
              <a:rPr kumimoji="1" lang="ja-JP" altLang="en-US" smtClean="0"/>
              <a:t>‹#›</a:t>
            </a:fld>
            <a:endParaRPr kumimoji="1" lang="ja-JP" altLang="en-US"/>
          </a:p>
        </p:txBody>
      </p:sp>
    </p:spTree>
    <p:extLst>
      <p:ext uri="{BB962C8B-B14F-4D97-AF65-F5344CB8AC3E}">
        <p14:creationId xmlns:p14="http://schemas.microsoft.com/office/powerpoint/2010/main" val="31619581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mtClean="0"/>
              <a:t>松原：ジェンダ</a:t>
            </a:r>
            <a:r>
              <a:rPr lang="ja-JP" altLang="en-US" dirty="0" smtClean="0"/>
              <a:t>→</a:t>
            </a:r>
            <a:r>
              <a:rPr kumimoji="1" lang="ja-JP" altLang="en-US" dirty="0" smtClean="0"/>
              <a:t>鉄の味</a:t>
            </a:r>
            <a:r>
              <a:rPr lang="ja-JP" altLang="en-US" dirty="0" smtClean="0"/>
              <a:t>→特許→厚労省→</a:t>
            </a:r>
            <a:r>
              <a:rPr kumimoji="1" lang="ja-JP" altLang="en-US" dirty="0" smtClean="0"/>
              <a:t>リニューアル</a:t>
            </a:r>
            <a:r>
              <a:rPr lang="ja-JP" altLang="en-US" dirty="0" smtClean="0"/>
              <a:t>→フ</a:t>
            </a:r>
            <a:r>
              <a:rPr kumimoji="1" lang="ja-JP" altLang="en-US" dirty="0" smtClean="0"/>
              <a:t>ィリピン</a:t>
            </a:r>
          </a:p>
          <a:p>
            <a:endParaRPr kumimoji="1" lang="ja-JP" altLang="en-US" dirty="0"/>
          </a:p>
        </p:txBody>
      </p:sp>
      <p:sp>
        <p:nvSpPr>
          <p:cNvPr id="4" name="スライド番号プレースホルダー 3"/>
          <p:cNvSpPr>
            <a:spLocks noGrp="1"/>
          </p:cNvSpPr>
          <p:nvPr>
            <p:ph type="sldNum" sz="quarter" idx="10"/>
          </p:nvPr>
        </p:nvSpPr>
        <p:spPr/>
        <p:txBody>
          <a:bodyPr/>
          <a:lstStyle/>
          <a:p>
            <a:fld id="{86D05ED9-B6B8-4169-8BB9-29BB65FC5667}" type="slidenum">
              <a:rPr kumimoji="1" lang="ja-JP" altLang="en-US" smtClean="0"/>
              <a:t>5</a:t>
            </a:fld>
            <a:endParaRPr kumimoji="1" lang="ja-JP" altLang="en-US"/>
          </a:p>
        </p:txBody>
      </p:sp>
    </p:spTree>
    <p:extLst>
      <p:ext uri="{BB962C8B-B14F-4D97-AF65-F5344CB8AC3E}">
        <p14:creationId xmlns:p14="http://schemas.microsoft.com/office/powerpoint/2010/main" val="1756127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171EEB29-1A7B-41C4-8CD4-44BDA8DE8943}" type="datetimeFigureOut">
              <a:rPr kumimoji="1" lang="ja-JP" altLang="en-US" smtClean="0"/>
              <a:t>2021/10/25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1589239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171EEB29-1A7B-41C4-8CD4-44BDA8DE8943}" type="datetimeFigureOut">
              <a:rPr kumimoji="1" lang="ja-JP" altLang="en-US" smtClean="0"/>
              <a:t>2021/10/25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1729148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171EEB29-1A7B-41C4-8CD4-44BDA8DE8943}" type="datetimeFigureOut">
              <a:rPr kumimoji="1" lang="ja-JP" altLang="en-US" smtClean="0"/>
              <a:t>2021/10/25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2161248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171EEB29-1A7B-41C4-8CD4-44BDA8DE8943}" type="datetimeFigureOut">
              <a:rPr kumimoji="1" lang="ja-JP" altLang="en-US" smtClean="0"/>
              <a:t>2021/10/25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2936022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171EEB29-1A7B-41C4-8CD4-44BDA8DE8943}" type="datetimeFigureOut">
              <a:rPr kumimoji="1" lang="ja-JP" altLang="en-US" smtClean="0"/>
              <a:t>2021/10/25</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2191368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171EEB29-1A7B-41C4-8CD4-44BDA8DE8943}" type="datetimeFigureOut">
              <a:rPr kumimoji="1" lang="ja-JP" altLang="en-US" smtClean="0"/>
              <a:t>2021/10/25</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1995842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171EEB29-1A7B-41C4-8CD4-44BDA8DE8943}" type="datetimeFigureOut">
              <a:rPr kumimoji="1" lang="ja-JP" altLang="en-US" smtClean="0"/>
              <a:t>2021/10/25</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3718453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171EEB29-1A7B-41C4-8CD4-44BDA8DE8943}" type="datetimeFigureOut">
              <a:rPr kumimoji="1" lang="ja-JP" altLang="en-US" smtClean="0"/>
              <a:t>2021/10/25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971616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171EEB29-1A7B-41C4-8CD4-44BDA8DE8943}" type="datetimeFigureOut">
              <a:rPr kumimoji="1" lang="ja-JP" altLang="en-US" smtClean="0"/>
              <a:t>2021/10/25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3899065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171EEB29-1A7B-41C4-8CD4-44BDA8DE8943}" type="datetimeFigureOut">
              <a:rPr kumimoji="1" lang="ja-JP" altLang="en-US" smtClean="0"/>
              <a:t>2021/10/25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1134577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171EEB29-1A7B-41C4-8CD4-44BDA8DE8943}" type="datetimeFigureOut">
              <a:rPr kumimoji="1" lang="ja-JP" altLang="en-US" smtClean="0"/>
              <a:t>2021/10/25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2269722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1EEB29-1A7B-41C4-8CD4-44BDA8DE8943}" type="datetimeFigureOut">
              <a:rPr kumimoji="1" lang="ja-JP" altLang="en-US" smtClean="0"/>
              <a:t>2021/10/25</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2367AA-0796-4B74-95BC-96346811035E}" type="slidenum">
              <a:rPr kumimoji="1" lang="ja-JP" altLang="en-US" smtClean="0"/>
              <a:t>‹#›</a:t>
            </a:fld>
            <a:endParaRPr kumimoji="1" lang="ja-JP" altLang="en-US"/>
          </a:p>
        </p:txBody>
      </p:sp>
    </p:spTree>
    <p:extLst>
      <p:ext uri="{BB962C8B-B14F-4D97-AF65-F5344CB8AC3E}">
        <p14:creationId xmlns:p14="http://schemas.microsoft.com/office/powerpoint/2010/main" val="1339969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en-US" altLang="ja-JP" dirty="0" smtClean="0"/>
              <a:t>G3</a:t>
            </a:r>
            <a:r>
              <a:rPr kumimoji="1" lang="ja-JP" altLang="en-US" dirty="0" smtClean="0"/>
              <a:t>試験ログ</a:t>
            </a:r>
            <a:endParaRPr kumimoji="1" lang="ja-JP" altLang="en-US" dirty="0"/>
          </a:p>
        </p:txBody>
      </p:sp>
      <p:sp>
        <p:nvSpPr>
          <p:cNvPr id="3" name="サブタイトル 2"/>
          <p:cNvSpPr>
            <a:spLocks noGrp="1"/>
          </p:cNvSpPr>
          <p:nvPr>
            <p:ph type="subTitle" idx="1"/>
          </p:nvPr>
        </p:nvSpPr>
        <p:spPr/>
        <p:txBody>
          <a:bodyPr/>
          <a:lstStyle/>
          <a:p>
            <a:r>
              <a:rPr kumimoji="1" lang="ja-JP" altLang="en-US" dirty="0" smtClean="0"/>
              <a:t>作成：松原</a:t>
            </a:r>
            <a:endParaRPr kumimoji="1" lang="ja-JP" altLang="en-US" dirty="0"/>
          </a:p>
        </p:txBody>
      </p:sp>
    </p:spTree>
    <p:extLst>
      <p:ext uri="{BB962C8B-B14F-4D97-AF65-F5344CB8AC3E}">
        <p14:creationId xmlns:p14="http://schemas.microsoft.com/office/powerpoint/2010/main" val="1582425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論文　</a:t>
            </a:r>
            <a:r>
              <a:rPr kumimoji="1" lang="en-US" altLang="ja-JP" dirty="0" smtClean="0"/>
              <a:t>150</a:t>
            </a:r>
            <a:r>
              <a:rPr kumimoji="1" lang="ja-JP" altLang="en-US" dirty="0" smtClean="0"/>
              <a:t>分</a:t>
            </a:r>
            <a:endParaRPr kumimoji="1" lang="ja-JP" altLang="en-US" dirty="0"/>
          </a:p>
        </p:txBody>
      </p:sp>
      <p:sp>
        <p:nvSpPr>
          <p:cNvPr id="3" name="コンテンツ プレースホルダー 2"/>
          <p:cNvSpPr>
            <a:spLocks noGrp="1"/>
          </p:cNvSpPr>
          <p:nvPr>
            <p:ph idx="1"/>
          </p:nvPr>
        </p:nvSpPr>
        <p:spPr/>
        <p:txBody>
          <a:bodyPr/>
          <a:lstStyle/>
          <a:p>
            <a:pPr marL="0" indent="0">
              <a:buNone/>
            </a:pPr>
            <a:r>
              <a:rPr kumimoji="1" lang="ja-JP" altLang="en-US" dirty="0" smtClean="0"/>
              <a:t>経営環境の変化が激しい中、キヤノンが競争力を高めていくためには、組織も変化することが求められます。あなたの所属する組織において直面している変化を明らかにしたうえで、あなたの部門のあるべき姿を述べそれ</a:t>
            </a:r>
            <a:r>
              <a:rPr lang="ja-JP" altLang="en-US" dirty="0"/>
              <a:t>を</a:t>
            </a:r>
            <a:r>
              <a:rPr kumimoji="1" lang="ja-JP" altLang="en-US" dirty="0" smtClean="0"/>
              <a:t>実現するあなたの取り組みを具体的に述べよ</a:t>
            </a:r>
            <a:endParaRPr kumimoji="1" lang="en-US" altLang="ja-JP" dirty="0" smtClean="0"/>
          </a:p>
        </p:txBody>
      </p:sp>
    </p:spTree>
    <p:extLst>
      <p:ext uri="{BB962C8B-B14F-4D97-AF65-F5344CB8AC3E}">
        <p14:creationId xmlns:p14="http://schemas.microsoft.com/office/powerpoint/2010/main" val="4230346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インバスケット</a:t>
            </a:r>
            <a:endParaRPr kumimoji="1" lang="ja-JP" altLang="en-US" dirty="0"/>
          </a:p>
        </p:txBody>
      </p:sp>
      <p:sp>
        <p:nvSpPr>
          <p:cNvPr id="3" name="コンテンツ プレースホルダー 2"/>
          <p:cNvSpPr>
            <a:spLocks noGrp="1"/>
          </p:cNvSpPr>
          <p:nvPr>
            <p:ph idx="1"/>
          </p:nvPr>
        </p:nvSpPr>
        <p:spPr>
          <a:xfrm>
            <a:off x="838200" y="1772871"/>
            <a:ext cx="10515600" cy="4351338"/>
          </a:xfrm>
        </p:spPr>
        <p:txBody>
          <a:bodyPr/>
          <a:lstStyle/>
          <a:p>
            <a:pPr marL="457200" indent="-457200">
              <a:buFont typeface="+mj-lt"/>
              <a:buAutoNum type="arabicPeriod"/>
            </a:pPr>
            <a:r>
              <a:rPr lang="ja-JP" altLang="en-US" sz="1800" dirty="0"/>
              <a:t>資料の配布、名前の記入</a:t>
            </a:r>
            <a:endParaRPr lang="en-US" altLang="ja-JP" sz="1800" dirty="0"/>
          </a:p>
          <a:p>
            <a:pPr marL="731520" lvl="1" indent="-457200"/>
            <a:r>
              <a:rPr lang="ja-JP" altLang="en-US" sz="1600" dirty="0"/>
              <a:t>受験の手引（冊子）</a:t>
            </a:r>
            <a:endParaRPr lang="en-US" altLang="ja-JP" sz="1600" dirty="0"/>
          </a:p>
          <a:p>
            <a:pPr marL="731520" lvl="1" indent="-457200"/>
            <a:r>
              <a:rPr lang="ja-JP" altLang="en-US" sz="1600" dirty="0" smtClean="0"/>
              <a:t>案件資料１８枚（封筒）</a:t>
            </a:r>
            <a:endParaRPr lang="en-US" altLang="ja-JP" sz="1600" dirty="0" smtClean="0"/>
          </a:p>
          <a:p>
            <a:pPr marL="731520" lvl="1" indent="-457200"/>
            <a:r>
              <a:rPr lang="ja-JP" altLang="en-US" sz="1600" dirty="0"/>
              <a:t>答案用紙</a:t>
            </a:r>
            <a:endParaRPr lang="en-US" altLang="ja-JP" sz="1600" dirty="0"/>
          </a:p>
          <a:p>
            <a:pPr marL="457200" indent="-457200">
              <a:buFont typeface="+mj-lt"/>
              <a:buAutoNum type="arabicPeriod"/>
            </a:pPr>
            <a:r>
              <a:rPr lang="ja-JP" altLang="en-US" sz="1800" dirty="0"/>
              <a:t>状況の把握</a:t>
            </a:r>
            <a:r>
              <a:rPr lang="en-US" altLang="ja-JP" sz="1800" dirty="0"/>
              <a:t>(</a:t>
            </a:r>
            <a:r>
              <a:rPr lang="ja-JP" altLang="en-US" sz="1800" dirty="0"/>
              <a:t>手引きに記載</a:t>
            </a:r>
            <a:r>
              <a:rPr lang="en-US" altLang="ja-JP" sz="1800" dirty="0"/>
              <a:t>) 6</a:t>
            </a:r>
            <a:r>
              <a:rPr lang="ja-JP" altLang="en-US" sz="1800" dirty="0" smtClean="0"/>
              <a:t>分（表紙含め</a:t>
            </a:r>
            <a:r>
              <a:rPr lang="en-US" altLang="ja-JP" sz="1800" dirty="0" smtClean="0"/>
              <a:t>8</a:t>
            </a:r>
            <a:r>
              <a:rPr lang="ja-JP" altLang="en-US" sz="1800" dirty="0" smtClean="0"/>
              <a:t>ページ）</a:t>
            </a:r>
            <a:endParaRPr lang="en-US" altLang="ja-JP" sz="1800" dirty="0"/>
          </a:p>
          <a:p>
            <a:pPr marL="457200" indent="-457200">
              <a:buFont typeface="+mj-lt"/>
              <a:buAutoNum type="arabicPeriod"/>
            </a:pPr>
            <a:r>
              <a:rPr lang="en-US" altLang="ja-JP" sz="1800" dirty="0"/>
              <a:t>【Ⅰ</a:t>
            </a:r>
            <a:r>
              <a:rPr lang="ja-JP" altLang="en-US" sz="1800" dirty="0"/>
              <a:t>：分析</a:t>
            </a:r>
            <a:r>
              <a:rPr lang="en-US" altLang="ja-JP" sz="1800" dirty="0"/>
              <a:t>】</a:t>
            </a:r>
            <a:r>
              <a:rPr lang="ja-JP" altLang="en-US" sz="1800" dirty="0"/>
              <a:t>優先度の高い処理</a:t>
            </a:r>
            <a:r>
              <a:rPr lang="en-US" altLang="ja-JP" sz="1800" dirty="0"/>
              <a:t>6</a:t>
            </a:r>
            <a:r>
              <a:rPr lang="ja-JP" altLang="en-US" sz="1800" dirty="0"/>
              <a:t>件と関連案件のピックアップ　</a:t>
            </a:r>
            <a:r>
              <a:rPr lang="en-US" altLang="ja-JP" sz="1800" dirty="0"/>
              <a:t>20</a:t>
            </a:r>
            <a:r>
              <a:rPr lang="ja-JP" altLang="en-US" sz="1800" dirty="0"/>
              <a:t>分</a:t>
            </a:r>
            <a:endParaRPr lang="en-US" altLang="ja-JP" sz="1800" dirty="0"/>
          </a:p>
          <a:p>
            <a:pPr marL="457200" indent="-457200">
              <a:buFont typeface="+mj-lt"/>
              <a:buAutoNum type="arabicPeriod"/>
            </a:pPr>
            <a:r>
              <a:rPr lang="en-US" altLang="ja-JP" sz="1800" dirty="0"/>
              <a:t>【Ⅱ</a:t>
            </a:r>
            <a:r>
              <a:rPr lang="ja-JP" altLang="en-US" sz="1800" dirty="0"/>
              <a:t>：判断</a:t>
            </a:r>
            <a:r>
              <a:rPr lang="en-US" altLang="ja-JP" sz="1800" dirty="0"/>
              <a:t>】Ⅰ</a:t>
            </a:r>
            <a:r>
              <a:rPr lang="ja-JP" altLang="en-US" sz="1800" dirty="0"/>
              <a:t>の案件のうち</a:t>
            </a:r>
            <a:r>
              <a:rPr lang="en-US" altLang="ja-JP" sz="1800" dirty="0"/>
              <a:t>3</a:t>
            </a:r>
            <a:r>
              <a:rPr lang="ja-JP" altLang="en-US" sz="1800" dirty="0"/>
              <a:t>つ</a:t>
            </a:r>
            <a:r>
              <a:rPr lang="ja-JP" altLang="en-US" sz="1800" dirty="0" smtClean="0"/>
              <a:t>がピックアップされ、それらに対して優先される三つの行動を処理依頼者と処理内容の組合せで解答　</a:t>
            </a:r>
            <a:r>
              <a:rPr lang="en-US" altLang="ja-JP" sz="1800" dirty="0" smtClean="0"/>
              <a:t>15</a:t>
            </a:r>
            <a:r>
              <a:rPr lang="ja-JP" altLang="en-US" sz="1800" dirty="0" smtClean="0"/>
              <a:t>分</a:t>
            </a:r>
            <a:r>
              <a:rPr lang="en-US" altLang="ja-JP" sz="1800" dirty="0" smtClean="0"/>
              <a:t/>
            </a:r>
            <a:br>
              <a:rPr lang="en-US" altLang="ja-JP" sz="1800" dirty="0" smtClean="0"/>
            </a:br>
            <a:r>
              <a:rPr lang="en-US" altLang="ja-JP" sz="1800" dirty="0" smtClean="0"/>
              <a:t/>
            </a:r>
            <a:br>
              <a:rPr lang="en-US" altLang="ja-JP" sz="1800" dirty="0" smtClean="0"/>
            </a:br>
            <a:r>
              <a:rPr lang="ja-JP" altLang="en-US" sz="1800" dirty="0" smtClean="0">
                <a:solidFill>
                  <a:srgbClr val="FF0000"/>
                </a:solidFill>
              </a:rPr>
              <a:t>例年と異なり、</a:t>
            </a:r>
            <a:r>
              <a:rPr lang="en-US" altLang="ja-JP" sz="1800" dirty="0" smtClean="0">
                <a:solidFill>
                  <a:srgbClr val="FF0000"/>
                </a:solidFill>
              </a:rPr>
              <a:t>【Ⅲ</a:t>
            </a:r>
            <a:r>
              <a:rPr lang="ja-JP" altLang="en-US" sz="1800" dirty="0" smtClean="0">
                <a:solidFill>
                  <a:srgbClr val="FF0000"/>
                </a:solidFill>
              </a:rPr>
              <a:t>：計画</a:t>
            </a:r>
            <a:r>
              <a:rPr lang="en-US" altLang="ja-JP" sz="1800" dirty="0" smtClean="0">
                <a:solidFill>
                  <a:srgbClr val="FF0000"/>
                </a:solidFill>
              </a:rPr>
              <a:t>】【Ⅳ</a:t>
            </a:r>
            <a:r>
              <a:rPr lang="ja-JP" altLang="en-US" sz="1800" dirty="0" smtClean="0">
                <a:solidFill>
                  <a:srgbClr val="FF0000"/>
                </a:solidFill>
              </a:rPr>
              <a:t>：チーム主導</a:t>
            </a:r>
            <a:r>
              <a:rPr lang="en-US" altLang="ja-JP" sz="1800" dirty="0" smtClean="0">
                <a:solidFill>
                  <a:srgbClr val="FF0000"/>
                </a:solidFill>
              </a:rPr>
              <a:t>】</a:t>
            </a:r>
            <a:r>
              <a:rPr lang="ja-JP" altLang="en-US" sz="1800" dirty="0" smtClean="0">
                <a:solidFill>
                  <a:srgbClr val="FF0000"/>
                </a:solidFill>
              </a:rPr>
              <a:t>がなくなっていた</a:t>
            </a:r>
            <a:endParaRPr lang="en-US" altLang="ja-JP" sz="1800" dirty="0" smtClean="0">
              <a:solidFill>
                <a:srgbClr val="FF0000"/>
              </a:solidFill>
            </a:endParaRPr>
          </a:p>
          <a:p>
            <a:endParaRPr kumimoji="1" lang="ja-JP" altLang="en-US" dirty="0"/>
          </a:p>
        </p:txBody>
      </p:sp>
    </p:spTree>
    <p:extLst>
      <p:ext uri="{BB962C8B-B14F-4D97-AF65-F5344CB8AC3E}">
        <p14:creationId xmlns:p14="http://schemas.microsoft.com/office/powerpoint/2010/main" val="607365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インバスケット状況設定</a:t>
            </a:r>
            <a:endParaRPr kumimoji="1" lang="ja-JP" altLang="en-US" dirty="0"/>
          </a:p>
        </p:txBody>
      </p:sp>
      <p:sp>
        <p:nvSpPr>
          <p:cNvPr id="3" name="コンテンツ プレースホルダー 2"/>
          <p:cNvSpPr>
            <a:spLocks noGrp="1"/>
          </p:cNvSpPr>
          <p:nvPr>
            <p:ph idx="1"/>
          </p:nvPr>
        </p:nvSpPr>
        <p:spPr>
          <a:xfrm>
            <a:off x="838200" y="1458301"/>
            <a:ext cx="9681927" cy="4683817"/>
          </a:xfrm>
        </p:spPr>
        <p:txBody>
          <a:bodyPr>
            <a:normAutofit fontScale="70000" lnSpcReduction="20000"/>
          </a:bodyPr>
          <a:lstStyle/>
          <a:p>
            <a:pPr>
              <a:lnSpc>
                <a:spcPct val="120000"/>
              </a:lnSpc>
            </a:pPr>
            <a:r>
              <a:rPr lang="ja-JP" altLang="en-US" dirty="0"/>
              <a:t>受験の手引（冊子）</a:t>
            </a:r>
          </a:p>
          <a:p>
            <a:pPr lvl="1">
              <a:lnSpc>
                <a:spcPct val="120000"/>
              </a:lnSpc>
            </a:pPr>
            <a:r>
              <a:rPr lang="ja-JP" altLang="en-US" dirty="0"/>
              <a:t>はじめに状況設定、組織図、各部門の役割、社長方針等が記載されている</a:t>
            </a:r>
          </a:p>
          <a:p>
            <a:pPr lvl="1">
              <a:lnSpc>
                <a:spcPct val="120000"/>
              </a:lnSpc>
            </a:pPr>
            <a:r>
              <a:rPr lang="ja-JP" altLang="en-US" dirty="0"/>
              <a:t>その次に問題が記載されている</a:t>
            </a:r>
          </a:p>
          <a:p>
            <a:pPr lvl="1">
              <a:lnSpc>
                <a:spcPct val="120000"/>
              </a:lnSpc>
            </a:pPr>
            <a:r>
              <a:rPr lang="ja-JP" altLang="en-US" dirty="0"/>
              <a:t>主人公は発動機メーカーの</a:t>
            </a:r>
            <a:r>
              <a:rPr lang="en-US" altLang="ja-JP" dirty="0"/>
              <a:t>9</a:t>
            </a:r>
            <a:r>
              <a:rPr lang="ja-JP" altLang="en-US" dirty="0"/>
              <a:t>年目社員であり</a:t>
            </a:r>
            <a:r>
              <a:rPr lang="ja-JP" altLang="en-US" dirty="0" smtClean="0"/>
              <a:t>、発動機の開発部門</a:t>
            </a:r>
            <a:r>
              <a:rPr lang="en-US" altLang="ja-JP" dirty="0" smtClean="0"/>
              <a:t>【</a:t>
            </a:r>
            <a:r>
              <a:rPr lang="ja-JP" altLang="en-US" dirty="0" smtClean="0"/>
              <a:t>開発部</a:t>
            </a:r>
            <a:r>
              <a:rPr lang="en-US" altLang="ja-JP" dirty="0" smtClean="0"/>
              <a:t>】</a:t>
            </a:r>
            <a:r>
              <a:rPr lang="ja-JP" altLang="en-US" dirty="0"/>
              <a:t>に所属している</a:t>
            </a:r>
          </a:p>
          <a:p>
            <a:pPr lvl="1">
              <a:lnSpc>
                <a:spcPct val="120000"/>
              </a:lnSpc>
            </a:pPr>
            <a:r>
              <a:rPr lang="ja-JP" altLang="en-US" dirty="0"/>
              <a:t>出張から帰ってきたら仕事が溜まっていた、という</a:t>
            </a:r>
            <a:r>
              <a:rPr lang="ja-JP" altLang="en-US" dirty="0" smtClean="0"/>
              <a:t>設定</a:t>
            </a:r>
            <a:r>
              <a:rPr lang="en-US" altLang="ja-JP" dirty="0" smtClean="0"/>
              <a:t/>
            </a:r>
            <a:br>
              <a:rPr lang="en-US" altLang="ja-JP" dirty="0" smtClean="0"/>
            </a:br>
            <a:endParaRPr lang="en-US" altLang="ja-JP" dirty="0" smtClean="0"/>
          </a:p>
          <a:p>
            <a:pPr>
              <a:lnSpc>
                <a:spcPct val="120000"/>
              </a:lnSpc>
            </a:pPr>
            <a:r>
              <a:rPr lang="ja-JP" altLang="en-US" dirty="0" smtClean="0"/>
              <a:t>説明資料</a:t>
            </a:r>
            <a:endParaRPr lang="en-US" altLang="ja-JP" dirty="0" smtClean="0"/>
          </a:p>
          <a:p>
            <a:pPr marL="914400" lvl="1" indent="-457200">
              <a:lnSpc>
                <a:spcPct val="120000"/>
              </a:lnSpc>
              <a:buFont typeface="+mj-lt"/>
              <a:buAutoNum type="arabicPeriod"/>
            </a:pPr>
            <a:r>
              <a:rPr lang="ja-JP" altLang="en-US" dirty="0" smtClean="0"/>
              <a:t>会社の説明（清涼飲料、健康食品、茶）</a:t>
            </a:r>
            <a:endParaRPr lang="en-US" altLang="ja-JP" dirty="0" smtClean="0"/>
          </a:p>
          <a:p>
            <a:pPr marL="914400" lvl="1" indent="-457200">
              <a:lnSpc>
                <a:spcPct val="120000"/>
              </a:lnSpc>
              <a:buFont typeface="+mj-lt"/>
              <a:buAutoNum type="arabicPeriod"/>
            </a:pPr>
            <a:r>
              <a:rPr lang="ja-JP" altLang="en-US" dirty="0" smtClean="0"/>
              <a:t>組織図：技術研究開発</a:t>
            </a:r>
            <a:r>
              <a:rPr lang="ja-JP" altLang="en-US" dirty="0"/>
              <a:t>、開発部、マーケティング部、営業部</a:t>
            </a:r>
            <a:r>
              <a:rPr lang="ja-JP" altLang="en-US" dirty="0" smtClean="0"/>
              <a:t>、営業開発部、製造部、調達部、物流部</a:t>
            </a:r>
            <a:endParaRPr lang="en-US" altLang="ja-JP" dirty="0" smtClean="0"/>
          </a:p>
          <a:p>
            <a:pPr marL="914400" lvl="1" indent="-457200">
              <a:lnSpc>
                <a:spcPct val="120000"/>
              </a:lnSpc>
              <a:buFont typeface="+mj-lt"/>
              <a:buAutoNum type="arabicPeriod"/>
            </a:pPr>
            <a:r>
              <a:rPr lang="ja-JP" altLang="en-US" dirty="0" smtClean="0"/>
              <a:t>各部門の役割についての役割説明</a:t>
            </a:r>
            <a:endParaRPr lang="en-US" altLang="ja-JP" dirty="0" smtClean="0"/>
          </a:p>
          <a:p>
            <a:pPr marL="914400" lvl="2" indent="0">
              <a:lnSpc>
                <a:spcPct val="120000"/>
              </a:lnSpc>
              <a:buNone/>
            </a:pPr>
            <a:r>
              <a:rPr lang="ja-JP" altLang="en-US" dirty="0" smtClean="0"/>
              <a:t>営業部は国外、マーケティング部は国内を担当。</a:t>
            </a:r>
            <a:endParaRPr lang="en-US" altLang="ja-JP" dirty="0" smtClean="0"/>
          </a:p>
          <a:p>
            <a:pPr marL="914400" lvl="1" indent="-457200">
              <a:lnSpc>
                <a:spcPct val="120000"/>
              </a:lnSpc>
              <a:buFont typeface="+mj-lt"/>
              <a:buAutoNum type="arabicPeriod"/>
            </a:pPr>
            <a:r>
              <a:rPr lang="ja-JP" altLang="en-US" dirty="0" smtClean="0"/>
              <a:t>製品の開発・製造フローチャート（各ステップの担当部門が明記されている）</a:t>
            </a:r>
            <a:endParaRPr lang="en-US" altLang="ja-JP" dirty="0" smtClean="0"/>
          </a:p>
          <a:p>
            <a:pPr marL="914400" lvl="1" indent="-457200">
              <a:lnSpc>
                <a:spcPct val="120000"/>
              </a:lnSpc>
              <a:buFont typeface="+mj-lt"/>
              <a:buAutoNum type="arabicPeriod"/>
            </a:pPr>
            <a:r>
              <a:rPr lang="ja-JP" altLang="en-US" dirty="0" smtClean="0"/>
              <a:t>開始状況の説明（本日の日付</a:t>
            </a:r>
            <a:r>
              <a:rPr lang="en-US" altLang="ja-JP" dirty="0" smtClean="0"/>
              <a:t>2020/</a:t>
            </a:r>
            <a:r>
              <a:rPr lang="ja-JP" altLang="en-US" dirty="0" smtClean="0"/>
              <a:t>（</a:t>
            </a:r>
            <a:r>
              <a:rPr lang="ja-JP" altLang="en-US" dirty="0"/>
              <a:t>月</a:t>
            </a:r>
            <a:r>
              <a:rPr lang="ja-JP" altLang="en-US" dirty="0" smtClean="0"/>
              <a:t>曜日）、土日祝日は仕事できない）</a:t>
            </a:r>
            <a:endParaRPr lang="ja-JP" altLang="en-US" dirty="0"/>
          </a:p>
        </p:txBody>
      </p:sp>
      <p:graphicFrame>
        <p:nvGraphicFramePr>
          <p:cNvPr id="4" name="表 3"/>
          <p:cNvGraphicFramePr>
            <a:graphicFrameLocks noGrp="1"/>
          </p:cNvGraphicFramePr>
          <p:nvPr>
            <p:extLst>
              <p:ext uri="{D42A27DB-BD31-4B8C-83A1-F6EECF244321}">
                <p14:modId xmlns:p14="http://schemas.microsoft.com/office/powerpoint/2010/main" val="3406974120"/>
              </p:ext>
            </p:extLst>
          </p:nvPr>
        </p:nvGraphicFramePr>
        <p:xfrm>
          <a:off x="8555893" y="149224"/>
          <a:ext cx="3636106" cy="3352800"/>
        </p:xfrm>
        <a:graphic>
          <a:graphicData uri="http://schemas.openxmlformats.org/drawingml/2006/table">
            <a:tbl>
              <a:tblPr firstRow="1" bandRow="1">
                <a:tableStyleId>{5C22544A-7EE6-4342-B048-85BDC9FD1C3A}</a:tableStyleId>
              </a:tblPr>
              <a:tblGrid>
                <a:gridCol w="917116">
                  <a:extLst>
                    <a:ext uri="{9D8B030D-6E8A-4147-A177-3AD203B41FA5}">
                      <a16:colId xmlns:a16="http://schemas.microsoft.com/office/drawing/2014/main" val="2848519289"/>
                    </a:ext>
                  </a:extLst>
                </a:gridCol>
                <a:gridCol w="906330">
                  <a:extLst>
                    <a:ext uri="{9D8B030D-6E8A-4147-A177-3AD203B41FA5}">
                      <a16:colId xmlns:a16="http://schemas.microsoft.com/office/drawing/2014/main" val="4153296715"/>
                    </a:ext>
                  </a:extLst>
                </a:gridCol>
                <a:gridCol w="906330">
                  <a:extLst>
                    <a:ext uri="{9D8B030D-6E8A-4147-A177-3AD203B41FA5}">
                      <a16:colId xmlns:a16="http://schemas.microsoft.com/office/drawing/2014/main" val="1159048579"/>
                    </a:ext>
                  </a:extLst>
                </a:gridCol>
                <a:gridCol w="906330">
                  <a:extLst>
                    <a:ext uri="{9D8B030D-6E8A-4147-A177-3AD203B41FA5}">
                      <a16:colId xmlns:a16="http://schemas.microsoft.com/office/drawing/2014/main" val="1010238701"/>
                    </a:ext>
                  </a:extLst>
                </a:gridCol>
              </a:tblGrid>
              <a:tr h="276628">
                <a:tc>
                  <a:txBody>
                    <a:bodyPr/>
                    <a:lstStyle/>
                    <a:p>
                      <a:r>
                        <a:rPr kumimoji="1" lang="ja-JP" altLang="en-US" sz="1400" dirty="0" smtClean="0"/>
                        <a:t>製品番号</a:t>
                      </a:r>
                      <a:endParaRPr kumimoji="1" lang="ja-JP" altLang="en-US" sz="1400" dirty="0"/>
                    </a:p>
                  </a:txBody>
                  <a:tcPr/>
                </a:tc>
                <a:tc>
                  <a:txBody>
                    <a:bodyPr/>
                    <a:lstStyle/>
                    <a:p>
                      <a:endParaRPr kumimoji="1" lang="ja-JP" altLang="en-US" sz="1400" dirty="0"/>
                    </a:p>
                  </a:txBody>
                  <a:tcPr/>
                </a:tc>
                <a:tc>
                  <a:txBody>
                    <a:bodyPr/>
                    <a:lstStyle/>
                    <a:p>
                      <a:r>
                        <a:rPr kumimoji="1" lang="ja-JP" altLang="en-US" sz="1400" dirty="0" smtClean="0"/>
                        <a:t>担当者</a:t>
                      </a:r>
                      <a:endParaRPr kumimoji="1" lang="ja-JP" altLang="en-US" sz="1400" dirty="0"/>
                    </a:p>
                  </a:txBody>
                  <a:tcPr/>
                </a:tc>
                <a:tc>
                  <a:txBody>
                    <a:bodyPr/>
                    <a:lstStyle/>
                    <a:p>
                      <a:r>
                        <a:rPr kumimoji="1" lang="ja-JP" altLang="en-US" sz="1400" dirty="0" smtClean="0"/>
                        <a:t>商品</a:t>
                      </a:r>
                      <a:endParaRPr kumimoji="1" lang="ja-JP" altLang="en-US" sz="1400" dirty="0"/>
                    </a:p>
                  </a:txBody>
                  <a:tcPr/>
                </a:tc>
                <a:extLst>
                  <a:ext uri="{0D108BD9-81ED-4DB2-BD59-A6C34878D82A}">
                    <a16:rowId xmlns:a16="http://schemas.microsoft.com/office/drawing/2014/main" val="2517047501"/>
                  </a:ext>
                </a:extLst>
              </a:tr>
              <a:tr h="276628">
                <a:tc>
                  <a:txBody>
                    <a:bodyPr/>
                    <a:lstStyle/>
                    <a:p>
                      <a:r>
                        <a:rPr kumimoji="1" lang="ja-JP" altLang="en-US" sz="1400" dirty="0" smtClean="0"/>
                        <a:t>飲料</a:t>
                      </a:r>
                      <a:r>
                        <a:rPr kumimoji="1" lang="en-US" altLang="ja-JP" sz="1400" dirty="0" smtClean="0"/>
                        <a:t>01</a:t>
                      </a:r>
                      <a:endParaRPr kumimoji="1" lang="ja-JP" altLang="en-US" sz="1400" dirty="0"/>
                    </a:p>
                  </a:txBody>
                  <a:tcPr/>
                </a:tc>
                <a:tc>
                  <a:txBody>
                    <a:bodyPr/>
                    <a:lstStyle/>
                    <a:p>
                      <a:r>
                        <a:rPr kumimoji="1" lang="ja-JP" altLang="en-US" sz="1400" dirty="0" smtClean="0"/>
                        <a:t>市場製品</a:t>
                      </a:r>
                      <a:endParaRPr kumimoji="1" lang="ja-JP" altLang="en-US" sz="1400" dirty="0"/>
                    </a:p>
                  </a:txBody>
                  <a:tcPr/>
                </a:tc>
                <a:tc>
                  <a:txBody>
                    <a:bodyPr/>
                    <a:lstStyle/>
                    <a:p>
                      <a:r>
                        <a:rPr kumimoji="1" lang="ja-JP" altLang="en-US" sz="1400" dirty="0" smtClean="0"/>
                        <a:t>野上</a:t>
                      </a:r>
                      <a:endParaRPr kumimoji="1" lang="ja-JP" altLang="en-US" sz="1400" dirty="0"/>
                    </a:p>
                  </a:txBody>
                  <a:tcPr/>
                </a:tc>
                <a:tc>
                  <a:txBody>
                    <a:bodyPr/>
                    <a:lstStyle/>
                    <a:p>
                      <a:r>
                        <a:rPr kumimoji="1" lang="ja-JP" altLang="en-US" sz="1400" dirty="0" smtClean="0"/>
                        <a:t>清涼飲料</a:t>
                      </a:r>
                      <a:endParaRPr kumimoji="1" lang="ja-JP" altLang="en-US" sz="1400" dirty="0"/>
                    </a:p>
                  </a:txBody>
                  <a:tcPr/>
                </a:tc>
                <a:extLst>
                  <a:ext uri="{0D108BD9-81ED-4DB2-BD59-A6C34878D82A}">
                    <a16:rowId xmlns:a16="http://schemas.microsoft.com/office/drawing/2014/main" val="159445699"/>
                  </a:ext>
                </a:extLst>
              </a:tr>
              <a:tr h="276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t>飲料</a:t>
                      </a:r>
                      <a:r>
                        <a:rPr kumimoji="1" lang="en-US" altLang="ja-JP" sz="1400" dirty="0" smtClean="0"/>
                        <a:t>02</a:t>
                      </a:r>
                      <a:endParaRPr kumimoji="1" lang="ja-JP" altLang="en-US"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t>市場製品</a:t>
                      </a:r>
                    </a:p>
                  </a:txBody>
                  <a:tcPr/>
                </a:tc>
                <a:tc>
                  <a:txBody>
                    <a:bodyPr/>
                    <a:lstStyle/>
                    <a:p>
                      <a:r>
                        <a:rPr kumimoji="1" lang="ja-JP" altLang="en-US" sz="1400" dirty="0" smtClean="0"/>
                        <a:t>野上</a:t>
                      </a:r>
                      <a:endParaRPr kumimoji="1" lang="ja-JP" altLang="en-US" sz="1400" dirty="0"/>
                    </a:p>
                  </a:txBody>
                  <a:tcPr/>
                </a:tc>
                <a:tc>
                  <a:txBody>
                    <a:bodyPr/>
                    <a:lstStyle/>
                    <a:p>
                      <a:r>
                        <a:rPr kumimoji="1" lang="ja-JP" altLang="en-US" sz="1400" dirty="0" smtClean="0"/>
                        <a:t>清涼飲料</a:t>
                      </a:r>
                      <a:endParaRPr kumimoji="1" lang="ja-JP" altLang="en-US" sz="1400" dirty="0"/>
                    </a:p>
                  </a:txBody>
                  <a:tcPr/>
                </a:tc>
                <a:extLst>
                  <a:ext uri="{0D108BD9-81ED-4DB2-BD59-A6C34878D82A}">
                    <a16:rowId xmlns:a16="http://schemas.microsoft.com/office/drawing/2014/main" val="3992770040"/>
                  </a:ext>
                </a:extLst>
              </a:tr>
              <a:tr h="276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t>飲料</a:t>
                      </a:r>
                      <a:r>
                        <a:rPr kumimoji="1" lang="en-US" altLang="ja-JP" sz="1400" dirty="0" smtClean="0"/>
                        <a:t>03</a:t>
                      </a:r>
                      <a:endParaRPr kumimoji="1" lang="ja-JP" altLang="en-US"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t>市場製品</a:t>
                      </a:r>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t>野上</a:t>
                      </a:r>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400" dirty="0"/>
                    </a:p>
                  </a:txBody>
                  <a:tcPr/>
                </a:tc>
                <a:extLst>
                  <a:ext uri="{0D108BD9-81ED-4DB2-BD59-A6C34878D82A}">
                    <a16:rowId xmlns:a16="http://schemas.microsoft.com/office/drawing/2014/main" val="2280138032"/>
                  </a:ext>
                </a:extLst>
              </a:tr>
              <a:tr h="276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smtClean="0"/>
                        <a:t>飲料</a:t>
                      </a:r>
                      <a:r>
                        <a:rPr kumimoji="1" lang="en-US" altLang="ja-JP" sz="1400" dirty="0" smtClean="0"/>
                        <a:t>04</a:t>
                      </a:r>
                      <a:endParaRPr kumimoji="1" lang="ja-JP" altLang="en-US" sz="1400" dirty="0"/>
                    </a:p>
                  </a:txBody>
                  <a:tcPr/>
                </a:tc>
                <a:tc>
                  <a:txBody>
                    <a:bodyPr/>
                    <a:lstStyle/>
                    <a:p>
                      <a:r>
                        <a:rPr kumimoji="1" lang="ja-JP" altLang="en-US" sz="1400" dirty="0" smtClean="0"/>
                        <a:t>市場製品</a:t>
                      </a:r>
                      <a:endParaRPr kumimoji="1" lang="ja-JP" altLang="en-US" sz="1400" dirty="0"/>
                    </a:p>
                  </a:txBody>
                  <a:tcPr/>
                </a:tc>
                <a:tc>
                  <a:txBody>
                    <a:bodyPr/>
                    <a:lstStyle/>
                    <a:p>
                      <a:r>
                        <a:rPr kumimoji="1" lang="ja-JP" altLang="en-US" sz="1400" dirty="0" smtClean="0"/>
                        <a:t>他の人</a:t>
                      </a:r>
                      <a:endParaRPr kumimoji="1" lang="ja-JP" altLang="en-US" sz="1400" dirty="0"/>
                    </a:p>
                  </a:txBody>
                  <a:tcPr/>
                </a:tc>
                <a:tc>
                  <a:txBody>
                    <a:bodyPr/>
                    <a:lstStyle/>
                    <a:p>
                      <a:r>
                        <a:rPr kumimoji="1" lang="ja-JP" altLang="en-US" sz="1400" dirty="0" smtClean="0"/>
                        <a:t>茶</a:t>
                      </a:r>
                      <a:endParaRPr kumimoji="1" lang="ja-JP" altLang="en-US" sz="1400" dirty="0"/>
                    </a:p>
                  </a:txBody>
                  <a:tcPr/>
                </a:tc>
                <a:extLst>
                  <a:ext uri="{0D108BD9-81ED-4DB2-BD59-A6C34878D82A}">
                    <a16:rowId xmlns:a16="http://schemas.microsoft.com/office/drawing/2014/main" val="76369505"/>
                  </a:ext>
                </a:extLst>
              </a:tr>
              <a:tr h="276628">
                <a:tc>
                  <a:txBody>
                    <a:bodyPr/>
                    <a:lstStyle/>
                    <a:p>
                      <a:r>
                        <a:rPr kumimoji="1" lang="ja-JP" altLang="en-US" sz="1400" dirty="0" smtClean="0"/>
                        <a:t>飲料</a:t>
                      </a:r>
                      <a:r>
                        <a:rPr kumimoji="1" lang="en-US" altLang="ja-JP" sz="1400" dirty="0" smtClean="0"/>
                        <a:t>05</a:t>
                      </a:r>
                      <a:endParaRPr kumimoji="1" lang="ja-JP" altLang="en-US" sz="1400" dirty="0"/>
                    </a:p>
                  </a:txBody>
                  <a:tcPr/>
                </a:tc>
                <a:tc>
                  <a:txBody>
                    <a:bodyPr/>
                    <a:lstStyle/>
                    <a:p>
                      <a:r>
                        <a:rPr kumimoji="1" lang="ja-JP" altLang="en-US" sz="1400" dirty="0" smtClean="0"/>
                        <a:t>開発中</a:t>
                      </a:r>
                      <a:endParaRPr kumimoji="1" lang="ja-JP" altLang="en-US" sz="1400" dirty="0"/>
                    </a:p>
                  </a:txBody>
                  <a:tcPr/>
                </a:tc>
                <a:tc>
                  <a:txBody>
                    <a:bodyPr/>
                    <a:lstStyle/>
                    <a:p>
                      <a:r>
                        <a:rPr kumimoji="1" lang="ja-JP" altLang="en-US" sz="1400" dirty="0" smtClean="0"/>
                        <a:t>野上</a:t>
                      </a:r>
                      <a:endParaRPr kumimoji="1" lang="ja-JP" altLang="en-US" sz="1400" dirty="0"/>
                    </a:p>
                  </a:txBody>
                  <a:tcPr/>
                </a:tc>
                <a:tc>
                  <a:txBody>
                    <a:bodyPr/>
                    <a:lstStyle/>
                    <a:p>
                      <a:endParaRPr kumimoji="1" lang="ja-JP" altLang="en-US" sz="1400" dirty="0"/>
                    </a:p>
                  </a:txBody>
                  <a:tcPr/>
                </a:tc>
                <a:extLst>
                  <a:ext uri="{0D108BD9-81ED-4DB2-BD59-A6C34878D82A}">
                    <a16:rowId xmlns:a16="http://schemas.microsoft.com/office/drawing/2014/main" val="388366525"/>
                  </a:ext>
                </a:extLst>
              </a:tr>
              <a:tr h="276628">
                <a:tc>
                  <a:txBody>
                    <a:bodyPr/>
                    <a:lstStyle/>
                    <a:p>
                      <a:r>
                        <a:rPr kumimoji="1" lang="ja-JP" altLang="en-US" sz="1400" dirty="0" smtClean="0"/>
                        <a:t>飲料</a:t>
                      </a:r>
                      <a:r>
                        <a:rPr kumimoji="1" lang="en-US" altLang="ja-JP" sz="1400" dirty="0" smtClean="0"/>
                        <a:t>06</a:t>
                      </a:r>
                      <a:endParaRPr kumimoji="1" lang="ja-JP" altLang="en-US" sz="1400" dirty="0"/>
                    </a:p>
                  </a:txBody>
                  <a:tcPr/>
                </a:tc>
                <a:tc>
                  <a:txBody>
                    <a:bodyPr/>
                    <a:lstStyle/>
                    <a:p>
                      <a:r>
                        <a:rPr kumimoji="1" lang="ja-JP" altLang="en-US" sz="1400" dirty="0" smtClean="0"/>
                        <a:t>開発中</a:t>
                      </a:r>
                      <a:endParaRPr kumimoji="1" lang="ja-JP" altLang="en-US" sz="1400" dirty="0"/>
                    </a:p>
                  </a:txBody>
                  <a:tcPr/>
                </a:tc>
                <a:tc>
                  <a:txBody>
                    <a:bodyPr/>
                    <a:lstStyle/>
                    <a:p>
                      <a:r>
                        <a:rPr kumimoji="1" lang="ja-JP" altLang="en-US" sz="1400" dirty="0" smtClean="0"/>
                        <a:t>他の人</a:t>
                      </a:r>
                      <a:endParaRPr kumimoji="1" lang="ja-JP" altLang="en-US" sz="1400" dirty="0"/>
                    </a:p>
                  </a:txBody>
                  <a:tcPr/>
                </a:tc>
                <a:tc>
                  <a:txBody>
                    <a:bodyPr/>
                    <a:lstStyle/>
                    <a:p>
                      <a:endParaRPr kumimoji="1" lang="ja-JP" altLang="en-US" sz="1400" dirty="0"/>
                    </a:p>
                  </a:txBody>
                  <a:tcPr/>
                </a:tc>
                <a:extLst>
                  <a:ext uri="{0D108BD9-81ED-4DB2-BD59-A6C34878D82A}">
                    <a16:rowId xmlns:a16="http://schemas.microsoft.com/office/drawing/2014/main" val="1023923396"/>
                  </a:ext>
                </a:extLst>
              </a:tr>
              <a:tr h="276628">
                <a:tc>
                  <a:txBody>
                    <a:bodyPr/>
                    <a:lstStyle/>
                    <a:p>
                      <a:r>
                        <a:rPr kumimoji="1" lang="ja-JP" altLang="en-US" sz="1400" dirty="0" smtClean="0"/>
                        <a:t>飲料</a:t>
                      </a:r>
                      <a:r>
                        <a:rPr kumimoji="1" lang="en-US" altLang="ja-JP" sz="1400" dirty="0" smtClean="0"/>
                        <a:t>07</a:t>
                      </a:r>
                      <a:endParaRPr kumimoji="1" lang="ja-JP" altLang="en-US" sz="1400" dirty="0"/>
                    </a:p>
                  </a:txBody>
                  <a:tcPr/>
                </a:tc>
                <a:tc>
                  <a:txBody>
                    <a:bodyPr/>
                    <a:lstStyle/>
                    <a:p>
                      <a:r>
                        <a:rPr kumimoji="1" lang="ja-JP" altLang="en-US" sz="1400" dirty="0" smtClean="0"/>
                        <a:t>開発中</a:t>
                      </a:r>
                      <a:endParaRPr kumimoji="1" lang="ja-JP" altLang="en-US" sz="1400" dirty="0"/>
                    </a:p>
                  </a:txBody>
                  <a:tcPr/>
                </a:tc>
                <a:tc>
                  <a:txBody>
                    <a:bodyPr/>
                    <a:lstStyle/>
                    <a:p>
                      <a:r>
                        <a:rPr kumimoji="1" lang="ja-JP" altLang="en-US" sz="1400" dirty="0" smtClean="0"/>
                        <a:t>野上</a:t>
                      </a:r>
                      <a:endParaRPr kumimoji="1" lang="ja-JP" altLang="en-US" sz="1400" dirty="0"/>
                    </a:p>
                  </a:txBody>
                  <a:tcPr/>
                </a:tc>
                <a:tc>
                  <a:txBody>
                    <a:bodyPr/>
                    <a:lstStyle/>
                    <a:p>
                      <a:endParaRPr kumimoji="1" lang="ja-JP" altLang="en-US" sz="1400" dirty="0"/>
                    </a:p>
                  </a:txBody>
                  <a:tcPr/>
                </a:tc>
                <a:extLst>
                  <a:ext uri="{0D108BD9-81ED-4DB2-BD59-A6C34878D82A}">
                    <a16:rowId xmlns:a16="http://schemas.microsoft.com/office/drawing/2014/main" val="536518689"/>
                  </a:ext>
                </a:extLst>
              </a:tr>
              <a:tr h="276628">
                <a:tc>
                  <a:txBody>
                    <a:bodyPr/>
                    <a:lstStyle/>
                    <a:p>
                      <a:r>
                        <a:rPr kumimoji="1" lang="ja-JP" altLang="en-US" sz="1400" dirty="0" smtClean="0"/>
                        <a:t>飲料</a:t>
                      </a:r>
                      <a:r>
                        <a:rPr kumimoji="1" lang="en-US" altLang="ja-JP" sz="1400" dirty="0" smtClean="0"/>
                        <a:t>08</a:t>
                      </a:r>
                      <a:endParaRPr kumimoji="1" lang="ja-JP" altLang="en-US" sz="1400" dirty="0"/>
                    </a:p>
                  </a:txBody>
                  <a:tcPr/>
                </a:tc>
                <a:tc>
                  <a:txBody>
                    <a:bodyPr/>
                    <a:lstStyle/>
                    <a:p>
                      <a:r>
                        <a:rPr kumimoji="1" lang="ja-JP" altLang="en-US" sz="1400" dirty="0" smtClean="0"/>
                        <a:t>開発中</a:t>
                      </a:r>
                      <a:endParaRPr kumimoji="1" lang="ja-JP" altLang="en-US" sz="1400" dirty="0"/>
                    </a:p>
                  </a:txBody>
                  <a:tcPr/>
                </a:tc>
                <a:tc>
                  <a:txBody>
                    <a:bodyPr/>
                    <a:lstStyle/>
                    <a:p>
                      <a:r>
                        <a:rPr kumimoji="1" lang="ja-JP" altLang="en-US" sz="1400" dirty="0" smtClean="0"/>
                        <a:t>野上</a:t>
                      </a:r>
                      <a:endParaRPr kumimoji="1" lang="ja-JP" altLang="en-US" sz="1400" dirty="0"/>
                    </a:p>
                  </a:txBody>
                  <a:tcPr/>
                </a:tc>
                <a:tc>
                  <a:txBody>
                    <a:bodyPr/>
                    <a:lstStyle/>
                    <a:p>
                      <a:endParaRPr kumimoji="1" lang="ja-JP" altLang="en-US" sz="1400" dirty="0"/>
                    </a:p>
                  </a:txBody>
                  <a:tcPr/>
                </a:tc>
                <a:extLst>
                  <a:ext uri="{0D108BD9-81ED-4DB2-BD59-A6C34878D82A}">
                    <a16:rowId xmlns:a16="http://schemas.microsoft.com/office/drawing/2014/main" val="855294852"/>
                  </a:ext>
                </a:extLst>
              </a:tr>
              <a:tr h="276628">
                <a:tc>
                  <a:txBody>
                    <a:bodyPr/>
                    <a:lstStyle/>
                    <a:p>
                      <a:r>
                        <a:rPr kumimoji="1" lang="ja-JP" altLang="en-US" sz="1400" dirty="0" smtClean="0"/>
                        <a:t>飲料</a:t>
                      </a:r>
                      <a:r>
                        <a:rPr kumimoji="1" lang="en-US" altLang="ja-JP" sz="1400" dirty="0" smtClean="0"/>
                        <a:t>09</a:t>
                      </a:r>
                      <a:endParaRPr kumimoji="1" lang="ja-JP" altLang="en-US" sz="1400" dirty="0"/>
                    </a:p>
                  </a:txBody>
                  <a:tcPr/>
                </a:tc>
                <a:tc>
                  <a:txBody>
                    <a:bodyPr/>
                    <a:lstStyle/>
                    <a:p>
                      <a:r>
                        <a:rPr kumimoji="1" lang="ja-JP" altLang="en-US" sz="1400" dirty="0" smtClean="0"/>
                        <a:t>開発中</a:t>
                      </a:r>
                      <a:endParaRPr kumimoji="1" lang="ja-JP" altLang="en-US" sz="1400" dirty="0"/>
                    </a:p>
                  </a:txBody>
                  <a:tcPr/>
                </a:tc>
                <a:tc>
                  <a:txBody>
                    <a:bodyPr/>
                    <a:lstStyle/>
                    <a:p>
                      <a:r>
                        <a:rPr kumimoji="1" lang="ja-JP" altLang="en-US" sz="1400" dirty="0" smtClean="0"/>
                        <a:t>野上</a:t>
                      </a:r>
                      <a:endParaRPr kumimoji="1" lang="ja-JP" altLang="en-US" sz="1400" dirty="0"/>
                    </a:p>
                  </a:txBody>
                  <a:tcPr/>
                </a:tc>
                <a:tc>
                  <a:txBody>
                    <a:bodyPr/>
                    <a:lstStyle/>
                    <a:p>
                      <a:endParaRPr kumimoji="1" lang="ja-JP" altLang="en-US" sz="1400" dirty="0"/>
                    </a:p>
                  </a:txBody>
                  <a:tcPr/>
                </a:tc>
                <a:extLst>
                  <a:ext uri="{0D108BD9-81ED-4DB2-BD59-A6C34878D82A}">
                    <a16:rowId xmlns:a16="http://schemas.microsoft.com/office/drawing/2014/main" val="2927755713"/>
                  </a:ext>
                </a:extLst>
              </a:tr>
              <a:tr h="276628">
                <a:tc>
                  <a:txBody>
                    <a:bodyPr/>
                    <a:lstStyle/>
                    <a:p>
                      <a:r>
                        <a:rPr kumimoji="1" lang="ja-JP" altLang="en-US" sz="1400" dirty="0" smtClean="0"/>
                        <a:t>飲料</a:t>
                      </a:r>
                      <a:r>
                        <a:rPr kumimoji="1" lang="en-US" altLang="ja-JP" sz="1400" dirty="0" smtClean="0"/>
                        <a:t>10</a:t>
                      </a:r>
                      <a:endParaRPr kumimoji="1" lang="ja-JP" altLang="en-US" sz="1400" dirty="0"/>
                    </a:p>
                  </a:txBody>
                  <a:tcPr/>
                </a:tc>
                <a:tc>
                  <a:txBody>
                    <a:bodyPr/>
                    <a:lstStyle/>
                    <a:p>
                      <a:r>
                        <a:rPr kumimoji="1" lang="ja-JP" altLang="en-US" sz="1400" dirty="0" smtClean="0"/>
                        <a:t>開発中</a:t>
                      </a:r>
                      <a:endParaRPr kumimoji="1" lang="ja-JP" altLang="en-US" sz="1400" dirty="0"/>
                    </a:p>
                  </a:txBody>
                  <a:tcPr/>
                </a:tc>
                <a:tc>
                  <a:txBody>
                    <a:bodyPr/>
                    <a:lstStyle/>
                    <a:p>
                      <a:r>
                        <a:rPr kumimoji="1" lang="ja-JP" altLang="en-US" sz="1400" dirty="0" smtClean="0"/>
                        <a:t>野上</a:t>
                      </a:r>
                      <a:endParaRPr kumimoji="1" lang="ja-JP" altLang="en-US" sz="1400" dirty="0"/>
                    </a:p>
                  </a:txBody>
                  <a:tcPr/>
                </a:tc>
                <a:tc>
                  <a:txBody>
                    <a:bodyPr/>
                    <a:lstStyle/>
                    <a:p>
                      <a:endParaRPr kumimoji="1" lang="ja-JP" altLang="en-US" sz="1400" dirty="0"/>
                    </a:p>
                  </a:txBody>
                  <a:tcPr/>
                </a:tc>
                <a:extLst>
                  <a:ext uri="{0D108BD9-81ED-4DB2-BD59-A6C34878D82A}">
                    <a16:rowId xmlns:a16="http://schemas.microsoft.com/office/drawing/2014/main" val="3438119060"/>
                  </a:ext>
                </a:extLst>
              </a:tr>
            </a:tbl>
          </a:graphicData>
        </a:graphic>
      </p:graphicFrame>
    </p:spTree>
    <p:extLst>
      <p:ext uri="{BB962C8B-B14F-4D97-AF65-F5344CB8AC3E}">
        <p14:creationId xmlns:p14="http://schemas.microsoft.com/office/powerpoint/2010/main" val="3660485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インバスケット案件</a:t>
            </a:r>
            <a:endParaRPr kumimoji="1" lang="ja-JP" altLang="en-US" dirty="0"/>
          </a:p>
        </p:txBody>
      </p:sp>
      <p:sp>
        <p:nvSpPr>
          <p:cNvPr id="3" name="コンテンツ プレースホルダー 2"/>
          <p:cNvSpPr>
            <a:spLocks noGrp="1"/>
          </p:cNvSpPr>
          <p:nvPr>
            <p:ph idx="1"/>
          </p:nvPr>
        </p:nvSpPr>
        <p:spPr>
          <a:xfrm>
            <a:off x="838200" y="1582616"/>
            <a:ext cx="10515600" cy="5275384"/>
          </a:xfrm>
        </p:spPr>
        <p:txBody>
          <a:bodyPr>
            <a:normAutofit fontScale="40000" lnSpcReduction="20000"/>
          </a:bodyPr>
          <a:lstStyle/>
          <a:p>
            <a:pPr marL="514350" indent="-514350">
              <a:lnSpc>
                <a:spcPct val="120000"/>
              </a:lnSpc>
              <a:buFont typeface="+mj-lt"/>
              <a:buAutoNum type="arabicPeriod"/>
            </a:pPr>
            <a:r>
              <a:rPr lang="ja-JP" altLang="en-US" dirty="0" smtClean="0"/>
              <a:t>ジェンダー問題の不適切な問題で、</a:t>
            </a:r>
            <a:r>
              <a:rPr lang="ja-JP" altLang="en-US" dirty="0"/>
              <a:t>営業部と共同で運営して</a:t>
            </a:r>
            <a:r>
              <a:rPr lang="ja-JP" altLang="en-US" dirty="0" smtClean="0"/>
              <a:t>いる</a:t>
            </a:r>
            <a:r>
              <a:rPr lang="en-US" altLang="ja-JP" dirty="0" smtClean="0"/>
              <a:t>SNS</a:t>
            </a:r>
            <a:r>
              <a:rPr lang="ja-JP" altLang="en-US" dirty="0" smtClean="0"/>
              <a:t>アカウントが炎上していると担当の後輩からメール</a:t>
            </a:r>
            <a:endParaRPr lang="en-US" altLang="ja-JP" dirty="0" smtClean="0"/>
          </a:p>
          <a:p>
            <a:pPr marL="514350" indent="-514350">
              <a:lnSpc>
                <a:spcPct val="120000"/>
              </a:lnSpc>
              <a:buFont typeface="+mj-lt"/>
              <a:buAutoNum type="arabicPeriod"/>
            </a:pPr>
            <a:r>
              <a:rPr kumimoji="1" lang="ja-JP" altLang="en-US" dirty="0" smtClean="0"/>
              <a:t>タイ工場のデモにより飲料</a:t>
            </a:r>
            <a:r>
              <a:rPr kumimoji="1" lang="en-US" altLang="ja-JP" dirty="0" smtClean="0"/>
              <a:t>08</a:t>
            </a:r>
            <a:r>
              <a:rPr lang="ja-JP" altLang="en-US" dirty="0"/>
              <a:t>の原料が</a:t>
            </a:r>
            <a:r>
              <a:rPr lang="ja-JP" altLang="en-US" dirty="0" smtClean="0"/>
              <a:t>届かない。飲料</a:t>
            </a:r>
            <a:r>
              <a:rPr lang="en-US" altLang="ja-JP" dirty="0" smtClean="0"/>
              <a:t>01</a:t>
            </a:r>
            <a:r>
              <a:rPr lang="ja-JP" altLang="en-US" dirty="0" smtClean="0"/>
              <a:t>と飲料</a:t>
            </a:r>
            <a:r>
              <a:rPr lang="en-US" altLang="ja-JP" dirty="0" smtClean="0"/>
              <a:t>02</a:t>
            </a:r>
            <a:r>
              <a:rPr lang="ja-JP" altLang="en-US" dirty="0" smtClean="0"/>
              <a:t>も影響があるかもしれない</a:t>
            </a:r>
            <a:endParaRPr lang="en-US" altLang="ja-JP" dirty="0" smtClean="0"/>
          </a:p>
          <a:p>
            <a:pPr marL="514350" indent="-514350">
              <a:lnSpc>
                <a:spcPct val="120000"/>
              </a:lnSpc>
              <a:buFont typeface="+mj-lt"/>
              <a:buAutoNum type="arabicPeriod"/>
            </a:pPr>
            <a:r>
              <a:rPr kumimoji="1" lang="ja-JP" altLang="en-US" dirty="0" smtClean="0"/>
              <a:t>クレーム一覧（飲料</a:t>
            </a:r>
            <a:r>
              <a:rPr lang="en-US" altLang="ja-JP" dirty="0" smtClean="0"/>
              <a:t>03</a:t>
            </a:r>
            <a:r>
              <a:rPr lang="ja-JP" altLang="en-US" dirty="0" smtClean="0"/>
              <a:t>から鉄のような味がする。飲料</a:t>
            </a:r>
            <a:r>
              <a:rPr lang="en-US" altLang="ja-JP" dirty="0" smtClean="0"/>
              <a:t>XX</a:t>
            </a:r>
            <a:r>
              <a:rPr lang="ja-JP" altLang="en-US" dirty="0" smtClean="0"/>
              <a:t>はリニューアルしてから味が変わった、</a:t>
            </a:r>
            <a:r>
              <a:rPr lang="en-US" altLang="ja-JP" dirty="0" smtClean="0"/>
              <a:t>EC</a:t>
            </a:r>
            <a:r>
              <a:rPr lang="ja-JP" altLang="en-US" dirty="0" smtClean="0"/>
              <a:t>サイトの栄養表記が見づらい）</a:t>
            </a:r>
            <a:endParaRPr lang="en-US" altLang="ja-JP" dirty="0" smtClean="0"/>
          </a:p>
          <a:p>
            <a:pPr marL="514350" indent="-514350">
              <a:lnSpc>
                <a:spcPct val="120000"/>
              </a:lnSpc>
              <a:buFont typeface="+mj-lt"/>
              <a:buAutoNum type="arabicPeriod"/>
            </a:pPr>
            <a:r>
              <a:rPr kumimoji="1" lang="ja-JP" altLang="en-US" dirty="0" smtClean="0"/>
              <a:t>飲料</a:t>
            </a:r>
            <a:r>
              <a:rPr kumimoji="1" lang="en-US" altLang="ja-JP" dirty="0" smtClean="0"/>
              <a:t>03</a:t>
            </a:r>
            <a:r>
              <a:rPr lang="ja-JP" altLang="en-US" dirty="0" smtClean="0"/>
              <a:t>について、調べたほうがいいかもしれませんねというメール</a:t>
            </a:r>
            <a:endParaRPr lang="en-US" altLang="ja-JP" dirty="0" smtClean="0"/>
          </a:p>
          <a:p>
            <a:pPr marL="514350" indent="-514350">
              <a:lnSpc>
                <a:spcPct val="120000"/>
              </a:lnSpc>
              <a:buFont typeface="+mj-lt"/>
              <a:buAutoNum type="arabicPeriod"/>
            </a:pPr>
            <a:r>
              <a:rPr kumimoji="1" lang="en-US" altLang="ja-JP" dirty="0" smtClean="0"/>
              <a:t>T</a:t>
            </a:r>
            <a:r>
              <a:rPr kumimoji="1" lang="ja-JP" altLang="en-US" dirty="0" smtClean="0"/>
              <a:t>大学との共同研究についての説明資料</a:t>
            </a:r>
            <a:endParaRPr kumimoji="1" lang="en-US" altLang="ja-JP" dirty="0" smtClean="0"/>
          </a:p>
          <a:p>
            <a:pPr marL="514350" indent="-514350">
              <a:lnSpc>
                <a:spcPct val="120000"/>
              </a:lnSpc>
              <a:buFont typeface="+mj-lt"/>
              <a:buAutoNum type="arabicPeriod"/>
            </a:pPr>
            <a:r>
              <a:rPr lang="en-US" altLang="ja-JP" dirty="0" smtClean="0"/>
              <a:t>T</a:t>
            </a:r>
            <a:r>
              <a:rPr lang="ja-JP" altLang="en-US" dirty="0" smtClean="0"/>
              <a:t>大学との共同研究に参加確認の要返信メール</a:t>
            </a:r>
            <a:endParaRPr kumimoji="1" lang="en-US" altLang="ja-JP" dirty="0" smtClean="0"/>
          </a:p>
          <a:p>
            <a:pPr marL="514350" indent="-514350">
              <a:lnSpc>
                <a:spcPct val="120000"/>
              </a:lnSpc>
              <a:buFont typeface="+mj-lt"/>
              <a:buAutoNum type="arabicPeriod"/>
            </a:pPr>
            <a:r>
              <a:rPr lang="ja-JP" altLang="en-US" dirty="0" smtClean="0"/>
              <a:t>飲料</a:t>
            </a:r>
            <a:r>
              <a:rPr lang="en-US" altLang="ja-JP" dirty="0" smtClean="0"/>
              <a:t>01</a:t>
            </a:r>
            <a:r>
              <a:rPr lang="ja-JP" altLang="en-US" dirty="0" smtClean="0"/>
              <a:t>のリニューアル</a:t>
            </a:r>
            <a:endParaRPr lang="en-US" altLang="ja-JP" dirty="0" smtClean="0"/>
          </a:p>
          <a:p>
            <a:pPr marL="514350" indent="-514350">
              <a:lnSpc>
                <a:spcPct val="120000"/>
              </a:lnSpc>
              <a:buFont typeface="+mj-lt"/>
              <a:buAutoNum type="arabicPeriod"/>
            </a:pPr>
            <a:r>
              <a:rPr kumimoji="1" lang="ja-JP" altLang="en-US" dirty="0" smtClean="0"/>
              <a:t>飲料</a:t>
            </a:r>
            <a:r>
              <a:rPr kumimoji="1" lang="en-US" altLang="ja-JP" dirty="0" smtClean="0"/>
              <a:t>08</a:t>
            </a:r>
            <a:r>
              <a:rPr kumimoji="1" lang="ja-JP" altLang="en-US" dirty="0" smtClean="0"/>
              <a:t>が取締会議で否決になった。理由を確認しといてください</a:t>
            </a:r>
            <a:endParaRPr kumimoji="1" lang="en-US" altLang="ja-JP" dirty="0" smtClean="0"/>
          </a:p>
          <a:p>
            <a:pPr marL="514350" indent="-514350">
              <a:lnSpc>
                <a:spcPct val="120000"/>
              </a:lnSpc>
              <a:buFont typeface="+mj-lt"/>
              <a:buAutoNum type="arabicPeriod"/>
            </a:pPr>
            <a:r>
              <a:rPr kumimoji="1" lang="ja-JP" altLang="en-US" dirty="0" smtClean="0"/>
              <a:t>厚生労働省で特定保健食品認可の承認に</a:t>
            </a:r>
            <a:r>
              <a:rPr lang="ja-JP" altLang="en-US" dirty="0"/>
              <a:t>必要飲料</a:t>
            </a:r>
            <a:r>
              <a:rPr lang="en-US" altLang="ja-JP" dirty="0"/>
              <a:t>05</a:t>
            </a:r>
            <a:r>
              <a:rPr lang="ja-JP" altLang="en-US" dirty="0"/>
              <a:t>が満たしていないとされた。飲料</a:t>
            </a:r>
            <a:r>
              <a:rPr lang="en-US" altLang="ja-JP" dirty="0"/>
              <a:t>05</a:t>
            </a:r>
            <a:r>
              <a:rPr lang="ja-JP" altLang="en-US" dirty="0"/>
              <a:t>は三か月後に発売予定。三か月前から量産するため、その量産物に指摘内容を反映したい。明日成分を確認したいので、な</a:t>
            </a:r>
            <a:r>
              <a:rPr kumimoji="1" lang="ja-JP" altLang="en-US" dirty="0" smtClean="0"/>
              <a:t>基準</a:t>
            </a:r>
            <a:r>
              <a:rPr kumimoji="1" lang="ja-JP" altLang="en-US" dirty="0" smtClean="0"/>
              <a:t>を資料</a:t>
            </a:r>
            <a:r>
              <a:rPr kumimoji="1" lang="ja-JP" altLang="en-US" dirty="0" smtClean="0"/>
              <a:t>を用意してほしい</a:t>
            </a:r>
            <a:endParaRPr kumimoji="1" lang="en-US" altLang="ja-JP" dirty="0" smtClean="0"/>
          </a:p>
          <a:p>
            <a:pPr marL="514350" indent="-514350">
              <a:lnSpc>
                <a:spcPct val="120000"/>
              </a:lnSpc>
              <a:buFont typeface="+mj-lt"/>
              <a:buAutoNum type="arabicPeriod"/>
            </a:pPr>
            <a:r>
              <a:rPr kumimoji="1" lang="ja-JP" altLang="en-US" dirty="0" smtClean="0"/>
              <a:t>飲料</a:t>
            </a:r>
            <a:r>
              <a:rPr kumimoji="1" lang="en-US" altLang="ja-JP" dirty="0" smtClean="0"/>
              <a:t>08</a:t>
            </a:r>
            <a:r>
              <a:rPr kumimoji="1" lang="ja-JP" altLang="en-US" dirty="0" smtClean="0"/>
              <a:t>が特許に抵触している？とかあった？</a:t>
            </a:r>
            <a:endParaRPr lang="en-US" altLang="ja-JP" dirty="0"/>
          </a:p>
          <a:p>
            <a:pPr marL="514350" indent="-514350">
              <a:lnSpc>
                <a:spcPct val="120000"/>
              </a:lnSpc>
              <a:buFont typeface="+mj-lt"/>
              <a:buAutoNum type="arabicPeriod"/>
            </a:pPr>
            <a:r>
              <a:rPr lang="ja-JP" altLang="en-US" dirty="0"/>
              <a:t>飲料</a:t>
            </a:r>
            <a:r>
              <a:rPr lang="en-US" altLang="ja-JP" dirty="0"/>
              <a:t>08</a:t>
            </a:r>
            <a:r>
              <a:rPr lang="ja-JP" altLang="en-US" dirty="0"/>
              <a:t>には、飲み続けると出る効果が</a:t>
            </a:r>
            <a:r>
              <a:rPr lang="ja-JP" altLang="en-US" dirty="0" smtClean="0"/>
              <a:t>あるので、特許には抵触していない</a:t>
            </a:r>
            <a:endParaRPr lang="en-US" altLang="ja-JP" dirty="0" smtClean="0"/>
          </a:p>
          <a:p>
            <a:pPr marL="514350" indent="-514350">
              <a:lnSpc>
                <a:spcPct val="120000"/>
              </a:lnSpc>
              <a:buFont typeface="+mj-lt"/>
              <a:buAutoNum type="arabicPeriod"/>
            </a:pPr>
            <a:r>
              <a:rPr lang="ja-JP" altLang="en-US" dirty="0" smtClean="0"/>
              <a:t>フィリピンで飲料</a:t>
            </a:r>
            <a:r>
              <a:rPr lang="en-US" altLang="ja-JP" dirty="0" smtClean="0"/>
              <a:t>XX</a:t>
            </a:r>
            <a:r>
              <a:rPr lang="ja-JP" altLang="en-US" dirty="0" smtClean="0"/>
              <a:t>が売れておらず、目標の</a:t>
            </a:r>
            <a:r>
              <a:rPr lang="en-US" altLang="ja-JP" dirty="0" smtClean="0"/>
              <a:t>90%</a:t>
            </a:r>
            <a:r>
              <a:rPr lang="ja-JP" altLang="en-US" dirty="0" smtClean="0"/>
              <a:t>くらいになっている。どうやら、フィリピンでは味の好みが違うみたい</a:t>
            </a:r>
            <a:endParaRPr lang="en-US" altLang="ja-JP" dirty="0" smtClean="0"/>
          </a:p>
          <a:p>
            <a:pPr marL="514350" indent="-514350">
              <a:lnSpc>
                <a:spcPct val="120000"/>
              </a:lnSpc>
              <a:buFont typeface="+mj-lt"/>
              <a:buAutoNum type="arabicPeriod"/>
            </a:pPr>
            <a:r>
              <a:rPr lang="ja-JP" altLang="en-US" dirty="0" smtClean="0"/>
              <a:t>時流に合わせて</a:t>
            </a:r>
            <a:r>
              <a:rPr lang="en-US" altLang="ja-JP" dirty="0" smtClean="0"/>
              <a:t>AI</a:t>
            </a:r>
            <a:r>
              <a:rPr lang="ja-JP" altLang="en-US" dirty="0" smtClean="0"/>
              <a:t>を使った製品開発をやってみてはどうか？</a:t>
            </a:r>
            <a:endParaRPr lang="en-US" altLang="ja-JP" dirty="0"/>
          </a:p>
          <a:p>
            <a:pPr marL="514350" indent="-514350">
              <a:lnSpc>
                <a:spcPct val="120000"/>
              </a:lnSpc>
              <a:buFont typeface="+mj-lt"/>
              <a:buAutoNum type="arabicPeriod"/>
            </a:pPr>
            <a:r>
              <a:rPr kumimoji="1" lang="ja-JP" altLang="en-US" dirty="0" smtClean="0"/>
              <a:t>東南アジアへの進出に向けたコンセプト決定のための会議をする</a:t>
            </a:r>
            <a:endParaRPr kumimoji="1" lang="en-US" altLang="ja-JP" dirty="0" smtClean="0"/>
          </a:p>
          <a:p>
            <a:pPr marL="514350" indent="-514350">
              <a:lnSpc>
                <a:spcPct val="120000"/>
              </a:lnSpc>
              <a:buFont typeface="+mj-lt"/>
              <a:buAutoNum type="arabicPeriod"/>
            </a:pPr>
            <a:r>
              <a:rPr lang="ja-JP" altLang="en-US" dirty="0" smtClean="0"/>
              <a:t>今年のインターンについての相談</a:t>
            </a:r>
            <a:endParaRPr lang="en-US" altLang="ja-JP" dirty="0" smtClean="0"/>
          </a:p>
          <a:p>
            <a:pPr marL="514350" indent="-514350">
              <a:lnSpc>
                <a:spcPct val="120000"/>
              </a:lnSpc>
              <a:buFont typeface="+mj-lt"/>
              <a:buAutoNum type="arabicPeriod"/>
            </a:pPr>
            <a:r>
              <a:rPr kumimoji="1" lang="ja-JP" altLang="en-US" dirty="0" smtClean="0"/>
              <a:t>アレルギー表記がどこにあるかわからないというクレームがあった、</a:t>
            </a:r>
            <a:r>
              <a:rPr kumimoji="1" lang="en-US" altLang="ja-JP" dirty="0" smtClean="0"/>
              <a:t>EC</a:t>
            </a:r>
            <a:r>
              <a:rPr kumimoji="1" lang="ja-JP" altLang="en-US" dirty="0" smtClean="0"/>
              <a:t>サイトを見やすくしては？</a:t>
            </a:r>
            <a:endParaRPr kumimoji="1" lang="en-US" altLang="ja-JP" dirty="0" smtClean="0"/>
          </a:p>
          <a:p>
            <a:pPr marL="514350" indent="-514350">
              <a:lnSpc>
                <a:spcPct val="120000"/>
              </a:lnSpc>
              <a:buFont typeface="+mj-lt"/>
              <a:buAutoNum type="arabicPeriod"/>
            </a:pPr>
            <a:endParaRPr kumimoji="1" lang="ja-JP" altLang="en-US" dirty="0"/>
          </a:p>
        </p:txBody>
      </p:sp>
      <p:sp>
        <p:nvSpPr>
          <p:cNvPr id="4" name="テキスト ボックス 3"/>
          <p:cNvSpPr txBox="1"/>
          <p:nvPr/>
        </p:nvSpPr>
        <p:spPr>
          <a:xfrm>
            <a:off x="7852719" y="271849"/>
            <a:ext cx="3639065" cy="1200329"/>
          </a:xfrm>
          <a:prstGeom prst="rect">
            <a:avLst/>
          </a:prstGeom>
          <a:noFill/>
        </p:spPr>
        <p:txBody>
          <a:bodyPr wrap="square" rtlCol="0">
            <a:spAutoFit/>
          </a:bodyPr>
          <a:lstStyle/>
          <a:p>
            <a:r>
              <a:rPr kumimoji="1" lang="ja-JP" altLang="en-US" dirty="0" smtClean="0"/>
              <a:t>飲料３から鉄の味</a:t>
            </a:r>
            <a:endParaRPr kumimoji="1" lang="en-US" altLang="ja-JP" dirty="0" smtClean="0"/>
          </a:p>
          <a:p>
            <a:r>
              <a:rPr lang="ja-JP" altLang="en-US" dirty="0" smtClean="0"/>
              <a:t>厚生労働省</a:t>
            </a:r>
            <a:endParaRPr lang="en-US" altLang="ja-JP" dirty="0" smtClean="0"/>
          </a:p>
          <a:p>
            <a:r>
              <a:rPr kumimoji="1" lang="en-US" altLang="ja-JP" dirty="0" smtClean="0"/>
              <a:t>SNS</a:t>
            </a:r>
          </a:p>
          <a:p>
            <a:endParaRPr kumimoji="1" lang="ja-JP" altLang="en-US" dirty="0"/>
          </a:p>
        </p:txBody>
      </p:sp>
    </p:spTree>
    <p:extLst>
      <p:ext uri="{BB962C8B-B14F-4D97-AF65-F5344CB8AC3E}">
        <p14:creationId xmlns:p14="http://schemas.microsoft.com/office/powerpoint/2010/main" val="918700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【Ⅰ</a:t>
            </a:r>
            <a:r>
              <a:rPr lang="ja-JP" altLang="en-US" dirty="0" smtClean="0"/>
              <a:t>：分析</a:t>
            </a:r>
            <a:r>
              <a:rPr lang="en-US" altLang="ja-JP" dirty="0" smtClean="0"/>
              <a:t>】</a:t>
            </a:r>
            <a:r>
              <a:rPr lang="ja-JP" altLang="en-US" dirty="0" smtClean="0"/>
              <a:t>　</a:t>
            </a:r>
            <a:r>
              <a:rPr lang="en-US" altLang="ja-JP" dirty="0" smtClean="0"/>
              <a:t>20</a:t>
            </a:r>
            <a:r>
              <a:rPr lang="ja-JP" altLang="en-US" dirty="0" smtClean="0"/>
              <a:t>分</a:t>
            </a:r>
            <a:endParaRPr kumimoji="1" lang="ja-JP" altLang="en-US" dirty="0"/>
          </a:p>
        </p:txBody>
      </p:sp>
      <p:sp>
        <p:nvSpPr>
          <p:cNvPr id="3" name="コンテンツ プレースホルダー 2"/>
          <p:cNvSpPr>
            <a:spLocks noGrp="1"/>
          </p:cNvSpPr>
          <p:nvPr>
            <p:ph idx="1"/>
          </p:nvPr>
        </p:nvSpPr>
        <p:spPr/>
        <p:txBody>
          <a:bodyPr/>
          <a:lstStyle/>
          <a:p>
            <a:pPr>
              <a:lnSpc>
                <a:spcPct val="100000"/>
              </a:lnSpc>
            </a:pPr>
            <a:r>
              <a:rPr lang="ja-JP" altLang="en-US" sz="2100" dirty="0" smtClean="0"/>
              <a:t>優先度の高い処理６つと関係する案件を複数選択する</a:t>
            </a:r>
            <a:endParaRPr lang="en-US" altLang="ja-JP" sz="2100" dirty="0" smtClean="0"/>
          </a:p>
          <a:p>
            <a:pPr>
              <a:lnSpc>
                <a:spcPct val="100000"/>
              </a:lnSpc>
            </a:pPr>
            <a:endParaRPr lang="en-US" altLang="ja-JP" sz="2100" dirty="0" smtClean="0"/>
          </a:p>
          <a:p>
            <a:pPr>
              <a:lnSpc>
                <a:spcPct val="100000"/>
              </a:lnSpc>
            </a:pPr>
            <a:r>
              <a:rPr lang="ja-JP" altLang="en-US" sz="2100" dirty="0" smtClean="0"/>
              <a:t>選択順</a:t>
            </a:r>
          </a:p>
          <a:p>
            <a:pPr lvl="1">
              <a:lnSpc>
                <a:spcPct val="100000"/>
              </a:lnSpc>
            </a:pPr>
            <a:endParaRPr lang="en-US" altLang="ja-JP" sz="1700" dirty="0" smtClean="0"/>
          </a:p>
          <a:p>
            <a:pPr>
              <a:lnSpc>
                <a:spcPct val="100000"/>
              </a:lnSpc>
            </a:pPr>
            <a:endParaRPr kumimoji="1" lang="ja-JP" altLang="en-US" dirty="0"/>
          </a:p>
        </p:txBody>
      </p:sp>
    </p:spTree>
    <p:extLst>
      <p:ext uri="{BB962C8B-B14F-4D97-AF65-F5344CB8AC3E}">
        <p14:creationId xmlns:p14="http://schemas.microsoft.com/office/powerpoint/2010/main" val="2637699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【Ⅰ</a:t>
            </a:r>
            <a:r>
              <a:rPr lang="ja-JP" altLang="en-US" dirty="0" smtClean="0"/>
              <a:t>：分析</a:t>
            </a:r>
            <a:r>
              <a:rPr lang="en-US" altLang="ja-JP" dirty="0" smtClean="0"/>
              <a:t>】</a:t>
            </a:r>
            <a:r>
              <a:rPr lang="ja-JP" altLang="en-US" dirty="0" smtClean="0"/>
              <a:t>　</a:t>
            </a:r>
            <a:r>
              <a:rPr lang="en-US" altLang="ja-JP" dirty="0" smtClean="0"/>
              <a:t>20</a:t>
            </a:r>
            <a:r>
              <a:rPr lang="ja-JP" altLang="en-US" dirty="0" smtClean="0"/>
              <a:t>分</a:t>
            </a:r>
            <a:endParaRPr kumimoji="1" lang="ja-JP" altLang="en-US" dirty="0"/>
          </a:p>
        </p:txBody>
      </p:sp>
      <p:sp>
        <p:nvSpPr>
          <p:cNvPr id="3" name="コンテンツ プレースホルダー 2"/>
          <p:cNvSpPr>
            <a:spLocks noGrp="1"/>
          </p:cNvSpPr>
          <p:nvPr>
            <p:ph idx="1"/>
          </p:nvPr>
        </p:nvSpPr>
        <p:spPr/>
        <p:txBody>
          <a:bodyPr>
            <a:noAutofit/>
          </a:bodyPr>
          <a:lstStyle/>
          <a:p>
            <a:pPr>
              <a:lnSpc>
                <a:spcPct val="100000"/>
              </a:lnSpc>
              <a:buFont typeface="+mj-lt"/>
              <a:buAutoNum type="arabicPeriod"/>
            </a:pPr>
            <a:r>
              <a:rPr kumimoji="1" lang="ja-JP" altLang="en-US" sz="1000" dirty="0" smtClean="0"/>
              <a:t>大学との共同研究の参加可否の返事</a:t>
            </a:r>
            <a:endParaRPr lang="en-US" altLang="ja-JP" sz="1000" dirty="0"/>
          </a:p>
          <a:p>
            <a:pPr>
              <a:lnSpc>
                <a:spcPct val="100000"/>
              </a:lnSpc>
              <a:buFont typeface="+mj-lt"/>
              <a:buAutoNum type="arabicPeriod"/>
            </a:pPr>
            <a:r>
              <a:rPr kumimoji="1" lang="en-US" altLang="ja-JP" sz="1000" dirty="0" smtClean="0"/>
              <a:t>AI</a:t>
            </a:r>
            <a:r>
              <a:rPr kumimoji="1" lang="ja-JP" altLang="en-US" sz="1000" dirty="0" smtClean="0"/>
              <a:t>ベンダーを見積もる</a:t>
            </a:r>
            <a:endParaRPr kumimoji="1" lang="en-US" altLang="ja-JP" sz="1000" dirty="0" smtClean="0"/>
          </a:p>
          <a:p>
            <a:pPr>
              <a:lnSpc>
                <a:spcPct val="100000"/>
              </a:lnSpc>
              <a:buFont typeface="+mj-lt"/>
              <a:buAutoNum type="arabicPeriod"/>
            </a:pPr>
            <a:r>
              <a:rPr lang="en-US" altLang="ja-JP" sz="1000" dirty="0" smtClean="0"/>
              <a:t>AI</a:t>
            </a:r>
            <a:r>
              <a:rPr lang="ja-JP" altLang="en-US" sz="1000" dirty="0" smtClean="0"/>
              <a:t>のプロセスを検討する</a:t>
            </a:r>
            <a:endParaRPr lang="en-US" altLang="ja-JP" sz="1000" dirty="0" smtClean="0"/>
          </a:p>
          <a:p>
            <a:pPr>
              <a:lnSpc>
                <a:spcPct val="100000"/>
              </a:lnSpc>
              <a:buFont typeface="+mj-lt"/>
              <a:buAutoNum type="arabicPeriod"/>
            </a:pPr>
            <a:r>
              <a:rPr lang="ja-JP" altLang="en-US" sz="1000" dirty="0" smtClean="0"/>
              <a:t>飲料３の金属の味について調査</a:t>
            </a:r>
            <a:endParaRPr lang="en-US" altLang="ja-JP" sz="1000" dirty="0" smtClean="0"/>
          </a:p>
          <a:p>
            <a:pPr>
              <a:lnSpc>
                <a:spcPct val="100000"/>
              </a:lnSpc>
              <a:buFont typeface="+mj-lt"/>
              <a:buAutoNum type="arabicPeriod"/>
            </a:pPr>
            <a:r>
              <a:rPr lang="ja-JP" altLang="en-US" sz="1000" dirty="0" smtClean="0"/>
              <a:t>飲料７のなんか</a:t>
            </a:r>
            <a:endParaRPr lang="en-US" altLang="ja-JP" sz="1000" dirty="0" smtClean="0"/>
          </a:p>
          <a:p>
            <a:pPr>
              <a:lnSpc>
                <a:spcPct val="100000"/>
              </a:lnSpc>
              <a:buFont typeface="+mj-lt"/>
              <a:buAutoNum type="arabicPeriod"/>
            </a:pPr>
            <a:r>
              <a:rPr lang="ja-JP" altLang="en-US" sz="1000" dirty="0" smtClean="0"/>
              <a:t>飲料９のなんか</a:t>
            </a:r>
            <a:endParaRPr lang="en-US" altLang="ja-JP" sz="1000" dirty="0" smtClean="0"/>
          </a:p>
          <a:p>
            <a:pPr>
              <a:lnSpc>
                <a:spcPct val="100000"/>
              </a:lnSpc>
              <a:buFont typeface="+mj-lt"/>
              <a:buAutoNum type="arabicPeriod"/>
            </a:pPr>
            <a:r>
              <a:rPr lang="ja-JP" altLang="en-US" sz="1000" dirty="0" smtClean="0"/>
              <a:t>飲料１の売り上げが悪いからリニューアルを検討する</a:t>
            </a:r>
            <a:endParaRPr lang="en-US" altLang="ja-JP" sz="1000" dirty="0" smtClean="0"/>
          </a:p>
          <a:p>
            <a:pPr>
              <a:lnSpc>
                <a:spcPct val="100000"/>
              </a:lnSpc>
              <a:buFont typeface="+mj-lt"/>
              <a:buAutoNum type="arabicPeriod"/>
            </a:pPr>
            <a:r>
              <a:rPr lang="en-US" altLang="ja-JP" sz="1000" dirty="0" smtClean="0"/>
              <a:t>SNS</a:t>
            </a:r>
            <a:r>
              <a:rPr lang="ja-JP" altLang="en-US" sz="1000" dirty="0" smtClean="0"/>
              <a:t>炎上案件</a:t>
            </a:r>
            <a:endParaRPr lang="en-US" altLang="ja-JP" sz="1000" dirty="0" smtClean="0"/>
          </a:p>
          <a:p>
            <a:pPr>
              <a:lnSpc>
                <a:spcPct val="100000"/>
              </a:lnSpc>
              <a:buFont typeface="+mj-lt"/>
              <a:buAutoNum type="arabicPeriod"/>
            </a:pPr>
            <a:r>
              <a:rPr lang="ja-JP" altLang="en-US" sz="1000" dirty="0" smtClean="0"/>
              <a:t>厚生労働省の規制が変わったことについて、現状への影響と対応を考える</a:t>
            </a:r>
            <a:endParaRPr lang="en-US" altLang="ja-JP" sz="1000" dirty="0" smtClean="0"/>
          </a:p>
          <a:p>
            <a:pPr>
              <a:lnSpc>
                <a:spcPct val="100000"/>
              </a:lnSpc>
              <a:buFont typeface="+mj-lt"/>
              <a:buAutoNum type="arabicPeriod"/>
            </a:pPr>
            <a:r>
              <a:rPr lang="ja-JP" altLang="en-US" sz="1000" dirty="0" smtClean="0"/>
              <a:t>飲料５の味について顧客に確認する</a:t>
            </a:r>
            <a:endParaRPr lang="en-US" altLang="ja-JP" sz="1000" dirty="0" smtClean="0"/>
          </a:p>
          <a:p>
            <a:pPr>
              <a:lnSpc>
                <a:spcPct val="100000"/>
              </a:lnSpc>
              <a:buFont typeface="+mj-lt"/>
              <a:buAutoNum type="arabicPeriod"/>
            </a:pPr>
            <a:r>
              <a:rPr lang="ja-JP" altLang="en-US" sz="1000" dirty="0" smtClean="0"/>
              <a:t>後輩に過去のインターンについて聞く</a:t>
            </a:r>
            <a:endParaRPr lang="en-US" altLang="ja-JP" sz="1000" dirty="0" smtClean="0"/>
          </a:p>
          <a:p>
            <a:pPr>
              <a:lnSpc>
                <a:spcPct val="100000"/>
              </a:lnSpc>
              <a:buFont typeface="+mj-lt"/>
              <a:buAutoNum type="arabicPeriod"/>
            </a:pPr>
            <a:r>
              <a:rPr lang="ja-JP" altLang="en-US" sz="1000" dirty="0" smtClean="0"/>
              <a:t>サイトの</a:t>
            </a:r>
            <a:r>
              <a:rPr lang="en-US" altLang="ja-JP" sz="1000" dirty="0" smtClean="0"/>
              <a:t>UI</a:t>
            </a:r>
            <a:r>
              <a:rPr lang="ja-JP" altLang="en-US" sz="1000" dirty="0" smtClean="0"/>
              <a:t>周りの検討</a:t>
            </a:r>
            <a:endParaRPr lang="en-US" altLang="ja-JP" sz="1000" dirty="0" smtClean="0"/>
          </a:p>
          <a:p>
            <a:pPr>
              <a:lnSpc>
                <a:spcPct val="100000"/>
              </a:lnSpc>
              <a:buFont typeface="+mj-lt"/>
              <a:buAutoNum type="arabicPeriod"/>
            </a:pPr>
            <a:r>
              <a:rPr lang="ja-JP" altLang="en-US" sz="1000" dirty="0" smtClean="0"/>
              <a:t>海外向け高付加価値健康飲料</a:t>
            </a:r>
            <a:endParaRPr lang="en-US" altLang="ja-JP" sz="1000" dirty="0" smtClean="0"/>
          </a:p>
          <a:p>
            <a:pPr>
              <a:lnSpc>
                <a:spcPct val="100000"/>
              </a:lnSpc>
              <a:buFont typeface="+mj-lt"/>
              <a:buAutoNum type="arabicPeriod"/>
            </a:pPr>
            <a:r>
              <a:rPr lang="ja-JP" altLang="en-US" sz="1000" dirty="0"/>
              <a:t>何</a:t>
            </a:r>
            <a:r>
              <a:rPr lang="ja-JP" altLang="en-US" sz="1000" dirty="0" smtClean="0"/>
              <a:t>とか策定会議</a:t>
            </a:r>
            <a:endParaRPr lang="en-US" altLang="ja-JP" sz="1000" dirty="0" smtClean="0"/>
          </a:p>
          <a:p>
            <a:pPr>
              <a:lnSpc>
                <a:spcPct val="100000"/>
              </a:lnSpc>
              <a:buFont typeface="+mj-lt"/>
              <a:buAutoNum type="arabicPeriod"/>
            </a:pPr>
            <a:r>
              <a:rPr lang="ja-JP" altLang="en-US" sz="1000" dirty="0" smtClean="0"/>
              <a:t>飲料８の原材料を別経路で確保できないか</a:t>
            </a:r>
            <a:endParaRPr lang="en-US" altLang="ja-JP" sz="1000" dirty="0" smtClean="0"/>
          </a:p>
        </p:txBody>
      </p:sp>
    </p:spTree>
    <p:extLst>
      <p:ext uri="{BB962C8B-B14F-4D97-AF65-F5344CB8AC3E}">
        <p14:creationId xmlns:p14="http://schemas.microsoft.com/office/powerpoint/2010/main" val="1805976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【Ⅱ</a:t>
            </a:r>
            <a:r>
              <a:rPr lang="ja-JP" altLang="en-US" dirty="0" smtClean="0"/>
              <a:t>：判断</a:t>
            </a:r>
            <a:r>
              <a:rPr lang="en-US" altLang="ja-JP" dirty="0" smtClean="0"/>
              <a:t>】</a:t>
            </a:r>
            <a:r>
              <a:rPr kumimoji="1" lang="en-US" altLang="ja-JP" dirty="0" smtClean="0"/>
              <a:t>15</a:t>
            </a:r>
            <a:r>
              <a:rPr kumimoji="1" lang="ja-JP" altLang="en-US" dirty="0" smtClean="0"/>
              <a:t>分</a:t>
            </a:r>
            <a:endParaRPr kumimoji="1" lang="ja-JP" altLang="en-US" dirty="0"/>
          </a:p>
        </p:txBody>
      </p:sp>
      <p:sp>
        <p:nvSpPr>
          <p:cNvPr id="3" name="コンテンツ プレースホルダー 2"/>
          <p:cNvSpPr>
            <a:spLocks noGrp="1"/>
          </p:cNvSpPr>
          <p:nvPr>
            <p:ph idx="1"/>
          </p:nvPr>
        </p:nvSpPr>
        <p:spPr>
          <a:xfrm>
            <a:off x="838200" y="1825625"/>
            <a:ext cx="10515600" cy="4777398"/>
          </a:xfrm>
        </p:spPr>
        <p:txBody>
          <a:bodyPr>
            <a:normAutofit fontScale="85000" lnSpcReduction="20000"/>
          </a:bodyPr>
          <a:lstStyle/>
          <a:p>
            <a:pPr>
              <a:lnSpc>
                <a:spcPct val="120000"/>
              </a:lnSpc>
            </a:pPr>
            <a:r>
              <a:rPr lang="en-US" altLang="ja-JP" dirty="0"/>
              <a:t>3</a:t>
            </a:r>
            <a:r>
              <a:rPr lang="ja-JP" altLang="en-US" dirty="0" err="1"/>
              <a:t>つの</a:t>
            </a:r>
            <a:r>
              <a:rPr lang="ja-JP" altLang="en-US" dirty="0"/>
              <a:t>課題が提示され、この課題に対してそれぞれＡ</a:t>
            </a:r>
            <a:r>
              <a:rPr lang="ja-JP" altLang="en-US" dirty="0" smtClean="0"/>
              <a:t>依頼者（選択肢</a:t>
            </a:r>
            <a:r>
              <a:rPr lang="en-US" altLang="ja-JP" dirty="0" smtClean="0"/>
              <a:t>6</a:t>
            </a:r>
            <a:r>
              <a:rPr lang="ja-JP" altLang="en-US" dirty="0"/>
              <a:t>個</a:t>
            </a:r>
            <a:r>
              <a:rPr lang="ja-JP" altLang="en-US" dirty="0" smtClean="0"/>
              <a:t>）と</a:t>
            </a:r>
            <a:r>
              <a:rPr lang="ja-JP" altLang="en-US" dirty="0"/>
              <a:t>Ｂ</a:t>
            </a:r>
            <a:r>
              <a:rPr lang="ja-JP" altLang="en-US" dirty="0" smtClean="0"/>
              <a:t>処理（選択肢</a:t>
            </a:r>
            <a:r>
              <a:rPr lang="en-US" altLang="ja-JP" dirty="0" smtClean="0"/>
              <a:t>8</a:t>
            </a:r>
            <a:r>
              <a:rPr lang="ja-JP" altLang="en-US" dirty="0" smtClean="0"/>
              <a:t>個？）の</a:t>
            </a:r>
            <a:r>
              <a:rPr lang="ja-JP" altLang="en-US" dirty="0"/>
              <a:t>選択肢が与えられる</a:t>
            </a:r>
            <a:endParaRPr lang="en-US" altLang="ja-JP" dirty="0"/>
          </a:p>
          <a:p>
            <a:pPr>
              <a:lnSpc>
                <a:spcPct val="120000"/>
              </a:lnSpc>
            </a:pPr>
            <a:r>
              <a:rPr lang="ja-JP" altLang="en-US" dirty="0"/>
              <a:t>それぞれの課題に対して、優先すべき３つの処理とその処理への依頼者を組合せ選択する</a:t>
            </a:r>
            <a:endParaRPr lang="en-US" altLang="ja-JP" dirty="0"/>
          </a:p>
          <a:p>
            <a:pPr>
              <a:lnSpc>
                <a:spcPct val="120000"/>
              </a:lnSpc>
            </a:pPr>
            <a:r>
              <a:rPr lang="ja-JP" altLang="en-US" dirty="0"/>
              <a:t>判断の材料は</a:t>
            </a:r>
            <a:r>
              <a:rPr lang="en-US" altLang="ja-JP" dirty="0"/>
              <a:t>18</a:t>
            </a:r>
            <a:r>
              <a:rPr lang="ja-JP" altLang="en-US" dirty="0"/>
              <a:t>の案件や手引きに記載の状況設定</a:t>
            </a:r>
            <a:endParaRPr lang="en-US" altLang="ja-JP" dirty="0"/>
          </a:p>
          <a:p>
            <a:pPr>
              <a:lnSpc>
                <a:spcPct val="120000"/>
              </a:lnSpc>
            </a:pPr>
            <a:endParaRPr kumimoji="1" lang="en-US" altLang="ja-JP" dirty="0" smtClean="0"/>
          </a:p>
          <a:p>
            <a:pPr>
              <a:lnSpc>
                <a:spcPct val="120000"/>
              </a:lnSpc>
            </a:pPr>
            <a:r>
              <a:rPr lang="ja-JP" altLang="en-US" dirty="0"/>
              <a:t>内容</a:t>
            </a:r>
            <a:endParaRPr kumimoji="1" lang="en-US" altLang="ja-JP" dirty="0" smtClean="0"/>
          </a:p>
          <a:p>
            <a:pPr lvl="1">
              <a:lnSpc>
                <a:spcPct val="120000"/>
              </a:lnSpc>
            </a:pPr>
            <a:r>
              <a:rPr lang="ja-JP" altLang="en-US" dirty="0" smtClean="0"/>
              <a:t>香港への進出の進め方</a:t>
            </a:r>
            <a:endParaRPr lang="en-US" altLang="ja-JP" dirty="0" smtClean="0"/>
          </a:p>
          <a:p>
            <a:pPr lvl="2">
              <a:lnSpc>
                <a:spcPct val="120000"/>
              </a:lnSpc>
            </a:pPr>
            <a:r>
              <a:rPr kumimoji="1" lang="ja-JP" altLang="en-US" dirty="0" smtClean="0"/>
              <a:t>物流</a:t>
            </a:r>
            <a:r>
              <a:rPr lang="ja-JP" altLang="en-US" dirty="0" smtClean="0"/>
              <a:t>の販路を検討する</a:t>
            </a:r>
            <a:endParaRPr kumimoji="1" lang="en-US" altLang="ja-JP" dirty="0" smtClean="0"/>
          </a:p>
          <a:p>
            <a:pPr lvl="1">
              <a:lnSpc>
                <a:spcPct val="120000"/>
              </a:lnSpc>
            </a:pPr>
            <a:r>
              <a:rPr lang="ja-JP" altLang="en-US" dirty="0" smtClean="0"/>
              <a:t>タイ工場のデモによる原材料の不足に対する対応</a:t>
            </a:r>
            <a:endParaRPr lang="en-US" altLang="ja-JP" dirty="0" smtClean="0"/>
          </a:p>
          <a:p>
            <a:pPr lvl="1">
              <a:lnSpc>
                <a:spcPct val="120000"/>
              </a:lnSpc>
            </a:pPr>
            <a:r>
              <a:rPr kumimoji="1" lang="ja-JP" altLang="en-US" dirty="0" smtClean="0"/>
              <a:t>飲料</a:t>
            </a:r>
            <a:r>
              <a:rPr kumimoji="1" lang="en-US" altLang="ja-JP" dirty="0" smtClean="0"/>
              <a:t>01</a:t>
            </a:r>
            <a:r>
              <a:rPr kumimoji="1" lang="ja-JP" altLang="en-US" dirty="0" smtClean="0"/>
              <a:t>のリニューアルについて</a:t>
            </a:r>
            <a:endParaRPr kumimoji="1" lang="ja-JP" altLang="en-US" dirty="0"/>
          </a:p>
        </p:txBody>
      </p:sp>
    </p:spTree>
    <p:extLst>
      <p:ext uri="{BB962C8B-B14F-4D97-AF65-F5344CB8AC3E}">
        <p14:creationId xmlns:p14="http://schemas.microsoft.com/office/powerpoint/2010/main" val="280766054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996</Words>
  <Application>Microsoft Office PowerPoint</Application>
  <PresentationFormat>ワイド画面</PresentationFormat>
  <Paragraphs>113</Paragraphs>
  <Slides>8</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游ゴシック</vt:lpstr>
      <vt:lpstr>游ゴシック Light</vt:lpstr>
      <vt:lpstr>Arial</vt:lpstr>
      <vt:lpstr>Office テーマ</vt:lpstr>
      <vt:lpstr>G3試験ログ</vt:lpstr>
      <vt:lpstr>論文　150分</vt:lpstr>
      <vt:lpstr>インバスケット</vt:lpstr>
      <vt:lpstr>インバスケット状況設定</vt:lpstr>
      <vt:lpstr>インバスケット案件</vt:lpstr>
      <vt:lpstr>【Ⅰ：分析】　20分</vt:lpstr>
      <vt:lpstr>【Ⅰ：分析】　20分</vt:lpstr>
      <vt:lpstr>【Ⅱ：判断】15分</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113012</dc:creator>
  <cp:lastModifiedBy>111671</cp:lastModifiedBy>
  <cp:revision>39</cp:revision>
  <dcterms:created xsi:type="dcterms:W3CDTF">2020-09-07T00:53:19Z</dcterms:created>
  <dcterms:modified xsi:type="dcterms:W3CDTF">2021-10-25T07:33:51Z</dcterms:modified>
</cp:coreProperties>
</file>