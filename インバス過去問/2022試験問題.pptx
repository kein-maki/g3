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8" d="100"/>
          <a:sy n="158" d="100"/>
        </p:scale>
        <p:origin x="79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182DBF41-FC39-44E5-9932-8016F786C933}" type="datetimeFigureOut">
              <a:rPr kumimoji="1" lang="ja-JP" altLang="en-US" smtClean="0"/>
              <a:t>2023/7/27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196733F-2549-4EF5-9DCD-C54DFF41A1FF}" type="slidenum">
              <a:rPr kumimoji="1" lang="ja-JP" altLang="en-US" smtClean="0"/>
              <a:t>‹#›</a:t>
            </a:fld>
            <a:endParaRPr kumimoji="1" lang="ja-JP" altLang="en-US"/>
          </a:p>
        </p:txBody>
      </p:sp>
    </p:spTree>
    <p:extLst>
      <p:ext uri="{BB962C8B-B14F-4D97-AF65-F5344CB8AC3E}">
        <p14:creationId xmlns:p14="http://schemas.microsoft.com/office/powerpoint/2010/main" val="281623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182DBF41-FC39-44E5-9932-8016F786C933}" type="datetimeFigureOut">
              <a:rPr kumimoji="1" lang="ja-JP" altLang="en-US" smtClean="0"/>
              <a:t>2023/7/27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196733F-2549-4EF5-9DCD-C54DFF41A1FF}" type="slidenum">
              <a:rPr kumimoji="1" lang="ja-JP" altLang="en-US" smtClean="0"/>
              <a:t>‹#›</a:t>
            </a:fld>
            <a:endParaRPr kumimoji="1" lang="ja-JP" altLang="en-US"/>
          </a:p>
        </p:txBody>
      </p:sp>
    </p:spTree>
    <p:extLst>
      <p:ext uri="{BB962C8B-B14F-4D97-AF65-F5344CB8AC3E}">
        <p14:creationId xmlns:p14="http://schemas.microsoft.com/office/powerpoint/2010/main" val="1158942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182DBF41-FC39-44E5-9932-8016F786C933}" type="datetimeFigureOut">
              <a:rPr kumimoji="1" lang="ja-JP" altLang="en-US" smtClean="0"/>
              <a:t>2023/7/27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196733F-2549-4EF5-9DCD-C54DFF41A1FF}" type="slidenum">
              <a:rPr kumimoji="1" lang="ja-JP" altLang="en-US" smtClean="0"/>
              <a:t>‹#›</a:t>
            </a:fld>
            <a:endParaRPr kumimoji="1" lang="ja-JP" altLang="en-US"/>
          </a:p>
        </p:txBody>
      </p:sp>
    </p:spTree>
    <p:extLst>
      <p:ext uri="{BB962C8B-B14F-4D97-AF65-F5344CB8AC3E}">
        <p14:creationId xmlns:p14="http://schemas.microsoft.com/office/powerpoint/2010/main" val="748481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182DBF41-FC39-44E5-9932-8016F786C933}" type="datetimeFigureOut">
              <a:rPr kumimoji="1" lang="ja-JP" altLang="en-US" smtClean="0"/>
              <a:t>2023/7/27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7196733F-2549-4EF5-9DCD-C54DFF41A1FF}" type="slidenum">
              <a:rPr kumimoji="1" lang="ja-JP" altLang="en-US" smtClean="0"/>
              <a:t>‹#›</a:t>
            </a:fld>
            <a:endParaRPr kumimoji="1" lang="ja-JP" altLang="en-US"/>
          </a:p>
        </p:txBody>
      </p:sp>
    </p:spTree>
    <p:extLst>
      <p:ext uri="{BB962C8B-B14F-4D97-AF65-F5344CB8AC3E}">
        <p14:creationId xmlns:p14="http://schemas.microsoft.com/office/powerpoint/2010/main" val="221089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182DBF41-FC39-44E5-9932-8016F786C933}" type="datetimeFigureOut">
              <a:rPr kumimoji="1" lang="ja-JP" altLang="en-US" smtClean="0"/>
              <a:t>2023/7/27</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7196733F-2549-4EF5-9DCD-C54DFF41A1FF}" type="slidenum">
              <a:rPr kumimoji="1" lang="ja-JP" altLang="en-US" smtClean="0"/>
              <a:t>‹#›</a:t>
            </a:fld>
            <a:endParaRPr kumimoji="1" lang="ja-JP" altLang="en-US"/>
          </a:p>
        </p:txBody>
      </p:sp>
    </p:spTree>
    <p:extLst>
      <p:ext uri="{BB962C8B-B14F-4D97-AF65-F5344CB8AC3E}">
        <p14:creationId xmlns:p14="http://schemas.microsoft.com/office/powerpoint/2010/main" val="3687509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182DBF41-FC39-44E5-9932-8016F786C933}" type="datetimeFigureOut">
              <a:rPr kumimoji="1" lang="ja-JP" altLang="en-US" smtClean="0"/>
              <a:t>2023/7/27</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7196733F-2549-4EF5-9DCD-C54DFF41A1FF}" type="slidenum">
              <a:rPr kumimoji="1" lang="ja-JP" altLang="en-US" smtClean="0"/>
              <a:t>‹#›</a:t>
            </a:fld>
            <a:endParaRPr kumimoji="1" lang="ja-JP" altLang="en-US"/>
          </a:p>
        </p:txBody>
      </p:sp>
    </p:spTree>
    <p:extLst>
      <p:ext uri="{BB962C8B-B14F-4D97-AF65-F5344CB8AC3E}">
        <p14:creationId xmlns:p14="http://schemas.microsoft.com/office/powerpoint/2010/main" val="2991641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182DBF41-FC39-44E5-9932-8016F786C933}" type="datetimeFigureOut">
              <a:rPr kumimoji="1" lang="ja-JP" altLang="en-US" smtClean="0"/>
              <a:t>2023/7/27</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7196733F-2549-4EF5-9DCD-C54DFF41A1FF}" type="slidenum">
              <a:rPr kumimoji="1" lang="ja-JP" altLang="en-US" smtClean="0"/>
              <a:t>‹#›</a:t>
            </a:fld>
            <a:endParaRPr kumimoji="1" lang="ja-JP" altLang="en-US"/>
          </a:p>
        </p:txBody>
      </p:sp>
    </p:spTree>
    <p:extLst>
      <p:ext uri="{BB962C8B-B14F-4D97-AF65-F5344CB8AC3E}">
        <p14:creationId xmlns:p14="http://schemas.microsoft.com/office/powerpoint/2010/main" val="2922605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182DBF41-FC39-44E5-9932-8016F786C933}" type="datetimeFigureOut">
              <a:rPr kumimoji="1" lang="ja-JP" altLang="en-US" smtClean="0"/>
              <a:t>2023/7/27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7196733F-2549-4EF5-9DCD-C54DFF41A1FF}" type="slidenum">
              <a:rPr kumimoji="1" lang="ja-JP" altLang="en-US" smtClean="0"/>
              <a:t>‹#›</a:t>
            </a:fld>
            <a:endParaRPr kumimoji="1" lang="ja-JP" altLang="en-US"/>
          </a:p>
        </p:txBody>
      </p:sp>
    </p:spTree>
    <p:extLst>
      <p:ext uri="{BB962C8B-B14F-4D97-AF65-F5344CB8AC3E}">
        <p14:creationId xmlns:p14="http://schemas.microsoft.com/office/powerpoint/2010/main" val="3022596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182DBF41-FC39-44E5-9932-8016F786C933}" type="datetimeFigureOut">
              <a:rPr kumimoji="1" lang="ja-JP" altLang="en-US" smtClean="0"/>
              <a:t>2023/7/27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7196733F-2549-4EF5-9DCD-C54DFF41A1FF}" type="slidenum">
              <a:rPr kumimoji="1" lang="ja-JP" altLang="en-US" smtClean="0"/>
              <a:t>‹#›</a:t>
            </a:fld>
            <a:endParaRPr kumimoji="1" lang="ja-JP" altLang="en-US"/>
          </a:p>
        </p:txBody>
      </p:sp>
    </p:spTree>
    <p:extLst>
      <p:ext uri="{BB962C8B-B14F-4D97-AF65-F5344CB8AC3E}">
        <p14:creationId xmlns:p14="http://schemas.microsoft.com/office/powerpoint/2010/main" val="3760583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182DBF41-FC39-44E5-9932-8016F786C933}" type="datetimeFigureOut">
              <a:rPr kumimoji="1" lang="ja-JP" altLang="en-US" smtClean="0"/>
              <a:t>2023/7/27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196733F-2549-4EF5-9DCD-C54DFF41A1FF}" type="slidenum">
              <a:rPr kumimoji="1" lang="ja-JP" altLang="en-US" smtClean="0"/>
              <a:t>‹#›</a:t>
            </a:fld>
            <a:endParaRPr kumimoji="1" lang="ja-JP" altLang="en-US"/>
          </a:p>
        </p:txBody>
      </p:sp>
    </p:spTree>
    <p:extLst>
      <p:ext uri="{BB962C8B-B14F-4D97-AF65-F5344CB8AC3E}">
        <p14:creationId xmlns:p14="http://schemas.microsoft.com/office/powerpoint/2010/main" val="3202554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182DBF41-FC39-44E5-9932-8016F786C933}" type="datetimeFigureOut">
              <a:rPr kumimoji="1" lang="ja-JP" altLang="en-US" smtClean="0"/>
              <a:t>2023/7/27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196733F-2549-4EF5-9DCD-C54DFF41A1FF}" type="slidenum">
              <a:rPr kumimoji="1" lang="ja-JP" altLang="en-US" smtClean="0"/>
              <a:t>‹#›</a:t>
            </a:fld>
            <a:endParaRPr kumimoji="1" lang="ja-JP" altLang="en-US"/>
          </a:p>
        </p:txBody>
      </p:sp>
    </p:spTree>
    <p:extLst>
      <p:ext uri="{BB962C8B-B14F-4D97-AF65-F5344CB8AC3E}">
        <p14:creationId xmlns:p14="http://schemas.microsoft.com/office/powerpoint/2010/main" val="1814112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2DBF41-FC39-44E5-9932-8016F786C933}" type="datetimeFigureOut">
              <a:rPr kumimoji="1" lang="ja-JP" altLang="en-US" smtClean="0"/>
              <a:t>2023/7/27</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96733F-2549-4EF5-9DCD-C54DFF41A1FF}" type="slidenum">
              <a:rPr kumimoji="1" lang="ja-JP" altLang="en-US" smtClean="0"/>
              <a:t>‹#›</a:t>
            </a:fld>
            <a:endParaRPr kumimoji="1" lang="ja-JP" altLang="en-US"/>
          </a:p>
        </p:txBody>
      </p:sp>
    </p:spTree>
    <p:extLst>
      <p:ext uri="{BB962C8B-B14F-4D97-AF65-F5344CB8AC3E}">
        <p14:creationId xmlns:p14="http://schemas.microsoft.com/office/powerpoint/2010/main" val="3450333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en-US" altLang="ja-JP" dirty="0" smtClean="0"/>
              <a:t>G3</a:t>
            </a:r>
            <a:r>
              <a:rPr kumimoji="1" lang="ja-JP" altLang="en-US" dirty="0" smtClean="0"/>
              <a:t>試験</a:t>
            </a:r>
            <a:r>
              <a:rPr kumimoji="1" lang="en-US" altLang="ja-JP" dirty="0" smtClean="0"/>
              <a:t>2022</a:t>
            </a:r>
            <a:endParaRPr kumimoji="1" lang="ja-JP" altLang="en-US" dirty="0"/>
          </a:p>
        </p:txBody>
      </p:sp>
      <p:sp>
        <p:nvSpPr>
          <p:cNvPr id="3" name="サブタイトル 2"/>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423249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2022</a:t>
            </a:r>
            <a:r>
              <a:rPr kumimoji="1" lang="ja-JP" altLang="en-US" dirty="0" smtClean="0"/>
              <a:t>論文問題</a:t>
            </a:r>
            <a:endParaRPr kumimoji="1" lang="ja-JP" altLang="en-US" dirty="0"/>
          </a:p>
        </p:txBody>
      </p:sp>
      <p:sp>
        <p:nvSpPr>
          <p:cNvPr id="3" name="コンテンツ プレースホルダー 2"/>
          <p:cNvSpPr>
            <a:spLocks noGrp="1"/>
          </p:cNvSpPr>
          <p:nvPr>
            <p:ph idx="1"/>
          </p:nvPr>
        </p:nvSpPr>
        <p:spPr/>
        <p:txBody>
          <a:bodyPr/>
          <a:lstStyle/>
          <a:p>
            <a:pPr marL="0" indent="0">
              <a:lnSpc>
                <a:spcPct val="100000"/>
              </a:lnSpc>
              <a:buNone/>
            </a:pPr>
            <a:r>
              <a:rPr kumimoji="1" lang="ja-JP" altLang="en-US" dirty="0" smtClean="0"/>
              <a:t>厳しい経営環境の中、キヤノンが競争力を高めるためには、一人ひとりが組織の目標を理解して、仕事の価値を向上させることが求められています。</a:t>
            </a:r>
            <a:endParaRPr kumimoji="1" lang="en-US" altLang="ja-JP" dirty="0" smtClean="0"/>
          </a:p>
          <a:p>
            <a:pPr marL="0" indent="0">
              <a:lnSpc>
                <a:spcPct val="100000"/>
              </a:lnSpc>
              <a:buNone/>
            </a:pPr>
            <a:r>
              <a:rPr lang="ja-JP" altLang="en-US" dirty="0"/>
              <a:t>組織の目標</a:t>
            </a:r>
            <a:r>
              <a:rPr lang="ja-JP" altLang="en-US" dirty="0" smtClean="0"/>
              <a:t>を達成させるために、担当業務の</a:t>
            </a:r>
            <a:r>
              <a:rPr lang="ja-JP" altLang="en-US" dirty="0"/>
              <a:t>価値</a:t>
            </a:r>
            <a:r>
              <a:rPr lang="ja-JP" altLang="en-US" dirty="0" smtClean="0"/>
              <a:t>を明示した上で、あなたの担当業務の価値を向上させる取り組みについて述べなさい。</a:t>
            </a:r>
            <a:endParaRPr kumimoji="1" lang="ja-JP" altLang="en-US" dirty="0"/>
          </a:p>
        </p:txBody>
      </p:sp>
    </p:spTree>
    <p:extLst>
      <p:ext uri="{BB962C8B-B14F-4D97-AF65-F5344CB8AC3E}">
        <p14:creationId xmlns:p14="http://schemas.microsoft.com/office/powerpoint/2010/main" val="1165007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2022</a:t>
            </a:r>
            <a:r>
              <a:rPr kumimoji="1" lang="ja-JP" altLang="en-US" dirty="0" smtClean="0"/>
              <a:t>インバスケット問題</a:t>
            </a:r>
            <a:endParaRPr kumimoji="1" lang="ja-JP" altLang="en-US" dirty="0"/>
          </a:p>
        </p:txBody>
      </p:sp>
      <p:sp>
        <p:nvSpPr>
          <p:cNvPr id="3" name="コンテンツ プレースホルダー 2"/>
          <p:cNvSpPr>
            <a:spLocks noGrp="1"/>
          </p:cNvSpPr>
          <p:nvPr>
            <p:ph idx="1"/>
          </p:nvPr>
        </p:nvSpPr>
        <p:spPr/>
        <p:txBody>
          <a:bodyPr>
            <a:normAutofit fontScale="62500" lnSpcReduction="20000"/>
          </a:bodyPr>
          <a:lstStyle/>
          <a:p>
            <a:pPr>
              <a:lnSpc>
                <a:spcPct val="120000"/>
              </a:lnSpc>
            </a:pPr>
            <a:r>
              <a:rPr kumimoji="1" lang="ja-JP" altLang="en-US" dirty="0" smtClean="0"/>
              <a:t>設定</a:t>
            </a:r>
            <a:endParaRPr kumimoji="1" lang="en-US" altLang="ja-JP" dirty="0" smtClean="0"/>
          </a:p>
          <a:p>
            <a:pPr lvl="1">
              <a:lnSpc>
                <a:spcPct val="120000"/>
              </a:lnSpc>
            </a:pPr>
            <a:r>
              <a:rPr lang="ja-JP" altLang="en-US" dirty="0" smtClean="0"/>
              <a:t>会社：アパレル、安くて良い商品、国内</a:t>
            </a:r>
            <a:r>
              <a:rPr lang="en-US" altLang="ja-JP" dirty="0" smtClean="0"/>
              <a:t>2</a:t>
            </a:r>
            <a:r>
              <a:rPr lang="ja-JP" altLang="en-US" dirty="0" smtClean="0"/>
              <a:t>位</a:t>
            </a:r>
            <a:endParaRPr lang="en-US" altLang="ja-JP" dirty="0" smtClean="0"/>
          </a:p>
          <a:p>
            <a:pPr lvl="1">
              <a:lnSpc>
                <a:spcPct val="120000"/>
              </a:lnSpc>
            </a:pPr>
            <a:r>
              <a:rPr lang="ja-JP" altLang="en-US" dirty="0" smtClean="0"/>
              <a:t>主人公：商品企画のプロジェクト管理</a:t>
            </a:r>
            <a:endParaRPr lang="en-US" altLang="ja-JP" dirty="0" smtClean="0"/>
          </a:p>
          <a:p>
            <a:pPr lvl="1">
              <a:lnSpc>
                <a:spcPct val="120000"/>
              </a:lnSpc>
            </a:pPr>
            <a:r>
              <a:rPr lang="ja-JP" altLang="en-US" dirty="0" smtClean="0"/>
              <a:t>状況：</a:t>
            </a:r>
            <a:r>
              <a:rPr lang="en-US" altLang="ja-JP" dirty="0" smtClean="0"/>
              <a:t>10</a:t>
            </a:r>
            <a:r>
              <a:rPr lang="ja-JP" altLang="en-US" dirty="0" smtClean="0"/>
              <a:t>日休み明けの</a:t>
            </a:r>
            <a:r>
              <a:rPr lang="en-US" altLang="ja-JP" dirty="0" smtClean="0"/>
              <a:t>8/22</a:t>
            </a:r>
            <a:r>
              <a:rPr lang="ja-JP" altLang="en-US" dirty="0"/>
              <a:t> </a:t>
            </a:r>
            <a:r>
              <a:rPr lang="ja-JP" altLang="en-US" dirty="0" smtClean="0"/>
              <a:t>朝</a:t>
            </a:r>
            <a:r>
              <a:rPr lang="en-US" altLang="ja-JP" dirty="0" smtClean="0"/>
              <a:t>10</a:t>
            </a:r>
            <a:r>
              <a:rPr lang="ja-JP" altLang="en-US" dirty="0" smtClean="0"/>
              <a:t>時、明日から夏季休暇</a:t>
            </a:r>
            <a:endParaRPr lang="en-US" altLang="ja-JP" dirty="0" smtClean="0"/>
          </a:p>
          <a:p>
            <a:pPr>
              <a:lnSpc>
                <a:spcPct val="120000"/>
              </a:lnSpc>
            </a:pPr>
            <a:r>
              <a:rPr lang="ja-JP" altLang="en-US" dirty="0" smtClean="0"/>
              <a:t>商品販売までの仕事分担</a:t>
            </a:r>
            <a:endParaRPr lang="en-US" altLang="ja-JP" dirty="0" smtClean="0"/>
          </a:p>
          <a:p>
            <a:pPr lvl="1">
              <a:lnSpc>
                <a:spcPct val="120000"/>
              </a:lnSpc>
            </a:pPr>
            <a:r>
              <a:rPr lang="ja-JP" altLang="en-US" dirty="0" smtClean="0"/>
              <a:t>商品企画部とマーケティング部：市場調査～試作品作成まで</a:t>
            </a:r>
            <a:endParaRPr lang="en-US" altLang="ja-JP" dirty="0" smtClean="0"/>
          </a:p>
          <a:p>
            <a:pPr lvl="1">
              <a:lnSpc>
                <a:spcPct val="120000"/>
              </a:lnSpc>
            </a:pPr>
            <a:r>
              <a:rPr lang="ja-JP" altLang="en-US" dirty="0"/>
              <a:t>生産</a:t>
            </a:r>
            <a:r>
              <a:rPr lang="ja-JP" altLang="en-US" dirty="0" smtClean="0"/>
              <a:t>管理部：生産スケジュールを決める</a:t>
            </a:r>
            <a:endParaRPr lang="en-US" altLang="ja-JP" dirty="0" smtClean="0"/>
          </a:p>
          <a:p>
            <a:pPr lvl="1">
              <a:lnSpc>
                <a:spcPct val="120000"/>
              </a:lnSpc>
            </a:pPr>
            <a:r>
              <a:rPr lang="ja-JP" altLang="en-US" dirty="0" smtClean="0"/>
              <a:t>調達部：材料調達</a:t>
            </a:r>
            <a:endParaRPr lang="en-US" altLang="ja-JP" dirty="0" smtClean="0"/>
          </a:p>
          <a:p>
            <a:pPr lvl="1">
              <a:lnSpc>
                <a:spcPct val="120000"/>
              </a:lnSpc>
            </a:pPr>
            <a:r>
              <a:rPr kumimoji="1" lang="ja-JP" altLang="en-US" dirty="0" smtClean="0"/>
              <a:t>生産部：生産</a:t>
            </a:r>
            <a:endParaRPr kumimoji="1" lang="en-US" altLang="ja-JP" dirty="0" smtClean="0"/>
          </a:p>
          <a:p>
            <a:pPr lvl="1">
              <a:lnSpc>
                <a:spcPct val="120000"/>
              </a:lnSpc>
            </a:pPr>
            <a:r>
              <a:rPr lang="ja-JP" altLang="en-US" dirty="0"/>
              <a:t>品質</a:t>
            </a:r>
            <a:r>
              <a:rPr lang="ja-JP" altLang="en-US" dirty="0" smtClean="0"/>
              <a:t>保証部：品質確認</a:t>
            </a:r>
            <a:endParaRPr lang="en-US" altLang="ja-JP" dirty="0" smtClean="0"/>
          </a:p>
          <a:p>
            <a:pPr lvl="1">
              <a:lnSpc>
                <a:spcPct val="120000"/>
              </a:lnSpc>
            </a:pPr>
            <a:r>
              <a:rPr kumimoji="1" lang="ja-JP" altLang="en-US" dirty="0" smtClean="0"/>
              <a:t>マーケティング部：広告、</a:t>
            </a:r>
            <a:r>
              <a:rPr kumimoji="1" lang="en-US" altLang="ja-JP" dirty="0" smtClean="0"/>
              <a:t>SNS</a:t>
            </a:r>
          </a:p>
          <a:p>
            <a:pPr lvl="1">
              <a:lnSpc>
                <a:spcPct val="120000"/>
              </a:lnSpc>
            </a:pPr>
            <a:r>
              <a:rPr lang="ja-JP" altLang="en-US" dirty="0" smtClean="0"/>
              <a:t>販売部：販売管理</a:t>
            </a:r>
            <a:endParaRPr lang="en-US" altLang="ja-JP" dirty="0" smtClean="0"/>
          </a:p>
          <a:p>
            <a:pPr lvl="1">
              <a:lnSpc>
                <a:spcPct val="120000"/>
              </a:lnSpc>
            </a:pPr>
            <a:r>
              <a:rPr lang="ja-JP" altLang="en-US" dirty="0" smtClean="0"/>
              <a:t>カスタマーセンターと商品企画部：クレームを受ける</a:t>
            </a:r>
            <a:endParaRPr lang="en-US" altLang="ja-JP" dirty="0" smtClean="0"/>
          </a:p>
          <a:p>
            <a:pPr lvl="1">
              <a:lnSpc>
                <a:spcPct val="120000"/>
              </a:lnSpc>
            </a:pPr>
            <a:endParaRPr kumimoji="1" lang="ja-JP" altLang="en-US" dirty="0"/>
          </a:p>
        </p:txBody>
      </p:sp>
    </p:spTree>
    <p:extLst>
      <p:ext uri="{BB962C8B-B14F-4D97-AF65-F5344CB8AC3E}">
        <p14:creationId xmlns:p14="http://schemas.microsoft.com/office/powerpoint/2010/main" val="316322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859446"/>
          </a:xfrm>
        </p:spPr>
        <p:txBody>
          <a:bodyPr/>
          <a:lstStyle/>
          <a:p>
            <a:r>
              <a:rPr kumimoji="1" lang="ja-JP" altLang="en-US" dirty="0" smtClean="0"/>
              <a:t>問</a:t>
            </a:r>
            <a:r>
              <a:rPr kumimoji="1" lang="en-US" altLang="ja-JP" dirty="0" smtClean="0"/>
              <a:t>1</a:t>
            </a:r>
            <a:r>
              <a:rPr kumimoji="1" lang="ja-JP" altLang="en-US" dirty="0" smtClean="0"/>
              <a:t>：分析</a:t>
            </a:r>
            <a:endParaRPr kumimoji="1" lang="ja-JP" altLang="en-US" dirty="0"/>
          </a:p>
        </p:txBody>
      </p:sp>
      <p:sp>
        <p:nvSpPr>
          <p:cNvPr id="3" name="コンテンツ プレースホルダー 2"/>
          <p:cNvSpPr>
            <a:spLocks noGrp="1"/>
          </p:cNvSpPr>
          <p:nvPr>
            <p:ph idx="1"/>
          </p:nvPr>
        </p:nvSpPr>
        <p:spPr/>
        <p:txBody>
          <a:bodyPr>
            <a:normAutofit fontScale="47500" lnSpcReduction="20000"/>
          </a:bodyPr>
          <a:lstStyle/>
          <a:p>
            <a:pPr marL="0" indent="0">
              <a:lnSpc>
                <a:spcPct val="120000"/>
              </a:lnSpc>
              <a:buNone/>
            </a:pPr>
            <a:r>
              <a:rPr lang="ja-JP" altLang="en-US" dirty="0" smtClean="0"/>
              <a:t>選択肢</a:t>
            </a:r>
            <a:endParaRPr kumimoji="1" lang="en-US" altLang="ja-JP" dirty="0" smtClean="0"/>
          </a:p>
          <a:p>
            <a:pPr marL="514350" indent="-514350">
              <a:lnSpc>
                <a:spcPct val="120000"/>
              </a:lnSpc>
              <a:buFont typeface="+mj-lt"/>
              <a:buAutoNum type="arabicPeriod"/>
            </a:pPr>
            <a:r>
              <a:rPr lang="ja-JP" altLang="en-US" dirty="0" smtClean="0"/>
              <a:t>衣服</a:t>
            </a:r>
            <a:r>
              <a:rPr lang="en-US" altLang="ja-JP" dirty="0" smtClean="0"/>
              <a:t>A</a:t>
            </a:r>
            <a:r>
              <a:rPr lang="ja-JP" altLang="en-US" dirty="0" smtClean="0"/>
              <a:t>に異物（金属片）混入→製品の不備としてリコール対応することが決定</a:t>
            </a:r>
            <a:endParaRPr lang="en-US" altLang="ja-JP" dirty="0" smtClean="0"/>
          </a:p>
          <a:p>
            <a:pPr marL="514350" indent="-514350">
              <a:lnSpc>
                <a:spcPct val="120000"/>
              </a:lnSpc>
              <a:buFont typeface="+mj-lt"/>
              <a:buAutoNum type="arabicPeriod"/>
            </a:pPr>
            <a:r>
              <a:rPr lang="ja-JP" altLang="en-US" dirty="0" smtClean="0"/>
              <a:t>情勢</a:t>
            </a:r>
            <a:r>
              <a:rPr lang="ja-JP" altLang="en-US" dirty="0"/>
              <a:t>悪化に</a:t>
            </a:r>
            <a:r>
              <a:rPr lang="ja-JP" altLang="en-US" dirty="0" smtClean="0"/>
              <a:t>より工場が停止</a:t>
            </a:r>
            <a:endParaRPr lang="en-US" altLang="ja-JP" dirty="0" smtClean="0"/>
          </a:p>
          <a:p>
            <a:pPr marL="514350" indent="-514350">
              <a:lnSpc>
                <a:spcPct val="120000"/>
              </a:lnSpc>
              <a:buFont typeface="+mj-lt"/>
              <a:buAutoNum type="arabicPeriod"/>
            </a:pPr>
            <a:r>
              <a:rPr lang="ja-JP" altLang="en-US" dirty="0" smtClean="0"/>
              <a:t>原材料費の高騰</a:t>
            </a:r>
            <a:endParaRPr lang="en-US" altLang="ja-JP" dirty="0" smtClean="0"/>
          </a:p>
          <a:p>
            <a:pPr marL="514350" indent="-514350">
              <a:lnSpc>
                <a:spcPct val="120000"/>
              </a:lnSpc>
              <a:buFont typeface="+mj-lt"/>
              <a:buAutoNum type="arabicPeriod"/>
            </a:pPr>
            <a:r>
              <a:rPr kumimoji="1" lang="ja-JP" altLang="en-US" dirty="0" smtClean="0"/>
              <a:t>衣服</a:t>
            </a:r>
            <a:r>
              <a:rPr kumimoji="1" lang="en-US" altLang="ja-JP" dirty="0" smtClean="0"/>
              <a:t>B</a:t>
            </a:r>
            <a:r>
              <a:rPr kumimoji="1" lang="ja-JP" altLang="en-US" dirty="0" smtClean="0"/>
              <a:t>の実物と写真で色のイメージが違うというクレーム</a:t>
            </a:r>
            <a:endParaRPr lang="en-US" altLang="ja-JP" dirty="0" smtClean="0"/>
          </a:p>
          <a:p>
            <a:pPr marL="514350" indent="-514350">
              <a:lnSpc>
                <a:spcPct val="120000"/>
              </a:lnSpc>
              <a:buFont typeface="+mj-lt"/>
              <a:buAutoNum type="arabicPeriod"/>
            </a:pPr>
            <a:r>
              <a:rPr lang="ja-JP" altLang="en-US" dirty="0"/>
              <a:t>他社から「夏季休暇前に打合せをしたい」という</a:t>
            </a:r>
            <a:r>
              <a:rPr lang="ja-JP" altLang="en-US" dirty="0" smtClean="0"/>
              <a:t>メール</a:t>
            </a:r>
            <a:endParaRPr kumimoji="1" lang="en-US" altLang="ja-JP" dirty="0" smtClean="0"/>
          </a:p>
          <a:p>
            <a:pPr marL="514350" indent="-514350">
              <a:lnSpc>
                <a:spcPct val="120000"/>
              </a:lnSpc>
              <a:buFont typeface="+mj-lt"/>
              <a:buAutoNum type="arabicPeriod"/>
            </a:pPr>
            <a:r>
              <a:rPr lang="ja-JP" altLang="en-US" dirty="0" smtClean="0"/>
              <a:t>衣服</a:t>
            </a:r>
            <a:r>
              <a:rPr lang="en-US" altLang="ja-JP" dirty="0" smtClean="0"/>
              <a:t>C</a:t>
            </a:r>
            <a:r>
              <a:rPr lang="ja-JP" altLang="en-US" dirty="0" smtClean="0"/>
              <a:t>の評判が良かったのでまた一工夫して売りたいという相談（販売タイミング的にすぐに対応が必要）</a:t>
            </a:r>
            <a:endParaRPr lang="en-US" altLang="ja-JP" dirty="0" smtClean="0"/>
          </a:p>
          <a:p>
            <a:pPr marL="514350" indent="-514350">
              <a:lnSpc>
                <a:spcPct val="120000"/>
              </a:lnSpc>
              <a:buFont typeface="+mj-lt"/>
              <a:buAutoNum type="arabicPeriod"/>
            </a:pPr>
            <a:r>
              <a:rPr kumimoji="1" lang="ja-JP" altLang="en-US" dirty="0"/>
              <a:t>販売を</a:t>
            </a:r>
            <a:r>
              <a:rPr kumimoji="1" lang="ja-JP" altLang="en-US" dirty="0" smtClean="0"/>
              <a:t>始めた衣服</a:t>
            </a:r>
            <a:r>
              <a:rPr kumimoji="1" lang="en-US" altLang="ja-JP" dirty="0" smtClean="0"/>
              <a:t>D</a:t>
            </a:r>
            <a:r>
              <a:rPr kumimoji="1" lang="ja-JP" altLang="en-US" dirty="0" smtClean="0"/>
              <a:t>の伸縮性が悪い（実際の対応は来期になる）</a:t>
            </a:r>
            <a:endParaRPr kumimoji="1" lang="en-US" altLang="ja-JP" dirty="0" smtClean="0"/>
          </a:p>
          <a:p>
            <a:pPr marL="514350" indent="-514350">
              <a:lnSpc>
                <a:spcPct val="120000"/>
              </a:lnSpc>
              <a:buFont typeface="+mj-lt"/>
              <a:buAutoNum type="arabicPeriod"/>
            </a:pPr>
            <a:r>
              <a:rPr lang="ja-JP" altLang="en-US" dirty="0" smtClean="0"/>
              <a:t>ユニフォーム</a:t>
            </a:r>
            <a:r>
              <a:rPr lang="ja-JP" altLang="en-US" dirty="0"/>
              <a:t>と</a:t>
            </a:r>
            <a:r>
              <a:rPr lang="ja-JP" altLang="en-US" dirty="0" smtClean="0"/>
              <a:t>して採用したいという依頼</a:t>
            </a:r>
            <a:endParaRPr lang="en-US" altLang="ja-JP" dirty="0" smtClean="0"/>
          </a:p>
          <a:p>
            <a:pPr marL="514350" indent="-514350">
              <a:lnSpc>
                <a:spcPct val="120000"/>
              </a:lnSpc>
              <a:buFont typeface="+mj-lt"/>
              <a:buAutoNum type="arabicPeriod"/>
            </a:pPr>
            <a:r>
              <a:rPr kumimoji="1" lang="ja-JP" altLang="en-US" dirty="0"/>
              <a:t>他社とコラボ</a:t>
            </a:r>
            <a:r>
              <a:rPr kumimoji="1" lang="ja-JP" altLang="en-US" dirty="0" smtClean="0"/>
              <a:t>したトレーナーに関する問い合わせ</a:t>
            </a:r>
            <a:endParaRPr kumimoji="1" lang="en-US" altLang="ja-JP" dirty="0" smtClean="0"/>
          </a:p>
          <a:p>
            <a:pPr marL="514350" indent="-514350">
              <a:lnSpc>
                <a:spcPct val="120000"/>
              </a:lnSpc>
              <a:buFont typeface="+mj-lt"/>
              <a:buAutoNum type="arabicPeriod"/>
            </a:pPr>
            <a:r>
              <a:rPr lang="ja-JP" altLang="en-US" dirty="0" smtClean="0"/>
              <a:t>キャラモノ</a:t>
            </a:r>
            <a:r>
              <a:rPr lang="en-US" altLang="ja-JP" dirty="0" smtClean="0"/>
              <a:t>T</a:t>
            </a:r>
            <a:r>
              <a:rPr lang="ja-JP" altLang="en-US" dirty="0" smtClean="0"/>
              <a:t>シャツが売れているという報告</a:t>
            </a:r>
            <a:endParaRPr lang="en-US" altLang="ja-JP" dirty="0" smtClean="0"/>
          </a:p>
          <a:p>
            <a:pPr marL="514350" indent="-514350">
              <a:lnSpc>
                <a:spcPct val="120000"/>
              </a:lnSpc>
              <a:buFont typeface="+mj-lt"/>
              <a:buAutoNum type="arabicPeriod"/>
            </a:pPr>
            <a:r>
              <a:rPr lang="en-US" altLang="ja-JP" dirty="0" smtClean="0"/>
              <a:t>DX</a:t>
            </a:r>
            <a:r>
              <a:rPr lang="ja-JP" altLang="en-US" dirty="0" smtClean="0"/>
              <a:t>推進活動のメンバーになって欲しいという連絡</a:t>
            </a:r>
            <a:endParaRPr lang="en-US" altLang="ja-JP" dirty="0" smtClean="0"/>
          </a:p>
          <a:p>
            <a:pPr marL="514350" indent="-514350">
              <a:lnSpc>
                <a:spcPct val="120000"/>
              </a:lnSpc>
              <a:buFont typeface="+mj-lt"/>
              <a:buAutoNum type="arabicPeriod"/>
            </a:pPr>
            <a:r>
              <a:rPr kumimoji="1" lang="ja-JP" altLang="en-US" dirty="0" smtClean="0"/>
              <a:t>海外ブランドのコラボ商品について相談したい</a:t>
            </a:r>
            <a:endParaRPr kumimoji="1" lang="ja-JP" altLang="en-US" dirty="0"/>
          </a:p>
        </p:txBody>
      </p:sp>
      <p:cxnSp>
        <p:nvCxnSpPr>
          <p:cNvPr id="6" name="直線コネクタ 5"/>
          <p:cNvCxnSpPr/>
          <p:nvPr/>
        </p:nvCxnSpPr>
        <p:spPr>
          <a:xfrm>
            <a:off x="579258" y="2775099"/>
            <a:ext cx="8568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線コネクタ 6"/>
          <p:cNvCxnSpPr/>
          <p:nvPr/>
        </p:nvCxnSpPr>
        <p:spPr>
          <a:xfrm>
            <a:off x="579258" y="3767346"/>
            <a:ext cx="8568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a:off x="579258" y="4114978"/>
            <a:ext cx="856800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285491" y="2242556"/>
            <a:ext cx="293767" cy="369332"/>
          </a:xfrm>
          <a:prstGeom prst="rect">
            <a:avLst/>
          </a:prstGeom>
          <a:noFill/>
        </p:spPr>
        <p:txBody>
          <a:bodyPr wrap="square" rtlCol="0">
            <a:spAutoFit/>
          </a:bodyPr>
          <a:lstStyle/>
          <a:p>
            <a:r>
              <a:rPr kumimoji="1" lang="en-US" altLang="ja-JP" dirty="0" smtClean="0">
                <a:solidFill>
                  <a:srgbClr val="FF0000"/>
                </a:solidFill>
              </a:rPr>
              <a:t>1</a:t>
            </a:r>
            <a:endParaRPr kumimoji="1" lang="ja-JP" altLang="en-US" dirty="0">
              <a:solidFill>
                <a:srgbClr val="FF0000"/>
              </a:solidFill>
            </a:endParaRPr>
          </a:p>
        </p:txBody>
      </p:sp>
      <p:sp>
        <p:nvSpPr>
          <p:cNvPr id="10" name="テキスト ボックス 9"/>
          <p:cNvSpPr txBox="1"/>
          <p:nvPr/>
        </p:nvSpPr>
        <p:spPr>
          <a:xfrm>
            <a:off x="285491" y="3050383"/>
            <a:ext cx="293767" cy="369332"/>
          </a:xfrm>
          <a:prstGeom prst="rect">
            <a:avLst/>
          </a:prstGeom>
          <a:noFill/>
        </p:spPr>
        <p:txBody>
          <a:bodyPr wrap="square" rtlCol="0">
            <a:spAutoFit/>
          </a:bodyPr>
          <a:lstStyle/>
          <a:p>
            <a:r>
              <a:rPr kumimoji="1" lang="en-US" altLang="ja-JP" dirty="0" smtClean="0">
                <a:solidFill>
                  <a:srgbClr val="FF0000"/>
                </a:solidFill>
              </a:rPr>
              <a:t>2</a:t>
            </a:r>
            <a:endParaRPr kumimoji="1" lang="ja-JP" altLang="en-US" dirty="0">
              <a:solidFill>
                <a:srgbClr val="FF0000"/>
              </a:solidFill>
            </a:endParaRPr>
          </a:p>
        </p:txBody>
      </p:sp>
      <p:sp>
        <p:nvSpPr>
          <p:cNvPr id="11" name="テキスト ボックス 10"/>
          <p:cNvSpPr txBox="1"/>
          <p:nvPr/>
        </p:nvSpPr>
        <p:spPr>
          <a:xfrm>
            <a:off x="285491" y="3745646"/>
            <a:ext cx="293767" cy="369332"/>
          </a:xfrm>
          <a:prstGeom prst="rect">
            <a:avLst/>
          </a:prstGeom>
          <a:noFill/>
        </p:spPr>
        <p:txBody>
          <a:bodyPr wrap="square" rtlCol="0">
            <a:spAutoFit/>
          </a:bodyPr>
          <a:lstStyle/>
          <a:p>
            <a:r>
              <a:rPr kumimoji="1" lang="en-US" altLang="ja-JP" dirty="0" smtClean="0">
                <a:solidFill>
                  <a:srgbClr val="FF0000"/>
                </a:solidFill>
              </a:rPr>
              <a:t>3</a:t>
            </a:r>
            <a:endParaRPr kumimoji="1" lang="ja-JP" altLang="en-US" dirty="0">
              <a:solidFill>
                <a:srgbClr val="FF0000"/>
              </a:solidFill>
            </a:endParaRPr>
          </a:p>
        </p:txBody>
      </p:sp>
      <p:sp>
        <p:nvSpPr>
          <p:cNvPr id="4" name="テキスト ボックス 3"/>
          <p:cNvSpPr txBox="1"/>
          <p:nvPr/>
        </p:nvSpPr>
        <p:spPr>
          <a:xfrm>
            <a:off x="809667" y="1413896"/>
            <a:ext cx="8511574" cy="366566"/>
          </a:xfrm>
          <a:prstGeom prst="rect">
            <a:avLst/>
          </a:prstGeom>
          <a:noFill/>
        </p:spPr>
        <p:txBody>
          <a:bodyPr wrap="square" rtlCol="0">
            <a:spAutoFit/>
          </a:bodyPr>
          <a:lstStyle/>
          <a:p>
            <a:r>
              <a:rPr lang="ja-JP" altLang="en-US" dirty="0"/>
              <a:t>重要</a:t>
            </a:r>
            <a:r>
              <a:rPr lang="ja-JP" altLang="en-US" dirty="0" smtClean="0"/>
              <a:t>な選択肢を重要度順に６つ選び、関係する案件番号を入れる</a:t>
            </a:r>
            <a:endParaRPr kumimoji="1" lang="ja-JP" altLang="en-US" dirty="0"/>
          </a:p>
        </p:txBody>
      </p:sp>
      <p:sp>
        <p:nvSpPr>
          <p:cNvPr id="5" name="テキスト ボックス 4"/>
          <p:cNvSpPr txBox="1"/>
          <p:nvPr/>
        </p:nvSpPr>
        <p:spPr>
          <a:xfrm>
            <a:off x="116817" y="6246126"/>
            <a:ext cx="2262158" cy="369332"/>
          </a:xfrm>
          <a:prstGeom prst="rect">
            <a:avLst/>
          </a:prstGeom>
          <a:noFill/>
        </p:spPr>
        <p:txBody>
          <a:bodyPr wrap="none" rtlCol="0">
            <a:spAutoFit/>
          </a:bodyPr>
          <a:lstStyle/>
          <a:p>
            <a:r>
              <a:rPr kumimoji="1" lang="ja-JP" altLang="en-US" dirty="0" smtClean="0"/>
              <a:t>自分の選んだ選択肢</a:t>
            </a:r>
            <a:endParaRPr kumimoji="1" lang="ja-JP" altLang="en-US" dirty="0"/>
          </a:p>
        </p:txBody>
      </p:sp>
      <p:cxnSp>
        <p:nvCxnSpPr>
          <p:cNvPr id="13" name="直線矢印コネクタ 12"/>
          <p:cNvCxnSpPr/>
          <p:nvPr/>
        </p:nvCxnSpPr>
        <p:spPr>
          <a:xfrm flipV="1">
            <a:off x="432374" y="4213491"/>
            <a:ext cx="0" cy="2008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65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815136"/>
          </a:xfrm>
        </p:spPr>
        <p:txBody>
          <a:bodyPr/>
          <a:lstStyle/>
          <a:p>
            <a:r>
              <a:rPr kumimoji="1" lang="ja-JP" altLang="en-US" dirty="0" smtClean="0"/>
              <a:t>問２：判断</a:t>
            </a:r>
            <a:endParaRPr kumimoji="1" lang="ja-JP" altLang="en-US" dirty="0"/>
          </a:p>
        </p:txBody>
      </p:sp>
      <p:sp>
        <p:nvSpPr>
          <p:cNvPr id="3" name="コンテンツ プレースホルダー 2"/>
          <p:cNvSpPr>
            <a:spLocks noGrp="1"/>
          </p:cNvSpPr>
          <p:nvPr>
            <p:ph idx="1"/>
          </p:nvPr>
        </p:nvSpPr>
        <p:spPr>
          <a:xfrm>
            <a:off x="838200" y="1490432"/>
            <a:ext cx="10515600" cy="5132899"/>
          </a:xfrm>
        </p:spPr>
        <p:txBody>
          <a:bodyPr>
            <a:normAutofit fontScale="47500" lnSpcReduction="20000"/>
          </a:bodyPr>
          <a:lstStyle/>
          <a:p>
            <a:pPr marL="0" indent="0">
              <a:lnSpc>
                <a:spcPct val="120000"/>
              </a:lnSpc>
              <a:buNone/>
            </a:pPr>
            <a:r>
              <a:rPr kumimoji="1" lang="ja-JP" altLang="en-US" dirty="0" smtClean="0"/>
              <a:t>それぞれの課題に対して、７つの選択肢の中から３つの対応</a:t>
            </a:r>
            <a:r>
              <a:rPr lang="ja-JP" altLang="en-US" dirty="0" smtClean="0"/>
              <a:t>と、それぞれ</a:t>
            </a:r>
            <a:r>
              <a:rPr kumimoji="1" lang="ja-JP" altLang="en-US" dirty="0" smtClean="0"/>
              <a:t>誰に依頼するかを選ぶ</a:t>
            </a:r>
            <a:endParaRPr kumimoji="1" lang="en-US" altLang="ja-JP" dirty="0" smtClean="0"/>
          </a:p>
          <a:p>
            <a:pPr marL="514350" indent="-514350">
              <a:lnSpc>
                <a:spcPct val="120000"/>
              </a:lnSpc>
              <a:buFont typeface="+mj-lt"/>
              <a:buAutoNum type="arabicPeriod"/>
            </a:pPr>
            <a:r>
              <a:rPr kumimoji="1" lang="ja-JP" altLang="en-US" dirty="0" smtClean="0"/>
              <a:t>異物混入衣服のリコール対応</a:t>
            </a:r>
            <a:endParaRPr kumimoji="1" lang="en-US" altLang="ja-JP" dirty="0" smtClean="0"/>
          </a:p>
          <a:p>
            <a:pPr marL="914400" lvl="1" indent="-457200">
              <a:lnSpc>
                <a:spcPct val="120000"/>
              </a:lnSpc>
              <a:buFont typeface="+mj-lt"/>
              <a:buAutoNum type="arabicPeriod"/>
            </a:pPr>
            <a:r>
              <a:rPr kumimoji="1" lang="ja-JP" altLang="en-US" dirty="0" smtClean="0"/>
              <a:t>リコールの影響を調べる</a:t>
            </a:r>
            <a:endParaRPr kumimoji="1" lang="en-US" altLang="ja-JP" dirty="0" smtClean="0"/>
          </a:p>
          <a:p>
            <a:pPr marL="914400" lvl="1" indent="-457200">
              <a:lnSpc>
                <a:spcPct val="120000"/>
              </a:lnSpc>
              <a:buFont typeface="+mj-lt"/>
              <a:buAutoNum type="arabicPeriod"/>
            </a:pPr>
            <a:r>
              <a:rPr kumimoji="1" lang="ja-JP" altLang="en-US" dirty="0" smtClean="0"/>
              <a:t>生産計画を確認する</a:t>
            </a:r>
            <a:endParaRPr kumimoji="1" lang="en-US" altLang="ja-JP" dirty="0" smtClean="0"/>
          </a:p>
          <a:p>
            <a:pPr marL="914400" lvl="1" indent="-457200">
              <a:lnSpc>
                <a:spcPct val="120000"/>
              </a:lnSpc>
              <a:buFont typeface="+mj-lt"/>
              <a:buAutoNum type="arabicPeriod"/>
            </a:pPr>
            <a:r>
              <a:rPr lang="ja-JP" altLang="en-US" dirty="0" smtClean="0"/>
              <a:t>他</a:t>
            </a:r>
            <a:r>
              <a:rPr lang="en-US" altLang="ja-JP" dirty="0" smtClean="0"/>
              <a:t>5</a:t>
            </a:r>
            <a:r>
              <a:rPr lang="ja-JP" altLang="en-US" dirty="0" smtClean="0"/>
              <a:t>つ</a:t>
            </a:r>
            <a:endParaRPr kumimoji="1" lang="en-US" altLang="ja-JP" dirty="0" smtClean="0"/>
          </a:p>
          <a:p>
            <a:pPr marL="457200" indent="-457200">
              <a:lnSpc>
                <a:spcPct val="120000"/>
              </a:lnSpc>
              <a:buFont typeface="+mj-lt"/>
              <a:buAutoNum type="arabicPeriod"/>
            </a:pPr>
            <a:r>
              <a:rPr lang="ja-JP" altLang="en-US" dirty="0"/>
              <a:t>原材料費</a:t>
            </a:r>
            <a:r>
              <a:rPr lang="ja-JP" altLang="en-US" dirty="0" smtClean="0"/>
              <a:t>の高騰</a:t>
            </a:r>
            <a:endParaRPr lang="en-US" altLang="ja-JP" dirty="0" smtClean="0"/>
          </a:p>
          <a:p>
            <a:pPr marL="914400" lvl="1" indent="-457200">
              <a:lnSpc>
                <a:spcPct val="120000"/>
              </a:lnSpc>
              <a:buFont typeface="+mj-lt"/>
              <a:buAutoNum type="arabicPeriod"/>
            </a:pPr>
            <a:r>
              <a:rPr kumimoji="1" lang="ja-JP" altLang="en-US" dirty="0" smtClean="0"/>
              <a:t>原材料の残りがどのくらいあるか確認する</a:t>
            </a:r>
            <a:endParaRPr kumimoji="1" lang="en-US" altLang="ja-JP" dirty="0" smtClean="0"/>
          </a:p>
          <a:p>
            <a:pPr marL="914400" lvl="1" indent="-457200">
              <a:lnSpc>
                <a:spcPct val="120000"/>
              </a:lnSpc>
              <a:buFont typeface="+mj-lt"/>
              <a:buAutoNum type="arabicPeriod"/>
            </a:pPr>
            <a:r>
              <a:rPr lang="ja-JP" altLang="en-US" dirty="0"/>
              <a:t>価格</a:t>
            </a:r>
            <a:r>
              <a:rPr lang="ja-JP" altLang="en-US" dirty="0" smtClean="0"/>
              <a:t>がどのぐらい変わるか確認する</a:t>
            </a:r>
            <a:endParaRPr lang="en-US" altLang="ja-JP" dirty="0" smtClean="0"/>
          </a:p>
          <a:p>
            <a:pPr marL="914400" lvl="1" indent="-457200">
              <a:lnSpc>
                <a:spcPct val="120000"/>
              </a:lnSpc>
              <a:buFont typeface="+mj-lt"/>
              <a:buAutoNum type="arabicPeriod"/>
            </a:pPr>
            <a:r>
              <a:rPr kumimoji="1" lang="ja-JP" altLang="en-US" dirty="0"/>
              <a:t>デザイン</a:t>
            </a:r>
            <a:r>
              <a:rPr kumimoji="1" lang="ja-JP" altLang="en-US" dirty="0" smtClean="0"/>
              <a:t>の変更で対応できないか検討する</a:t>
            </a:r>
            <a:endParaRPr kumimoji="1" lang="en-US" altLang="ja-JP" dirty="0" smtClean="0"/>
          </a:p>
          <a:p>
            <a:pPr marL="914400" lvl="1" indent="-457200">
              <a:lnSpc>
                <a:spcPct val="120000"/>
              </a:lnSpc>
              <a:buFont typeface="+mj-lt"/>
              <a:buAutoNum type="arabicPeriod"/>
            </a:pPr>
            <a:r>
              <a:rPr lang="ja-JP" altLang="en-US" dirty="0"/>
              <a:t>製造済み</a:t>
            </a:r>
            <a:r>
              <a:rPr lang="ja-JP" altLang="en-US" dirty="0" smtClean="0"/>
              <a:t>の商品がどれだけあるか確認する</a:t>
            </a:r>
            <a:endParaRPr lang="en-US" altLang="ja-JP" dirty="0" smtClean="0"/>
          </a:p>
          <a:p>
            <a:pPr marL="914400" lvl="1" indent="-457200">
              <a:lnSpc>
                <a:spcPct val="120000"/>
              </a:lnSpc>
              <a:buFont typeface="+mj-lt"/>
              <a:buAutoNum type="arabicPeriod"/>
            </a:pPr>
            <a:r>
              <a:rPr kumimoji="1" lang="ja-JP" altLang="en-US" dirty="0" smtClean="0"/>
              <a:t>別の国から調達できないか確認する</a:t>
            </a:r>
            <a:endParaRPr kumimoji="1" lang="en-US" altLang="ja-JP" dirty="0" smtClean="0"/>
          </a:p>
          <a:p>
            <a:pPr marL="914400" lvl="1" indent="-457200">
              <a:lnSpc>
                <a:spcPct val="120000"/>
              </a:lnSpc>
              <a:buFont typeface="+mj-lt"/>
              <a:buAutoNum type="arabicPeriod"/>
            </a:pPr>
            <a:r>
              <a:rPr lang="ja-JP" altLang="en-US" dirty="0" smtClean="0"/>
              <a:t>同材料を作れる他の工場と打合せをセッティングする</a:t>
            </a:r>
            <a:endParaRPr lang="en-US" altLang="ja-JP" dirty="0" smtClean="0"/>
          </a:p>
          <a:p>
            <a:pPr marL="914400" lvl="1" indent="-457200">
              <a:lnSpc>
                <a:spcPct val="120000"/>
              </a:lnSpc>
              <a:buFont typeface="+mj-lt"/>
              <a:buAutoNum type="arabicPeriod"/>
            </a:pPr>
            <a:r>
              <a:rPr lang="ja-JP" altLang="en-US" dirty="0" smtClean="0"/>
              <a:t>他</a:t>
            </a:r>
            <a:r>
              <a:rPr lang="en-US" altLang="ja-JP" dirty="0" smtClean="0"/>
              <a:t>1</a:t>
            </a:r>
            <a:r>
              <a:rPr lang="ja-JP" altLang="en-US" dirty="0" smtClean="0"/>
              <a:t>つ</a:t>
            </a:r>
            <a:endParaRPr kumimoji="1" lang="en-US" altLang="ja-JP" dirty="0"/>
          </a:p>
          <a:p>
            <a:pPr marL="457200" indent="-457200">
              <a:lnSpc>
                <a:spcPct val="120000"/>
              </a:lnSpc>
              <a:buFont typeface="+mj-lt"/>
              <a:buAutoNum type="arabicPeriod"/>
            </a:pPr>
            <a:r>
              <a:rPr lang="ja-JP" altLang="en-US" dirty="0" smtClean="0"/>
              <a:t>シャツの色がイメージと違うと</a:t>
            </a:r>
            <a:r>
              <a:rPr lang="en-US" altLang="ja-JP" dirty="0" smtClean="0"/>
              <a:t>SNS</a:t>
            </a:r>
            <a:r>
              <a:rPr lang="ja-JP" altLang="en-US" dirty="0" smtClean="0"/>
              <a:t>で評判が悪い</a:t>
            </a:r>
            <a:endParaRPr lang="en-US" altLang="ja-JP" dirty="0" smtClean="0"/>
          </a:p>
          <a:p>
            <a:pPr marL="914400" lvl="1" indent="-457200">
              <a:lnSpc>
                <a:spcPct val="120000"/>
              </a:lnSpc>
              <a:buFont typeface="+mj-lt"/>
              <a:buAutoNum type="arabicPeriod"/>
            </a:pPr>
            <a:r>
              <a:rPr kumimoji="1" lang="ja-JP" altLang="en-US" dirty="0"/>
              <a:t>カスタマーコメント</a:t>
            </a:r>
            <a:r>
              <a:rPr kumimoji="1" lang="ja-JP" altLang="en-US" dirty="0" smtClean="0"/>
              <a:t>を調べる</a:t>
            </a:r>
            <a:endParaRPr kumimoji="1" lang="en-US" altLang="ja-JP" dirty="0" smtClean="0"/>
          </a:p>
          <a:p>
            <a:pPr marL="914400" lvl="1" indent="-457200">
              <a:lnSpc>
                <a:spcPct val="120000"/>
              </a:lnSpc>
              <a:buFont typeface="+mj-lt"/>
              <a:buAutoNum type="arabicPeriod"/>
            </a:pPr>
            <a:r>
              <a:rPr lang="ja-JP" altLang="en-US" dirty="0"/>
              <a:t>特定</a:t>
            </a:r>
            <a:r>
              <a:rPr lang="ja-JP" altLang="en-US" dirty="0" smtClean="0"/>
              <a:t>の条件下で利用されていなかったか確認する</a:t>
            </a:r>
            <a:endParaRPr lang="en-US" altLang="ja-JP" dirty="0" smtClean="0"/>
          </a:p>
          <a:p>
            <a:pPr marL="914400" lvl="1" indent="-457200">
              <a:lnSpc>
                <a:spcPct val="120000"/>
              </a:lnSpc>
              <a:buFont typeface="+mj-lt"/>
              <a:buAutoNum type="arabicPeriod"/>
            </a:pPr>
            <a:r>
              <a:rPr kumimoji="1" lang="ja-JP" altLang="en-US" dirty="0" smtClean="0"/>
              <a:t>流行している世代の社員に聞き取り調査する</a:t>
            </a:r>
            <a:endParaRPr kumimoji="1" lang="en-US" altLang="ja-JP" dirty="0" smtClean="0"/>
          </a:p>
          <a:p>
            <a:pPr marL="914400" lvl="1" indent="-457200">
              <a:lnSpc>
                <a:spcPct val="120000"/>
              </a:lnSpc>
              <a:buFont typeface="+mj-lt"/>
              <a:buAutoNum type="arabicPeriod"/>
            </a:pPr>
            <a:r>
              <a:rPr lang="ja-JP" altLang="en-US" dirty="0"/>
              <a:t>製造上</a:t>
            </a:r>
            <a:r>
              <a:rPr lang="ja-JP" altLang="en-US" dirty="0" smtClean="0"/>
              <a:t>の問題がなかったか確認する</a:t>
            </a:r>
            <a:endParaRPr lang="en-US" altLang="ja-JP" dirty="0" smtClean="0"/>
          </a:p>
          <a:p>
            <a:pPr marL="914400" lvl="1" indent="-457200">
              <a:lnSpc>
                <a:spcPct val="120000"/>
              </a:lnSpc>
              <a:buFont typeface="+mj-lt"/>
              <a:buAutoNum type="arabicPeriod"/>
            </a:pPr>
            <a:r>
              <a:rPr kumimoji="1" lang="ja-JP" altLang="en-US" dirty="0"/>
              <a:t>他社</a:t>
            </a:r>
            <a:r>
              <a:rPr kumimoji="1" lang="ja-JP" altLang="en-US" dirty="0" smtClean="0"/>
              <a:t>の類似品を取り寄せて比較検討する</a:t>
            </a:r>
            <a:endParaRPr kumimoji="1" lang="en-US" altLang="ja-JP" dirty="0" smtClean="0"/>
          </a:p>
          <a:p>
            <a:pPr marL="914400" lvl="1" indent="-457200">
              <a:lnSpc>
                <a:spcPct val="120000"/>
              </a:lnSpc>
              <a:buFont typeface="+mj-lt"/>
              <a:buAutoNum type="arabicPeriod"/>
            </a:pPr>
            <a:r>
              <a:rPr lang="ja-JP" altLang="en-US" dirty="0" smtClean="0"/>
              <a:t>他</a:t>
            </a:r>
            <a:r>
              <a:rPr lang="en-US" altLang="ja-JP" dirty="0"/>
              <a:t>2</a:t>
            </a:r>
            <a:r>
              <a:rPr lang="ja-JP" altLang="en-US" dirty="0" smtClean="0"/>
              <a:t>つ</a:t>
            </a:r>
            <a:endParaRPr lang="en-US" altLang="ja-JP" dirty="0"/>
          </a:p>
        </p:txBody>
      </p:sp>
    </p:spTree>
    <p:extLst>
      <p:ext uri="{BB962C8B-B14F-4D97-AF65-F5344CB8AC3E}">
        <p14:creationId xmlns:p14="http://schemas.microsoft.com/office/powerpoint/2010/main" val="70817010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506</Words>
  <Application>Microsoft Office PowerPoint</Application>
  <PresentationFormat>ワイド画面</PresentationFormat>
  <Paragraphs>58</Paragraphs>
  <Slides>5</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5</vt:i4>
      </vt:variant>
    </vt:vector>
  </HeadingPairs>
  <TitlesOfParts>
    <vt:vector size="9" baseType="lpstr">
      <vt:lpstr>游ゴシック</vt:lpstr>
      <vt:lpstr>游ゴシック Light</vt:lpstr>
      <vt:lpstr>Arial</vt:lpstr>
      <vt:lpstr>Office テーマ</vt:lpstr>
      <vt:lpstr>G3試験2022</vt:lpstr>
      <vt:lpstr>2022論文問題</vt:lpstr>
      <vt:lpstr>2022インバスケット問題</vt:lpstr>
      <vt:lpstr>問1：分析</vt:lpstr>
      <vt:lpstr>問２：判断</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G3試験2022</dc:title>
  <dc:creator>113012</dc:creator>
  <cp:lastModifiedBy>113012</cp:lastModifiedBy>
  <cp:revision>8</cp:revision>
  <dcterms:created xsi:type="dcterms:W3CDTF">2022-09-06T09:35:26Z</dcterms:created>
  <dcterms:modified xsi:type="dcterms:W3CDTF">2023-07-27T08:23:24Z</dcterms:modified>
</cp:coreProperties>
</file>