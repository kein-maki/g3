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56" r:id="rId3"/>
    <p:sldId id="264" r:id="rId4"/>
    <p:sldId id="265" r:id="rId5"/>
    <p:sldId id="266" r:id="rId6"/>
    <p:sldId id="267" r:id="rId7"/>
    <p:sldId id="269" r:id="rId8"/>
    <p:sldId id="268" r:id="rId9"/>
    <p:sldId id="262" r:id="rId10"/>
    <p:sldId id="261" r:id="rId11"/>
    <p:sldId id="263" r:id="rId12"/>
    <p:sldId id="257" r:id="rId13"/>
    <p:sldId id="259" r:id="rId14"/>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1pPr>
    <a:lvl2pPr marL="4572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2pPr>
    <a:lvl3pPr marL="9144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3pPr>
    <a:lvl4pPr marL="13716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4pPr>
    <a:lvl5pPr marL="18288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2" autoAdjust="0"/>
    <p:restoredTop sz="94660"/>
  </p:normalViewPr>
  <p:slideViewPr>
    <p:cSldViewPr snapToGrid="0">
      <p:cViewPr varScale="1">
        <p:scale>
          <a:sx n="121" d="100"/>
          <a:sy n="121" d="100"/>
        </p:scale>
        <p:origin x="21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Arial Narrow" pitchFamily="34" charset="0"/>
              </a:defRPr>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7" name="Rectangle 7"/>
          <p:cNvSpPr>
            <a:spLocks noChangeArrowheads="1"/>
          </p:cNvSpPr>
          <p:nvPr/>
        </p:nvSpPr>
        <p:spPr bwMode="auto">
          <a:xfrm>
            <a:off x="533400" y="642938"/>
            <a:ext cx="8001000" cy="762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latin typeface="Times New Roman" charset="0"/>
            </a:endParaRPr>
          </a:p>
        </p:txBody>
      </p:sp>
      <p:sp>
        <p:nvSpPr>
          <p:cNvPr id="5"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3513037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4" name="Rectangle 7"/>
          <p:cNvSpPr>
            <a:spLocks noChangeArrowheads="1"/>
          </p:cNvSpPr>
          <p:nvPr/>
        </p:nvSpPr>
        <p:spPr bwMode="auto">
          <a:xfrm>
            <a:off x="685800" y="2362200"/>
            <a:ext cx="7772400" cy="1524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ea typeface="MS UI Gothic" pitchFamily="50" charset="-128"/>
            </a:endParaRPr>
          </a:p>
        </p:txBody>
      </p:sp>
      <p:sp>
        <p:nvSpPr>
          <p:cNvPr id="5122" name="Rectangle 2"/>
          <p:cNvSpPr>
            <a:spLocks noGrp="1" noChangeArrowheads="1"/>
          </p:cNvSpPr>
          <p:nvPr>
            <p:ph type="ctrTitle"/>
          </p:nvPr>
        </p:nvSpPr>
        <p:spPr>
          <a:xfrm>
            <a:off x="685800" y="1412776"/>
            <a:ext cx="7772400" cy="949424"/>
          </a:xfrm>
        </p:spPr>
        <p:txBody>
          <a:bodyPr/>
          <a:lstStyle>
            <a:lvl1pPr algn="ctr">
              <a:defRPr sz="3323">
                <a:latin typeface="Arial Narrow" pitchFamily="34" charset="0"/>
              </a:defRPr>
            </a:lvl1pPr>
          </a:lstStyle>
          <a:p>
            <a:r>
              <a:rPr lang="ja-JP" altLang="en-US" smtClean="0"/>
              <a:t>マスター タイトルの書式設定</a:t>
            </a:r>
            <a:endParaRPr lang="ja-JP" altLang="en-US" dirty="0"/>
          </a:p>
        </p:txBody>
      </p:sp>
      <p:sp>
        <p:nvSpPr>
          <p:cNvPr id="5123" name="Rectangle 3"/>
          <p:cNvSpPr>
            <a:spLocks noGrp="1" noChangeArrowheads="1"/>
          </p:cNvSpPr>
          <p:nvPr>
            <p:ph type="subTitle" idx="1"/>
          </p:nvPr>
        </p:nvSpPr>
        <p:spPr>
          <a:xfrm>
            <a:off x="1447800" y="3429000"/>
            <a:ext cx="7010400" cy="1600200"/>
          </a:xfrm>
        </p:spPr>
        <p:txBody>
          <a:bodyPr/>
          <a:lstStyle>
            <a:lvl1pPr marL="0" indent="0" algn="r">
              <a:buFont typeface="Wingdings" pitchFamily="2" charset="2"/>
              <a:buNone/>
              <a:defRPr sz="2585">
                <a:latin typeface="Arial Narrow" pitchFamily="34" charset="0"/>
              </a:defRPr>
            </a:lvl1pPr>
          </a:lstStyle>
          <a:p>
            <a:r>
              <a:rPr lang="ja-JP" altLang="en-US" smtClean="0"/>
              <a:t>マスター サブタイトルの書式設定</a:t>
            </a:r>
            <a:endParaRPr lang="ja-JP" altLang="en-US" dirty="0"/>
          </a:p>
        </p:txBody>
      </p:sp>
    </p:spTree>
    <p:extLst>
      <p:ext uri="{BB962C8B-B14F-4D97-AF65-F5344CB8AC3E}">
        <p14:creationId xmlns:p14="http://schemas.microsoft.com/office/powerpoint/2010/main" val="8021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dirty="0"/>
          </a:p>
        </p:txBody>
      </p:sp>
      <p:sp>
        <p:nvSpPr>
          <p:cNvPr id="3" name="コンテンツ プレースホルダ 2"/>
          <p:cNvSpPr>
            <a:spLocks noGrp="1"/>
          </p:cNvSpPr>
          <p:nvPr>
            <p:ph sz="half" idx="1"/>
          </p:nvPr>
        </p:nvSpPr>
        <p:spPr>
          <a:xfrm>
            <a:off x="685800" y="990600"/>
            <a:ext cx="3810000" cy="5105400"/>
          </a:xfr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4" name="コンテンツ プレースホルダ 3"/>
          <p:cNvSpPr>
            <a:spLocks noGrp="1"/>
          </p:cNvSpPr>
          <p:nvPr>
            <p:ph sz="half" idx="2"/>
          </p:nvPr>
        </p:nvSpPr>
        <p:spPr>
          <a:xfrm>
            <a:off x="4648200" y="990600"/>
            <a:ext cx="3810000" cy="5105400"/>
          </a:xfr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8" name="Rectangle 7"/>
          <p:cNvSpPr>
            <a:spLocks noChangeArrowheads="1"/>
          </p:cNvSpPr>
          <p:nvPr/>
        </p:nvSpPr>
        <p:spPr bwMode="auto">
          <a:xfrm>
            <a:off x="533400" y="642938"/>
            <a:ext cx="8001000" cy="762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latin typeface="Times New Roman" charset="0"/>
            </a:endParaRPr>
          </a:p>
        </p:txBody>
      </p:sp>
      <p:sp>
        <p:nvSpPr>
          <p:cNvPr id="9"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471573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ja-JP" altLang="en-US" smtClean="0"/>
              <a:t>マスター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6" y="1535113"/>
            <a:ext cx="4041775" cy="639762"/>
          </a:xfr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ja-JP" altLang="en-US" smtClean="0"/>
              <a:t>マスター テキストの書式設定</a:t>
            </a:r>
          </a:p>
        </p:txBody>
      </p:sp>
      <p:sp>
        <p:nvSpPr>
          <p:cNvPr id="6" name="コンテンツ プレースホルダ 5"/>
          <p:cNvSpPr>
            <a:spLocks noGrp="1"/>
          </p:cNvSpPr>
          <p:nvPr>
            <p:ph sz="quarter" idx="4"/>
          </p:nvPr>
        </p:nvSpPr>
        <p:spPr>
          <a:xfrm>
            <a:off x="4645026" y="2174875"/>
            <a:ext cx="4041775" cy="3951288"/>
          </a:xfr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10" name="Rectangle 7"/>
          <p:cNvSpPr>
            <a:spLocks noChangeArrowheads="1"/>
          </p:cNvSpPr>
          <p:nvPr/>
        </p:nvSpPr>
        <p:spPr bwMode="auto">
          <a:xfrm>
            <a:off x="533400" y="642938"/>
            <a:ext cx="8001000" cy="762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latin typeface="Times New Roman" charset="0"/>
            </a:endParaRPr>
          </a:p>
        </p:txBody>
      </p:sp>
      <p:sp>
        <p:nvSpPr>
          <p:cNvPr id="11" name="タイトル 1"/>
          <p:cNvSpPr>
            <a:spLocks noGrp="1"/>
          </p:cNvSpPr>
          <p:nvPr>
            <p:ph type="title"/>
          </p:nvPr>
        </p:nvSpPr>
        <p:spPr>
          <a:xfrm>
            <a:off x="685800" y="71438"/>
            <a:ext cx="7772400" cy="533400"/>
          </a:xfrm>
        </p:spPr>
        <p:txBody>
          <a:bodyPr/>
          <a:lstStyle/>
          <a:p>
            <a:r>
              <a:rPr lang="ja-JP" altLang="en-US" smtClean="0"/>
              <a:t>マスター タイトルの書式設定</a:t>
            </a:r>
            <a:endParaRPr lang="ja-JP" altLang="en-US" dirty="0"/>
          </a:p>
        </p:txBody>
      </p:sp>
      <p:sp>
        <p:nvSpPr>
          <p:cNvPr id="12" name="スライド番号プレースホルダ 3"/>
          <p:cNvSpPr>
            <a:spLocks noGrp="1"/>
          </p:cNvSpPr>
          <p:nvPr>
            <p:ph type="sldNum" sz="quarter" idx="10"/>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1802197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685800" y="71414"/>
            <a:ext cx="7772400" cy="533400"/>
          </a:xfrm>
        </p:spPr>
        <p:txBody>
          <a:bodyPr/>
          <a:lstStyle>
            <a:lvl1pPr algn="l">
              <a:defRPr sz="3692">
                <a:latin typeface="Meiryo UI" pitchFamily="50" charset="-128"/>
                <a:ea typeface="Meiryo UI" pitchFamily="50" charset="-128"/>
                <a:cs typeface="Meiryo UI" pitchFamily="50" charset="-128"/>
              </a:defRPr>
            </a:lvl1pPr>
          </a:lstStyle>
          <a:p>
            <a:r>
              <a:rPr lang="ja-JP" altLang="en-US" smtClean="0"/>
              <a:t>マスター タイトルの書式設定</a:t>
            </a:r>
            <a:endParaRPr lang="ja-JP" altLang="en-US" dirty="0"/>
          </a:p>
        </p:txBody>
      </p:sp>
      <p:sp>
        <p:nvSpPr>
          <p:cNvPr id="3" name="Rectangle 7"/>
          <p:cNvSpPr>
            <a:spLocks noChangeArrowheads="1"/>
          </p:cNvSpPr>
          <p:nvPr/>
        </p:nvSpPr>
        <p:spPr bwMode="auto">
          <a:xfrm>
            <a:off x="533400" y="642938"/>
            <a:ext cx="8001000" cy="762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latin typeface="Times New Roman" charset="0"/>
            </a:endParaRPr>
          </a:p>
        </p:txBody>
      </p:sp>
      <p:sp>
        <p:nvSpPr>
          <p:cNvPr id="4"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227743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2025420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1846" b="1"/>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a:xfrm>
            <a:off x="3575051" y="273052"/>
            <a:ext cx="5111750" cy="5853113"/>
          </a:xfr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4" name="テキスト プレースホルダ 3"/>
          <p:cNvSpPr>
            <a:spLocks noGrp="1"/>
          </p:cNvSpPr>
          <p:nvPr>
            <p:ph type="body" sz="half" idx="2"/>
          </p:nvPr>
        </p:nvSpPr>
        <p:spPr>
          <a:xfrm>
            <a:off x="457200" y="1435102"/>
            <a:ext cx="3008313" cy="4691063"/>
          </a:xfr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ja-JP" altLang="en-US" smtClean="0"/>
              <a:t>マスター テキストの書式設定</a:t>
            </a:r>
          </a:p>
        </p:txBody>
      </p:sp>
      <p:sp>
        <p:nvSpPr>
          <p:cNvPr id="8"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1058989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7" name="Rectangle 7"/>
          <p:cNvSpPr>
            <a:spLocks noChangeArrowheads="1"/>
          </p:cNvSpPr>
          <p:nvPr/>
        </p:nvSpPr>
        <p:spPr bwMode="auto">
          <a:xfrm>
            <a:off x="533400" y="642938"/>
            <a:ext cx="8001000" cy="76200"/>
          </a:xfrm>
          <a:prstGeom prst="rect">
            <a:avLst/>
          </a:prstGeom>
          <a:gradFill rotWithShape="0">
            <a:gsLst>
              <a:gs pos="0">
                <a:srgbClr val="98ADEB"/>
              </a:gs>
              <a:gs pos="100000">
                <a:srgbClr val="003399"/>
              </a:gs>
            </a:gsLst>
            <a:lin ang="5400000" scaled="1"/>
          </a:gradFill>
          <a:ln w="9525">
            <a:noFill/>
            <a:miter lim="800000"/>
            <a:headEnd/>
            <a:tailEnd/>
          </a:ln>
          <a:effectLst/>
        </p:spPr>
        <p:txBody>
          <a:bodyPr wrap="none" anchor="ctr"/>
          <a:lstStyle/>
          <a:p>
            <a:pPr>
              <a:defRPr/>
            </a:pPr>
            <a:endParaRPr lang="ja-JP" altLang="en-US" sz="1662">
              <a:latin typeface="Times New Roman" charset="0"/>
            </a:endParaRPr>
          </a:p>
        </p:txBody>
      </p:sp>
      <p:sp>
        <p:nvSpPr>
          <p:cNvPr id="8"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3888934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228600"/>
            <a:ext cx="1943100" cy="5867400"/>
          </a:xfrm>
        </p:spPr>
        <p:txBody>
          <a:bodyPr vert="eaVert"/>
          <a:lstStyle/>
          <a:p>
            <a:r>
              <a:rPr lang="ja-JP" altLang="en-US" smtClean="0"/>
              <a:t>マスター タイトルの書式設定</a:t>
            </a:r>
            <a:endParaRPr lang="ja-JP" altLang="en-US"/>
          </a:p>
        </p:txBody>
      </p:sp>
      <p:sp>
        <p:nvSpPr>
          <p:cNvPr id="3" name="縦書きテキスト プレースホルダ 2"/>
          <p:cNvSpPr>
            <a:spLocks noGrp="1"/>
          </p:cNvSpPr>
          <p:nvPr>
            <p:ph type="body" orient="vert" idx="1"/>
          </p:nvPr>
        </p:nvSpPr>
        <p:spPr>
          <a:xfrm>
            <a:off x="685800" y="228600"/>
            <a:ext cx="5676900" cy="586740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360372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71438"/>
            <a:ext cx="77724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dirty="0" smtClean="0"/>
              <a:t>マスタ タイトルの書式設定</a:t>
            </a:r>
          </a:p>
        </p:txBody>
      </p:sp>
      <p:sp>
        <p:nvSpPr>
          <p:cNvPr id="1027" name="Rectangle 3"/>
          <p:cNvSpPr>
            <a:spLocks noGrp="1" noChangeArrowheads="1"/>
          </p:cNvSpPr>
          <p:nvPr>
            <p:ph type="body" idx="1"/>
          </p:nvPr>
        </p:nvSpPr>
        <p:spPr bwMode="auto">
          <a:xfrm>
            <a:off x="685800" y="785813"/>
            <a:ext cx="7772400" cy="5857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smtClean="0"/>
              <a:t>マスタ テキストの書式設定</a:t>
            </a:r>
          </a:p>
          <a:p>
            <a:pPr lvl="1"/>
            <a:r>
              <a:rPr lang="ja-JP" altLang="en-US" dirty="0" smtClean="0"/>
              <a:t>第 2 レベル</a:t>
            </a:r>
          </a:p>
          <a:p>
            <a:pPr lvl="2"/>
            <a:r>
              <a:rPr lang="ja-JP" altLang="en-US" dirty="0" smtClean="0"/>
              <a:t>第 3 レベル</a:t>
            </a:r>
          </a:p>
          <a:p>
            <a:pPr lvl="3"/>
            <a:r>
              <a:rPr lang="ja-JP" altLang="en-US" dirty="0" smtClean="0"/>
              <a:t>第 4 レベル</a:t>
            </a:r>
          </a:p>
          <a:p>
            <a:pPr lvl="4"/>
            <a:r>
              <a:rPr lang="ja-JP" altLang="en-US" dirty="0" smtClean="0"/>
              <a:t>第 5 レベル</a:t>
            </a:r>
          </a:p>
        </p:txBody>
      </p:sp>
      <p:sp>
        <p:nvSpPr>
          <p:cNvPr id="4" name="スライド番号プレースホルダ 3"/>
          <p:cNvSpPr>
            <a:spLocks noGrp="1"/>
          </p:cNvSpPr>
          <p:nvPr>
            <p:ph type="sldNum" sz="quarter" idx="4"/>
          </p:nvPr>
        </p:nvSpPr>
        <p:spPr>
          <a:xfrm>
            <a:off x="8568000" y="6525376"/>
            <a:ext cx="504000" cy="288000"/>
          </a:xfrm>
          <a:prstGeom prst="rect">
            <a:avLst/>
          </a:prstGeom>
        </p:spPr>
        <p:txBody>
          <a:bodyPr vert="horz" lIns="91440" tIns="45720" rIns="91440" bIns="45720" rtlCol="0" anchor="ctr"/>
          <a:lstStyle>
            <a:lvl1pPr algn="r">
              <a:defRPr sz="1292">
                <a:solidFill>
                  <a:srgbClr val="003399"/>
                </a:solidFill>
                <a:latin typeface="Arial Narrow" pitchFamily="34" charset="0"/>
              </a:defRPr>
            </a:lvl1pPr>
          </a:lstStyle>
          <a:p>
            <a:fld id="{FCED33D8-4448-4270-8CCC-D29F309F85D6}" type="slidenum">
              <a:rPr kumimoji="1" lang="ja-JP" altLang="en-US" smtClean="0"/>
              <a:t>‹#›</a:t>
            </a:fld>
            <a:endParaRPr kumimoji="1" lang="ja-JP" altLang="en-US"/>
          </a:p>
        </p:txBody>
      </p:sp>
    </p:spTree>
    <p:extLst>
      <p:ext uri="{BB962C8B-B14F-4D97-AF65-F5344CB8AC3E}">
        <p14:creationId xmlns:p14="http://schemas.microsoft.com/office/powerpoint/2010/main" val="18609331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xStyles>
    <p:titleStyle>
      <a:lvl1pPr algn="l" rtl="0" eaLnBrk="1" fontAlgn="base" hangingPunct="1">
        <a:spcBef>
          <a:spcPct val="0"/>
        </a:spcBef>
        <a:spcAft>
          <a:spcPct val="0"/>
        </a:spcAft>
        <a:defRPr kumimoji="1" sz="3692">
          <a:solidFill>
            <a:srgbClr val="003399"/>
          </a:solidFill>
          <a:latin typeface="Meiryo UI" pitchFamily="50" charset="-128"/>
          <a:ea typeface="Meiryo UI" pitchFamily="50" charset="-128"/>
          <a:cs typeface="Meiryo UI" pitchFamily="50" charset="-128"/>
        </a:defRPr>
      </a:lvl1pPr>
      <a:lvl2pPr algn="l" rtl="0" eaLnBrk="1" fontAlgn="base" hangingPunct="1">
        <a:spcBef>
          <a:spcPct val="0"/>
        </a:spcBef>
        <a:spcAft>
          <a:spcPct val="0"/>
        </a:spcAft>
        <a:defRPr kumimoji="1" sz="3692">
          <a:solidFill>
            <a:srgbClr val="003399"/>
          </a:solidFill>
          <a:latin typeface="MS UI Gothic" pitchFamily="50" charset="-128"/>
          <a:ea typeface="MS UI Gothic" pitchFamily="50" charset="-128"/>
        </a:defRPr>
      </a:lvl2pPr>
      <a:lvl3pPr algn="l" rtl="0" eaLnBrk="1" fontAlgn="base" hangingPunct="1">
        <a:spcBef>
          <a:spcPct val="0"/>
        </a:spcBef>
        <a:spcAft>
          <a:spcPct val="0"/>
        </a:spcAft>
        <a:defRPr kumimoji="1" sz="3692">
          <a:solidFill>
            <a:srgbClr val="003399"/>
          </a:solidFill>
          <a:latin typeface="MS UI Gothic" pitchFamily="50" charset="-128"/>
          <a:ea typeface="MS UI Gothic" pitchFamily="50" charset="-128"/>
        </a:defRPr>
      </a:lvl3pPr>
      <a:lvl4pPr algn="l" rtl="0" eaLnBrk="1" fontAlgn="base" hangingPunct="1">
        <a:spcBef>
          <a:spcPct val="0"/>
        </a:spcBef>
        <a:spcAft>
          <a:spcPct val="0"/>
        </a:spcAft>
        <a:defRPr kumimoji="1" sz="3692">
          <a:solidFill>
            <a:srgbClr val="003399"/>
          </a:solidFill>
          <a:latin typeface="MS UI Gothic" pitchFamily="50" charset="-128"/>
          <a:ea typeface="MS UI Gothic" pitchFamily="50" charset="-128"/>
        </a:defRPr>
      </a:lvl4pPr>
      <a:lvl5pPr algn="l" rtl="0" eaLnBrk="1" fontAlgn="base" hangingPunct="1">
        <a:spcBef>
          <a:spcPct val="0"/>
        </a:spcBef>
        <a:spcAft>
          <a:spcPct val="0"/>
        </a:spcAft>
        <a:defRPr kumimoji="1" sz="3692">
          <a:solidFill>
            <a:srgbClr val="003399"/>
          </a:solidFill>
          <a:latin typeface="MS UI Gothic" pitchFamily="50" charset="-128"/>
          <a:ea typeface="MS UI Gothic" pitchFamily="50" charset="-128"/>
        </a:defRPr>
      </a:lvl5pPr>
      <a:lvl6pPr marL="422041" algn="ctr" rtl="0" eaLnBrk="1" fontAlgn="base" hangingPunct="1">
        <a:spcBef>
          <a:spcPct val="0"/>
        </a:spcBef>
        <a:spcAft>
          <a:spcPct val="0"/>
        </a:spcAft>
        <a:defRPr kumimoji="1" sz="4062">
          <a:solidFill>
            <a:srgbClr val="003399"/>
          </a:solidFill>
          <a:latin typeface="Times New Roman" charset="0"/>
          <a:ea typeface="ＭＳ Ｐゴシック" pitchFamily="50" charset="-128"/>
        </a:defRPr>
      </a:lvl6pPr>
      <a:lvl7pPr marL="844083" algn="ctr" rtl="0" eaLnBrk="1" fontAlgn="base" hangingPunct="1">
        <a:spcBef>
          <a:spcPct val="0"/>
        </a:spcBef>
        <a:spcAft>
          <a:spcPct val="0"/>
        </a:spcAft>
        <a:defRPr kumimoji="1" sz="4062">
          <a:solidFill>
            <a:srgbClr val="003399"/>
          </a:solidFill>
          <a:latin typeface="Times New Roman" charset="0"/>
          <a:ea typeface="ＭＳ Ｐゴシック" pitchFamily="50" charset="-128"/>
        </a:defRPr>
      </a:lvl7pPr>
      <a:lvl8pPr marL="1266124" algn="ctr" rtl="0" eaLnBrk="1" fontAlgn="base" hangingPunct="1">
        <a:spcBef>
          <a:spcPct val="0"/>
        </a:spcBef>
        <a:spcAft>
          <a:spcPct val="0"/>
        </a:spcAft>
        <a:defRPr kumimoji="1" sz="4062">
          <a:solidFill>
            <a:srgbClr val="003399"/>
          </a:solidFill>
          <a:latin typeface="Times New Roman" charset="0"/>
          <a:ea typeface="ＭＳ Ｐゴシック" pitchFamily="50" charset="-128"/>
        </a:defRPr>
      </a:lvl8pPr>
      <a:lvl9pPr marL="1688165" algn="ctr" rtl="0" eaLnBrk="1" fontAlgn="base" hangingPunct="1">
        <a:spcBef>
          <a:spcPct val="0"/>
        </a:spcBef>
        <a:spcAft>
          <a:spcPct val="0"/>
        </a:spcAft>
        <a:defRPr kumimoji="1" sz="4062">
          <a:solidFill>
            <a:srgbClr val="003399"/>
          </a:solidFill>
          <a:latin typeface="Times New Roman" charset="0"/>
          <a:ea typeface="ＭＳ Ｐゴシック" pitchFamily="50" charset="-128"/>
        </a:defRPr>
      </a:lvl9pPr>
    </p:titleStyle>
    <p:bodyStyle>
      <a:lvl1pPr marL="316531" indent="-316531" algn="l" rtl="0" eaLnBrk="1" fontAlgn="base" hangingPunct="1">
        <a:spcBef>
          <a:spcPct val="20000"/>
        </a:spcBef>
        <a:spcAft>
          <a:spcPct val="0"/>
        </a:spcAft>
        <a:buFont typeface="Wingdings" pitchFamily="2" charset="2"/>
        <a:buChar char="n"/>
        <a:defRPr kumimoji="1" sz="2400">
          <a:solidFill>
            <a:srgbClr val="003399"/>
          </a:solidFill>
          <a:latin typeface="Meiryo UI" pitchFamily="50" charset="-128"/>
          <a:ea typeface="Meiryo UI" pitchFamily="50" charset="-128"/>
          <a:cs typeface="Meiryo UI" pitchFamily="50" charset="-128"/>
        </a:defRPr>
      </a:lvl1pPr>
      <a:lvl2pPr marL="685817" indent="-263776" algn="l" rtl="0" eaLnBrk="1" fontAlgn="base" hangingPunct="1">
        <a:spcBef>
          <a:spcPct val="20000"/>
        </a:spcBef>
        <a:spcAft>
          <a:spcPct val="0"/>
        </a:spcAft>
        <a:buChar char="–"/>
        <a:defRPr kumimoji="1" sz="2000">
          <a:solidFill>
            <a:srgbClr val="003399"/>
          </a:solidFill>
          <a:latin typeface="Meiryo UI" pitchFamily="50" charset="-128"/>
          <a:ea typeface="Meiryo UI" pitchFamily="50" charset="-128"/>
          <a:cs typeface="Meiryo UI" pitchFamily="50" charset="-128"/>
        </a:defRPr>
      </a:lvl2pPr>
      <a:lvl3pPr marL="1055103" indent="-211021" algn="l" rtl="0" eaLnBrk="1" fontAlgn="base" hangingPunct="1">
        <a:spcBef>
          <a:spcPct val="20000"/>
        </a:spcBef>
        <a:spcAft>
          <a:spcPct val="0"/>
        </a:spcAft>
        <a:buChar char="•"/>
        <a:defRPr kumimoji="1" sz="1800">
          <a:solidFill>
            <a:srgbClr val="003399"/>
          </a:solidFill>
          <a:latin typeface="Meiryo UI" pitchFamily="50" charset="-128"/>
          <a:ea typeface="Meiryo UI" pitchFamily="50" charset="-128"/>
          <a:cs typeface="Meiryo UI" pitchFamily="50" charset="-128"/>
        </a:defRPr>
      </a:lvl3pPr>
      <a:lvl4pPr marL="1477145" indent="-211021" algn="l" rtl="0" eaLnBrk="1" fontAlgn="base" hangingPunct="1">
        <a:spcBef>
          <a:spcPct val="20000"/>
        </a:spcBef>
        <a:spcAft>
          <a:spcPct val="0"/>
        </a:spcAft>
        <a:buChar char="–"/>
        <a:defRPr kumimoji="1" sz="1600">
          <a:solidFill>
            <a:srgbClr val="003399"/>
          </a:solidFill>
          <a:latin typeface="Meiryo UI" pitchFamily="50" charset="-128"/>
          <a:ea typeface="Meiryo UI" pitchFamily="50" charset="-128"/>
          <a:cs typeface="Meiryo UI" pitchFamily="50" charset="-128"/>
        </a:defRPr>
      </a:lvl4pPr>
      <a:lvl5pPr marL="1899186" indent="-211021" algn="l" rtl="0" eaLnBrk="1" fontAlgn="base" hangingPunct="1">
        <a:spcBef>
          <a:spcPct val="20000"/>
        </a:spcBef>
        <a:spcAft>
          <a:spcPct val="0"/>
        </a:spcAft>
        <a:buChar char="»"/>
        <a:defRPr kumimoji="1" sz="1600">
          <a:solidFill>
            <a:srgbClr val="003399"/>
          </a:solidFill>
          <a:latin typeface="Meiryo UI" pitchFamily="50" charset="-128"/>
          <a:ea typeface="Meiryo UI" pitchFamily="50" charset="-128"/>
          <a:cs typeface="Meiryo UI" pitchFamily="50" charset="-128"/>
        </a:defRPr>
      </a:lvl5pPr>
      <a:lvl6pPr marL="2321227" indent="-211021" algn="l" rtl="0" eaLnBrk="1" fontAlgn="base" hangingPunct="1">
        <a:spcBef>
          <a:spcPct val="20000"/>
        </a:spcBef>
        <a:spcAft>
          <a:spcPct val="0"/>
        </a:spcAft>
        <a:buChar char="»"/>
        <a:defRPr kumimoji="1" sz="1846">
          <a:solidFill>
            <a:srgbClr val="003399"/>
          </a:solidFill>
          <a:latin typeface="+mn-lt"/>
          <a:ea typeface="+mn-ea"/>
        </a:defRPr>
      </a:lvl6pPr>
      <a:lvl7pPr marL="2743269" indent="-211021" algn="l" rtl="0" eaLnBrk="1" fontAlgn="base" hangingPunct="1">
        <a:spcBef>
          <a:spcPct val="20000"/>
        </a:spcBef>
        <a:spcAft>
          <a:spcPct val="0"/>
        </a:spcAft>
        <a:buChar char="»"/>
        <a:defRPr kumimoji="1" sz="1846">
          <a:solidFill>
            <a:srgbClr val="003399"/>
          </a:solidFill>
          <a:latin typeface="+mn-lt"/>
          <a:ea typeface="+mn-ea"/>
        </a:defRPr>
      </a:lvl7pPr>
      <a:lvl8pPr marL="3165310" indent="-211021" algn="l" rtl="0" eaLnBrk="1" fontAlgn="base" hangingPunct="1">
        <a:spcBef>
          <a:spcPct val="20000"/>
        </a:spcBef>
        <a:spcAft>
          <a:spcPct val="0"/>
        </a:spcAft>
        <a:buChar char="»"/>
        <a:defRPr kumimoji="1" sz="1846">
          <a:solidFill>
            <a:srgbClr val="003399"/>
          </a:solidFill>
          <a:latin typeface="+mn-lt"/>
          <a:ea typeface="+mn-ea"/>
        </a:defRPr>
      </a:lvl8pPr>
      <a:lvl9pPr marL="3587351" indent="-211021" algn="l" rtl="0" eaLnBrk="1" fontAlgn="base" hangingPunct="1">
        <a:spcBef>
          <a:spcPct val="20000"/>
        </a:spcBef>
        <a:spcAft>
          <a:spcPct val="0"/>
        </a:spcAft>
        <a:buChar char="»"/>
        <a:defRPr kumimoji="1" sz="1846">
          <a:solidFill>
            <a:srgbClr val="003399"/>
          </a:solidFill>
          <a:latin typeface="+mn-lt"/>
          <a:ea typeface="+mn-ea"/>
        </a:defRPr>
      </a:lvl9pPr>
    </p:bodyStyle>
    <p:otherStyle>
      <a:defPPr>
        <a:defRPr lang="ja-JP"/>
      </a:defPPr>
      <a:lvl1pPr marL="0" algn="l" defTabSz="844083" rtl="0" eaLnBrk="1" latinLnBrk="0" hangingPunct="1">
        <a:defRPr kumimoji="1" sz="1662" kern="1200">
          <a:solidFill>
            <a:schemeClr val="tx1"/>
          </a:solidFill>
          <a:latin typeface="+mn-lt"/>
          <a:ea typeface="+mn-ea"/>
          <a:cs typeface="+mn-cs"/>
        </a:defRPr>
      </a:lvl1pPr>
      <a:lvl2pPr marL="422041" algn="l" defTabSz="844083" rtl="0" eaLnBrk="1" latinLnBrk="0" hangingPunct="1">
        <a:defRPr kumimoji="1" sz="1662" kern="1200">
          <a:solidFill>
            <a:schemeClr val="tx1"/>
          </a:solidFill>
          <a:latin typeface="+mn-lt"/>
          <a:ea typeface="+mn-ea"/>
          <a:cs typeface="+mn-cs"/>
        </a:defRPr>
      </a:lvl2pPr>
      <a:lvl3pPr marL="844083" algn="l" defTabSz="844083" rtl="0" eaLnBrk="1" latinLnBrk="0" hangingPunct="1">
        <a:defRPr kumimoji="1" sz="1662" kern="1200">
          <a:solidFill>
            <a:schemeClr val="tx1"/>
          </a:solidFill>
          <a:latin typeface="+mn-lt"/>
          <a:ea typeface="+mn-ea"/>
          <a:cs typeface="+mn-cs"/>
        </a:defRPr>
      </a:lvl3pPr>
      <a:lvl4pPr marL="1266124" algn="l" defTabSz="844083" rtl="0" eaLnBrk="1" latinLnBrk="0" hangingPunct="1">
        <a:defRPr kumimoji="1" sz="1662" kern="1200">
          <a:solidFill>
            <a:schemeClr val="tx1"/>
          </a:solidFill>
          <a:latin typeface="+mn-lt"/>
          <a:ea typeface="+mn-ea"/>
          <a:cs typeface="+mn-cs"/>
        </a:defRPr>
      </a:lvl4pPr>
      <a:lvl5pPr marL="1688165" algn="l" defTabSz="844083" rtl="0" eaLnBrk="1" latinLnBrk="0" hangingPunct="1">
        <a:defRPr kumimoji="1" sz="1662" kern="1200">
          <a:solidFill>
            <a:schemeClr val="tx1"/>
          </a:solidFill>
          <a:latin typeface="+mn-lt"/>
          <a:ea typeface="+mn-ea"/>
          <a:cs typeface="+mn-cs"/>
        </a:defRPr>
      </a:lvl5pPr>
      <a:lvl6pPr marL="2110207" algn="l" defTabSz="844083" rtl="0" eaLnBrk="1" latinLnBrk="0" hangingPunct="1">
        <a:defRPr kumimoji="1" sz="1662" kern="1200">
          <a:solidFill>
            <a:schemeClr val="tx1"/>
          </a:solidFill>
          <a:latin typeface="+mn-lt"/>
          <a:ea typeface="+mn-ea"/>
          <a:cs typeface="+mn-cs"/>
        </a:defRPr>
      </a:lvl6pPr>
      <a:lvl7pPr marL="2532248" algn="l" defTabSz="844083" rtl="0" eaLnBrk="1" latinLnBrk="0" hangingPunct="1">
        <a:defRPr kumimoji="1" sz="1662" kern="1200">
          <a:solidFill>
            <a:schemeClr val="tx1"/>
          </a:solidFill>
          <a:latin typeface="+mn-lt"/>
          <a:ea typeface="+mn-ea"/>
          <a:cs typeface="+mn-cs"/>
        </a:defRPr>
      </a:lvl7pPr>
      <a:lvl8pPr marL="2954289" algn="l" defTabSz="844083" rtl="0" eaLnBrk="1" latinLnBrk="0" hangingPunct="1">
        <a:defRPr kumimoji="1" sz="1662" kern="1200">
          <a:solidFill>
            <a:schemeClr val="tx1"/>
          </a:solidFill>
          <a:latin typeface="+mn-lt"/>
          <a:ea typeface="+mn-ea"/>
          <a:cs typeface="+mn-cs"/>
        </a:defRPr>
      </a:lvl8pPr>
      <a:lvl9pPr marL="3376331" algn="l" defTabSz="844083"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勉強会（インバスケットに関する共有）</a:t>
            </a:r>
            <a:endParaRPr kumimoji="1" lang="ja-JP" altLang="en-US" dirty="0"/>
          </a:p>
        </p:txBody>
      </p:sp>
      <p:sp>
        <p:nvSpPr>
          <p:cNvPr id="3" name="コンテンツ プレースホルダー 2"/>
          <p:cNvSpPr>
            <a:spLocks noGrp="1"/>
          </p:cNvSpPr>
          <p:nvPr>
            <p:ph idx="1"/>
          </p:nvPr>
        </p:nvSpPr>
        <p:spPr/>
        <p:txBody>
          <a:bodyPr/>
          <a:lstStyle/>
          <a:p>
            <a:r>
              <a:rPr lang="ja-JP" altLang="ja-JP" sz="2000" dirty="0"/>
              <a:t>日程：</a:t>
            </a:r>
            <a:r>
              <a:rPr lang="en-US" altLang="ja-JP" sz="2000" dirty="0" smtClean="0"/>
              <a:t>2023</a:t>
            </a:r>
            <a:r>
              <a:rPr lang="ja-JP" altLang="ja-JP" sz="2000" dirty="0" smtClean="0"/>
              <a:t>年</a:t>
            </a:r>
            <a:r>
              <a:rPr lang="en-US" altLang="ja-JP" sz="2000" dirty="0" smtClean="0"/>
              <a:t>8</a:t>
            </a:r>
            <a:r>
              <a:rPr lang="ja-JP" altLang="ja-JP" sz="2000" dirty="0" smtClean="0"/>
              <a:t>月</a:t>
            </a:r>
            <a:r>
              <a:rPr lang="en-US" altLang="ja-JP" sz="2000" dirty="0" smtClean="0"/>
              <a:t>9</a:t>
            </a:r>
            <a:r>
              <a:rPr lang="ja-JP" altLang="ja-JP" sz="2000" dirty="0" smtClean="0"/>
              <a:t>日（</a:t>
            </a:r>
            <a:r>
              <a:rPr lang="ja-JP" altLang="en-US" sz="2000" dirty="0" smtClean="0"/>
              <a:t>水</a:t>
            </a:r>
            <a:r>
              <a:rPr lang="ja-JP" altLang="ja-JP" sz="2000" dirty="0" smtClean="0"/>
              <a:t>）</a:t>
            </a:r>
            <a:r>
              <a:rPr lang="en-US" altLang="ja-JP" sz="2000" dirty="0"/>
              <a:t>17</a:t>
            </a:r>
            <a:r>
              <a:rPr lang="ja-JP" altLang="ja-JP" sz="2000" dirty="0"/>
              <a:t>：</a:t>
            </a:r>
            <a:r>
              <a:rPr lang="en-US" altLang="ja-JP" sz="2000" dirty="0"/>
              <a:t>00-18</a:t>
            </a:r>
            <a:r>
              <a:rPr lang="ja-JP" altLang="ja-JP" sz="2000" dirty="0"/>
              <a:t>：</a:t>
            </a:r>
            <a:r>
              <a:rPr lang="en-US" altLang="ja-JP" sz="2000" dirty="0"/>
              <a:t>00</a:t>
            </a:r>
            <a:endParaRPr lang="ja-JP" altLang="ja-JP" sz="2000" dirty="0"/>
          </a:p>
          <a:p>
            <a:r>
              <a:rPr lang="ja-JP" altLang="en-US" sz="2000" dirty="0" smtClean="0"/>
              <a:t>場所：</a:t>
            </a:r>
            <a:r>
              <a:rPr lang="en-US" altLang="ja-JP" sz="2000" dirty="0" smtClean="0"/>
              <a:t>H400</a:t>
            </a:r>
          </a:p>
          <a:p>
            <a:r>
              <a:rPr lang="en-US" altLang="ja-JP" sz="2000" dirty="0"/>
              <a:t> </a:t>
            </a:r>
            <a:endParaRPr lang="ja-JP" altLang="ja-JP" sz="2000" dirty="0"/>
          </a:p>
          <a:p>
            <a:r>
              <a:rPr lang="ja-JP" altLang="ja-JP" sz="2000" dirty="0"/>
              <a:t>内容：</a:t>
            </a:r>
          </a:p>
          <a:p>
            <a:pPr lvl="1"/>
            <a:r>
              <a:rPr lang="ja-JP" altLang="ja-JP" sz="1800" dirty="0" smtClean="0"/>
              <a:t>はじめ</a:t>
            </a:r>
            <a:r>
              <a:rPr lang="ja-JP" altLang="ja-JP" sz="1800" dirty="0"/>
              <a:t>に</a:t>
            </a:r>
            <a:r>
              <a:rPr lang="en-US" altLang="ja-JP" sz="1800" dirty="0"/>
              <a:t>				</a:t>
            </a:r>
            <a:r>
              <a:rPr lang="ja-JP" altLang="ja-JP" sz="1800" dirty="0"/>
              <a:t>小野</a:t>
            </a:r>
          </a:p>
          <a:p>
            <a:pPr lvl="1"/>
            <a:r>
              <a:rPr lang="ja-JP" altLang="en-US" sz="1800" dirty="0"/>
              <a:t>インバスの問題と解き方にかんする</a:t>
            </a:r>
            <a:r>
              <a:rPr lang="ja-JP" altLang="en-US" sz="1800" dirty="0" smtClean="0"/>
              <a:t>事</a:t>
            </a:r>
            <a:r>
              <a:rPr lang="en-US" altLang="ja-JP" sz="1800" dirty="0" smtClean="0"/>
              <a:t>	</a:t>
            </a:r>
            <a:r>
              <a:rPr lang="ja-JP" altLang="en-US" sz="1800" dirty="0" smtClean="0"/>
              <a:t>昨年合格者より</a:t>
            </a:r>
            <a:endParaRPr lang="ja-JP" altLang="en-US" sz="1800" dirty="0"/>
          </a:p>
          <a:p>
            <a:pPr marL="844082" lvl="2" indent="0">
              <a:buNone/>
            </a:pPr>
            <a:r>
              <a:rPr lang="en-US" altLang="ja-JP" dirty="0" smtClean="0"/>
              <a:t>					</a:t>
            </a:r>
            <a:r>
              <a:rPr lang="ja-JP" altLang="ja-JP" dirty="0"/>
              <a:t>吉田侑冬</a:t>
            </a:r>
            <a:r>
              <a:rPr lang="ja-JP" altLang="ja-JP" dirty="0" smtClean="0"/>
              <a:t>さん</a:t>
            </a:r>
            <a:endParaRPr lang="en-US" altLang="ja-JP" dirty="0" smtClean="0"/>
          </a:p>
          <a:p>
            <a:pPr marL="844082" lvl="2" indent="0">
              <a:buNone/>
            </a:pPr>
            <a:r>
              <a:rPr lang="en-US" altLang="ja-JP" dirty="0"/>
              <a:t>	</a:t>
            </a:r>
            <a:r>
              <a:rPr lang="en-US" altLang="ja-JP" dirty="0" smtClean="0"/>
              <a:t>				</a:t>
            </a:r>
            <a:r>
              <a:rPr lang="ja-JP" altLang="ja-JP" dirty="0"/>
              <a:t>辻丸勇樹</a:t>
            </a:r>
            <a:r>
              <a:rPr lang="ja-JP" altLang="ja-JP" dirty="0" smtClean="0"/>
              <a:t>さん</a:t>
            </a:r>
            <a:endParaRPr lang="en-US" altLang="ja-JP" dirty="0" smtClean="0"/>
          </a:p>
          <a:p>
            <a:pPr marL="844082" lvl="2" indent="0">
              <a:buNone/>
            </a:pPr>
            <a:r>
              <a:rPr lang="en-US" altLang="ja-JP" dirty="0"/>
              <a:t>	</a:t>
            </a:r>
            <a:r>
              <a:rPr lang="en-US" altLang="ja-JP" dirty="0" smtClean="0"/>
              <a:t>				</a:t>
            </a:r>
            <a:r>
              <a:rPr lang="ja-JP" altLang="ja-JP" dirty="0"/>
              <a:t>佐藤慶尚</a:t>
            </a:r>
            <a:r>
              <a:rPr lang="ja-JP" altLang="en-US" dirty="0" smtClean="0"/>
              <a:t>さん</a:t>
            </a:r>
            <a:endParaRPr lang="en-US" altLang="ja-JP" dirty="0" smtClean="0"/>
          </a:p>
          <a:p>
            <a:pPr marL="844082" lvl="2" indent="0">
              <a:buNone/>
            </a:pPr>
            <a:r>
              <a:rPr lang="en-US" altLang="ja-JP" dirty="0"/>
              <a:t>	</a:t>
            </a:r>
            <a:r>
              <a:rPr lang="en-US" altLang="ja-JP" dirty="0" smtClean="0"/>
              <a:t>				</a:t>
            </a:r>
            <a:endParaRPr lang="ja-JP" altLang="ja-JP" sz="1600" dirty="0" smtClean="0"/>
          </a:p>
          <a:p>
            <a:pPr lvl="1"/>
            <a:r>
              <a:rPr lang="ja-JP" altLang="en-US" sz="1800" dirty="0" smtClean="0"/>
              <a:t>情報交換タイム：</a:t>
            </a:r>
            <a:r>
              <a:rPr lang="ja-JP" altLang="ja-JP" sz="1800" dirty="0" smtClean="0"/>
              <a:t>質疑</a:t>
            </a:r>
            <a:r>
              <a:rPr lang="ja-JP" altLang="en-US" sz="1800" dirty="0" smtClean="0"/>
              <a:t>、アドバイスなど</a:t>
            </a:r>
            <a:r>
              <a:rPr lang="ja-JP" altLang="en-US" sz="1800" smtClean="0"/>
              <a:t>、、、</a:t>
            </a:r>
            <a:endParaRPr lang="ja-JP" altLang="ja-JP" sz="1800" dirty="0" smtClean="0"/>
          </a:p>
          <a:p>
            <a:endParaRPr kumimoji="1" lang="ja-JP" altLang="en-US" sz="2000" dirty="0"/>
          </a:p>
        </p:txBody>
      </p:sp>
    </p:spTree>
    <p:extLst>
      <p:ext uri="{BB962C8B-B14F-4D97-AF65-F5344CB8AC3E}">
        <p14:creationId xmlns:p14="http://schemas.microsoft.com/office/powerpoint/2010/main" val="2507133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smtClean="0"/>
              <a:t>インバスケット</a:t>
            </a:r>
            <a:endParaRPr lang="ja-JP" altLang="en-US" dirty="0"/>
          </a:p>
        </p:txBody>
      </p:sp>
      <p:sp>
        <p:nvSpPr>
          <p:cNvPr id="5" name="コンテンツ プレースホルダー 4"/>
          <p:cNvSpPr>
            <a:spLocks noGrp="1"/>
          </p:cNvSpPr>
          <p:nvPr>
            <p:ph idx="1"/>
          </p:nvPr>
        </p:nvSpPr>
        <p:spPr/>
        <p:txBody>
          <a:bodyPr/>
          <a:lstStyle/>
          <a:p>
            <a:r>
              <a:rPr lang="ja-JP" altLang="en-US" sz="2000" dirty="0" smtClean="0"/>
              <a:t>前提</a:t>
            </a:r>
            <a:endParaRPr lang="en-US" altLang="ja-JP" sz="2000" dirty="0" smtClean="0"/>
          </a:p>
          <a:p>
            <a:pPr lvl="1"/>
            <a:r>
              <a:rPr lang="ja-JP" altLang="en-US" sz="1800" dirty="0" smtClean="0"/>
              <a:t>過去の経験にともなう知見の共有になります</a:t>
            </a:r>
            <a:endParaRPr lang="en-US" altLang="ja-JP" sz="1800" dirty="0" smtClean="0"/>
          </a:p>
          <a:p>
            <a:pPr lvl="2"/>
            <a:r>
              <a:rPr lang="ja-JP" altLang="en-US" sz="1600" dirty="0" smtClean="0"/>
              <a:t>推測も過分に含んでいるため参考情報として受け取ってください</a:t>
            </a:r>
            <a:endParaRPr lang="en-US" altLang="ja-JP" sz="1600" dirty="0" smtClean="0"/>
          </a:p>
          <a:p>
            <a:pPr lvl="1"/>
            <a:r>
              <a:rPr lang="ja-JP" altLang="en-US" sz="1800" dirty="0" smtClean="0"/>
              <a:t>練習問題がないのでこちらからの情報はそれほどありません</a:t>
            </a:r>
            <a:endParaRPr lang="en-US" altLang="ja-JP" sz="1800" dirty="0" smtClean="0"/>
          </a:p>
          <a:p>
            <a:pPr lvl="2"/>
            <a:r>
              <a:rPr lang="ja-JP" altLang="en-US" sz="1600" dirty="0" smtClean="0"/>
              <a:t>すでに合格した人も参加してもらいましたので、その方々から積極的にコメントしてください</a:t>
            </a:r>
            <a:endParaRPr lang="en-US" altLang="ja-JP" sz="1600" dirty="0" smtClean="0"/>
          </a:p>
          <a:p>
            <a:pPr lvl="2"/>
            <a:r>
              <a:rPr lang="ja-JP" altLang="en-US" sz="1600" dirty="0" smtClean="0"/>
              <a:t>すでに受けたことがある人は、このあたりが疑問なんだけどのようなコメントを積極的にしてください</a:t>
            </a:r>
            <a:endParaRPr lang="en-US" altLang="ja-JP" sz="1600" dirty="0" smtClean="0"/>
          </a:p>
          <a:p>
            <a:pPr lvl="1"/>
            <a:endParaRPr lang="en-US" altLang="ja-JP" sz="1800" dirty="0" smtClean="0"/>
          </a:p>
          <a:p>
            <a:r>
              <a:rPr lang="ja-JP" altLang="en-US" sz="2000" dirty="0" smtClean="0"/>
              <a:t>問題などでわかっていること</a:t>
            </a:r>
            <a:endParaRPr lang="en-US" altLang="ja-JP" sz="2000" dirty="0" smtClean="0"/>
          </a:p>
          <a:p>
            <a:pPr lvl="1"/>
            <a:r>
              <a:rPr lang="en-US" altLang="ja-JP" sz="1600" dirty="0"/>
              <a:t>2019</a:t>
            </a:r>
            <a:r>
              <a:rPr lang="ja-JP" altLang="en-US" sz="1600" dirty="0" smtClean="0"/>
              <a:t>年までは大きな設問が</a:t>
            </a:r>
            <a:r>
              <a:rPr lang="en-US" altLang="ja-JP" sz="1600" dirty="0" smtClean="0"/>
              <a:t>4</a:t>
            </a:r>
            <a:r>
              <a:rPr lang="ja-JP" altLang="en-US" sz="1600" dirty="0" smtClean="0"/>
              <a:t>題でしたが、</a:t>
            </a:r>
            <a:r>
              <a:rPr lang="en-US" altLang="ja-JP" sz="1600" dirty="0" smtClean="0"/>
              <a:t>2020</a:t>
            </a:r>
            <a:r>
              <a:rPr lang="ja-JP" altLang="en-US" sz="1600" dirty="0" smtClean="0"/>
              <a:t>年以降は２題になっています</a:t>
            </a:r>
            <a:endParaRPr lang="en-US" altLang="ja-JP" sz="1600" dirty="0" smtClean="0"/>
          </a:p>
          <a:p>
            <a:pPr lvl="1"/>
            <a:r>
              <a:rPr lang="ja-JP" altLang="en-US" sz="1600" dirty="0" smtClean="0"/>
              <a:t>コロナの影響か、今後はこのままなのかは不明で</a:t>
            </a:r>
            <a:r>
              <a:rPr lang="ja-JP" altLang="en-US" sz="1600" dirty="0"/>
              <a:t>す</a:t>
            </a:r>
            <a:endParaRPr lang="en-US" altLang="ja-JP" sz="1600" dirty="0" smtClean="0"/>
          </a:p>
          <a:p>
            <a:pPr lvl="1"/>
            <a:endParaRPr lang="en-US" altLang="ja-JP" sz="1600" dirty="0" smtClean="0"/>
          </a:p>
          <a:p>
            <a:pPr lvl="1"/>
            <a:endParaRPr lang="ja-JP" altLang="en-US" sz="1800" dirty="0"/>
          </a:p>
        </p:txBody>
      </p:sp>
      <p:sp>
        <p:nvSpPr>
          <p:cNvPr id="2" name="正方形/長方形 1"/>
          <p:cNvSpPr/>
          <p:nvPr/>
        </p:nvSpPr>
        <p:spPr>
          <a:xfrm>
            <a:off x="6345110" y="3284000"/>
            <a:ext cx="2489053" cy="646331"/>
          </a:xfrm>
          <a:prstGeom prst="rect">
            <a:avLst/>
          </a:prstGeom>
        </p:spPr>
        <p:txBody>
          <a:bodyPr wrap="square">
            <a:spAutoFit/>
          </a:bodyPr>
          <a:lstStyle/>
          <a:p>
            <a:pPr marL="0" lvl="1"/>
            <a:r>
              <a:rPr lang="ja-JP" altLang="en-US" sz="1800" dirty="0" smtClean="0"/>
              <a:t>通常は</a:t>
            </a:r>
            <a:r>
              <a:rPr lang="en-US" altLang="ja-JP" sz="1800" dirty="0" smtClean="0"/>
              <a:t>4</a:t>
            </a:r>
            <a:r>
              <a:rPr lang="ja-JP" altLang="en-US" sz="1800" dirty="0"/>
              <a:t>問</a:t>
            </a:r>
            <a:r>
              <a:rPr lang="ja-JP" altLang="en-US" sz="1800" dirty="0" smtClean="0"/>
              <a:t>出題、昨年はコロナ影響で</a:t>
            </a:r>
            <a:r>
              <a:rPr lang="en-US" altLang="ja-JP" sz="1800" dirty="0" smtClean="0"/>
              <a:t>2</a:t>
            </a:r>
            <a:r>
              <a:rPr lang="ja-JP" altLang="en-US" sz="1800" dirty="0" smtClean="0"/>
              <a:t>題？</a:t>
            </a:r>
            <a:endParaRPr lang="en-US" altLang="ja-JP" sz="1800" dirty="0"/>
          </a:p>
        </p:txBody>
      </p:sp>
    </p:spTree>
    <p:extLst>
      <p:ext uri="{BB962C8B-B14F-4D97-AF65-F5344CB8AC3E}">
        <p14:creationId xmlns:p14="http://schemas.microsoft.com/office/powerpoint/2010/main" val="225360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どんな問題？</a:t>
            </a:r>
            <a:endParaRPr kumimoji="1" lang="ja-JP" altLang="en-US" dirty="0"/>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133227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2022</a:t>
            </a:r>
            <a:r>
              <a:rPr kumimoji="1" lang="ja-JP" altLang="en-US" dirty="0" smtClean="0"/>
              <a:t>インバスケット問題</a:t>
            </a:r>
            <a:endParaRPr kumimoji="1" lang="ja-JP" altLang="en-US" dirty="0"/>
          </a:p>
        </p:txBody>
      </p:sp>
      <p:sp>
        <p:nvSpPr>
          <p:cNvPr id="3" name="コンテンツ プレースホルダー 2"/>
          <p:cNvSpPr>
            <a:spLocks noGrp="1"/>
          </p:cNvSpPr>
          <p:nvPr>
            <p:ph idx="1"/>
          </p:nvPr>
        </p:nvSpPr>
        <p:spPr>
          <a:xfrm>
            <a:off x="748861" y="2712702"/>
            <a:ext cx="7504387" cy="3892606"/>
          </a:xfrm>
        </p:spPr>
        <p:txBody>
          <a:bodyPr>
            <a:normAutofit lnSpcReduction="10000"/>
          </a:bodyPr>
          <a:lstStyle/>
          <a:p>
            <a:r>
              <a:rPr kumimoji="1" lang="ja-JP" altLang="en-US" sz="1800" dirty="0" smtClean="0"/>
              <a:t>設定</a:t>
            </a:r>
            <a:endParaRPr kumimoji="1" lang="en-US" altLang="ja-JP" sz="1800" dirty="0" smtClean="0"/>
          </a:p>
          <a:p>
            <a:pPr lvl="1"/>
            <a:r>
              <a:rPr lang="ja-JP" altLang="en-US" sz="1600" dirty="0" smtClean="0"/>
              <a:t>会社：アパレル、安くて良い商品、国内</a:t>
            </a:r>
            <a:r>
              <a:rPr lang="en-US" altLang="ja-JP" sz="1600" dirty="0" smtClean="0"/>
              <a:t>2</a:t>
            </a:r>
            <a:r>
              <a:rPr lang="ja-JP" altLang="en-US" sz="1600" dirty="0" smtClean="0"/>
              <a:t>位</a:t>
            </a:r>
            <a:endParaRPr lang="en-US" altLang="ja-JP" sz="1600" dirty="0" smtClean="0"/>
          </a:p>
          <a:p>
            <a:pPr lvl="1"/>
            <a:r>
              <a:rPr lang="ja-JP" altLang="en-US" sz="1600" dirty="0" smtClean="0"/>
              <a:t>主人公：商品企画のプロジェクト管理</a:t>
            </a:r>
            <a:endParaRPr lang="en-US" altLang="ja-JP" sz="1600" dirty="0" smtClean="0"/>
          </a:p>
          <a:p>
            <a:pPr lvl="1"/>
            <a:r>
              <a:rPr lang="ja-JP" altLang="en-US" sz="1600" dirty="0" smtClean="0"/>
              <a:t>状況：</a:t>
            </a:r>
            <a:r>
              <a:rPr lang="en-US" altLang="ja-JP" sz="1600" dirty="0" smtClean="0"/>
              <a:t>10</a:t>
            </a:r>
            <a:r>
              <a:rPr lang="ja-JP" altLang="en-US" sz="1600" dirty="0" smtClean="0"/>
              <a:t>日休み明けの</a:t>
            </a:r>
            <a:r>
              <a:rPr lang="en-US" altLang="ja-JP" sz="1600" dirty="0" smtClean="0"/>
              <a:t>8/22</a:t>
            </a:r>
            <a:r>
              <a:rPr lang="ja-JP" altLang="en-US" sz="1600" dirty="0"/>
              <a:t> </a:t>
            </a:r>
            <a:r>
              <a:rPr lang="ja-JP" altLang="en-US" sz="1600" dirty="0" smtClean="0"/>
              <a:t>朝</a:t>
            </a:r>
            <a:r>
              <a:rPr lang="en-US" altLang="ja-JP" sz="1600" dirty="0" smtClean="0"/>
              <a:t>10</a:t>
            </a:r>
            <a:r>
              <a:rPr lang="ja-JP" altLang="en-US" sz="1600" dirty="0" smtClean="0"/>
              <a:t>時、明日から夏季休暇</a:t>
            </a:r>
            <a:endParaRPr lang="en-US" altLang="ja-JP" sz="1600" dirty="0" smtClean="0"/>
          </a:p>
          <a:p>
            <a:r>
              <a:rPr lang="ja-JP" altLang="en-US" sz="1800" dirty="0" smtClean="0"/>
              <a:t>商品販売までの仕事分担</a:t>
            </a:r>
            <a:endParaRPr lang="en-US" altLang="ja-JP" sz="1800" dirty="0" smtClean="0"/>
          </a:p>
          <a:p>
            <a:pPr lvl="1"/>
            <a:r>
              <a:rPr lang="ja-JP" altLang="en-US" sz="1600" dirty="0" smtClean="0"/>
              <a:t>商品企画部とマーケティング部：市場調査～試作品作成まで</a:t>
            </a:r>
            <a:endParaRPr lang="en-US" altLang="ja-JP" sz="1600" dirty="0" smtClean="0"/>
          </a:p>
          <a:p>
            <a:pPr lvl="1"/>
            <a:r>
              <a:rPr lang="ja-JP" altLang="en-US" sz="1600" dirty="0"/>
              <a:t>生産</a:t>
            </a:r>
            <a:r>
              <a:rPr lang="ja-JP" altLang="en-US" sz="1600" dirty="0" smtClean="0"/>
              <a:t>管理部：生産スケジュールを決める</a:t>
            </a:r>
            <a:endParaRPr lang="en-US" altLang="ja-JP" sz="1600" dirty="0" smtClean="0"/>
          </a:p>
          <a:p>
            <a:pPr lvl="1"/>
            <a:r>
              <a:rPr lang="ja-JP" altLang="en-US" sz="1600" dirty="0" smtClean="0"/>
              <a:t>調達部：材料調達</a:t>
            </a:r>
            <a:endParaRPr lang="en-US" altLang="ja-JP" sz="1600" dirty="0" smtClean="0"/>
          </a:p>
          <a:p>
            <a:pPr lvl="1"/>
            <a:r>
              <a:rPr kumimoji="1" lang="ja-JP" altLang="en-US" sz="1600" dirty="0" smtClean="0"/>
              <a:t>生産部：生産</a:t>
            </a:r>
            <a:endParaRPr kumimoji="1" lang="en-US" altLang="ja-JP" sz="1600" dirty="0" smtClean="0"/>
          </a:p>
          <a:p>
            <a:pPr lvl="1"/>
            <a:r>
              <a:rPr lang="ja-JP" altLang="en-US" sz="1600" dirty="0"/>
              <a:t>品質</a:t>
            </a:r>
            <a:r>
              <a:rPr lang="ja-JP" altLang="en-US" sz="1600" dirty="0" smtClean="0"/>
              <a:t>保証部：品質確認</a:t>
            </a:r>
            <a:endParaRPr lang="en-US" altLang="ja-JP" sz="1600" dirty="0" smtClean="0"/>
          </a:p>
          <a:p>
            <a:pPr lvl="1"/>
            <a:r>
              <a:rPr kumimoji="1" lang="ja-JP" altLang="en-US" sz="1600" dirty="0" smtClean="0"/>
              <a:t>マーケティング部：広告、</a:t>
            </a:r>
            <a:r>
              <a:rPr kumimoji="1" lang="en-US" altLang="ja-JP" sz="1600" dirty="0" smtClean="0"/>
              <a:t>SNS</a:t>
            </a:r>
          </a:p>
          <a:p>
            <a:pPr lvl="1"/>
            <a:r>
              <a:rPr lang="ja-JP" altLang="en-US" sz="1600" dirty="0" smtClean="0"/>
              <a:t>販売部：販売管理</a:t>
            </a:r>
            <a:endParaRPr lang="en-US" altLang="ja-JP" sz="1600" dirty="0" smtClean="0"/>
          </a:p>
          <a:p>
            <a:pPr lvl="1"/>
            <a:r>
              <a:rPr lang="ja-JP" altLang="en-US" sz="1600" dirty="0" smtClean="0"/>
              <a:t>カスタマーセンターと商品企画部：クレームを受ける</a:t>
            </a:r>
            <a:endParaRPr lang="en-US" altLang="ja-JP" sz="1600" dirty="0" smtClean="0"/>
          </a:p>
          <a:p>
            <a:pPr lvl="1">
              <a:lnSpc>
                <a:spcPct val="120000"/>
              </a:lnSpc>
            </a:pPr>
            <a:endParaRPr kumimoji="1" lang="ja-JP" altLang="en-US" sz="1600" dirty="0"/>
          </a:p>
        </p:txBody>
      </p:sp>
      <p:sp>
        <p:nvSpPr>
          <p:cNvPr id="4" name="正方形/長方形 3"/>
          <p:cNvSpPr/>
          <p:nvPr/>
        </p:nvSpPr>
        <p:spPr>
          <a:xfrm>
            <a:off x="748861" y="935651"/>
            <a:ext cx="5856889" cy="1588127"/>
          </a:xfrm>
          <a:prstGeom prst="rect">
            <a:avLst/>
          </a:prstGeom>
        </p:spPr>
        <p:txBody>
          <a:bodyPr wrap="square">
            <a:spAutoFit/>
          </a:bodyPr>
          <a:lstStyle/>
          <a:p>
            <a:pPr marL="457200" lvl="0" indent="-457200">
              <a:spcBef>
                <a:spcPct val="20000"/>
              </a:spcBef>
              <a:buFont typeface="+mj-lt"/>
              <a:buAutoNum type="arabicPeriod"/>
            </a:pPr>
            <a:r>
              <a:rPr lang="ja-JP" altLang="en-US" sz="1800" kern="0" dirty="0">
                <a:solidFill>
                  <a:srgbClr val="003399"/>
                </a:solidFill>
                <a:latin typeface="Arial Narrow" pitchFamily="34" charset="0"/>
                <a:ea typeface="Meiryo UI" pitchFamily="50" charset="-128"/>
              </a:rPr>
              <a:t>資料の配布、名前の記入</a:t>
            </a:r>
            <a:endParaRPr lang="en-US" altLang="ja-JP" sz="1800" kern="0" dirty="0">
              <a:solidFill>
                <a:srgbClr val="003399"/>
              </a:solidFill>
              <a:latin typeface="Arial Narrow" pitchFamily="34" charset="0"/>
              <a:ea typeface="Meiryo UI" pitchFamily="50" charset="-128"/>
            </a:endParaRPr>
          </a:p>
          <a:p>
            <a:pPr marL="731520" lvl="1" indent="-457200">
              <a:spcBef>
                <a:spcPct val="20000"/>
              </a:spcBef>
              <a:buFontTx/>
              <a:buChar char="–"/>
            </a:pPr>
            <a:r>
              <a:rPr lang="ja-JP" altLang="en-US" sz="1600" kern="0" dirty="0">
                <a:solidFill>
                  <a:srgbClr val="003399"/>
                </a:solidFill>
                <a:latin typeface="Arial Narrow" pitchFamily="34" charset="0"/>
                <a:ea typeface="Meiryo UI" pitchFamily="50" charset="-128"/>
              </a:rPr>
              <a:t>受験の手引（冊子）</a:t>
            </a:r>
            <a:endParaRPr lang="en-US" altLang="ja-JP" sz="1600" kern="0" dirty="0">
              <a:solidFill>
                <a:srgbClr val="003399"/>
              </a:solidFill>
              <a:latin typeface="Arial Narrow" pitchFamily="34" charset="0"/>
              <a:ea typeface="Meiryo UI" pitchFamily="50" charset="-128"/>
            </a:endParaRPr>
          </a:p>
          <a:p>
            <a:pPr marL="731520" lvl="1" indent="-457200">
              <a:spcBef>
                <a:spcPct val="20000"/>
              </a:spcBef>
              <a:buFontTx/>
              <a:buChar char="–"/>
            </a:pPr>
            <a:r>
              <a:rPr lang="ja-JP" altLang="en-US" sz="1600" kern="0" dirty="0">
                <a:solidFill>
                  <a:srgbClr val="003399"/>
                </a:solidFill>
                <a:latin typeface="Arial Narrow" pitchFamily="34" charset="0"/>
                <a:ea typeface="Meiryo UI" pitchFamily="50" charset="-128"/>
              </a:rPr>
              <a:t>案件資料１８枚（封筒）</a:t>
            </a:r>
            <a:endParaRPr lang="en-US" altLang="ja-JP" sz="1600" kern="0" dirty="0">
              <a:solidFill>
                <a:srgbClr val="003399"/>
              </a:solidFill>
              <a:latin typeface="Arial Narrow" pitchFamily="34" charset="0"/>
              <a:ea typeface="Meiryo UI" pitchFamily="50" charset="-128"/>
            </a:endParaRPr>
          </a:p>
          <a:p>
            <a:pPr marL="731520" lvl="1" indent="-457200">
              <a:spcBef>
                <a:spcPct val="20000"/>
              </a:spcBef>
              <a:buFontTx/>
              <a:buChar char="–"/>
            </a:pPr>
            <a:r>
              <a:rPr lang="ja-JP" altLang="en-US" sz="1600" kern="0" dirty="0">
                <a:solidFill>
                  <a:srgbClr val="003399"/>
                </a:solidFill>
                <a:latin typeface="Arial Narrow" pitchFamily="34" charset="0"/>
                <a:ea typeface="Meiryo UI" pitchFamily="50" charset="-128"/>
              </a:rPr>
              <a:t>答案用紙</a:t>
            </a:r>
            <a:endParaRPr lang="en-US" altLang="ja-JP" sz="1600" kern="0" dirty="0">
              <a:solidFill>
                <a:srgbClr val="003399"/>
              </a:solidFill>
              <a:latin typeface="Arial Narrow" pitchFamily="34" charset="0"/>
              <a:ea typeface="Meiryo UI" pitchFamily="50" charset="-128"/>
            </a:endParaRPr>
          </a:p>
          <a:p>
            <a:pPr marL="457200" lvl="0" indent="-457200">
              <a:spcBef>
                <a:spcPct val="20000"/>
              </a:spcBef>
              <a:buFont typeface="+mj-lt"/>
              <a:buAutoNum type="arabicPeriod"/>
            </a:pPr>
            <a:r>
              <a:rPr lang="ja-JP" altLang="en-US" sz="1800" kern="0" dirty="0">
                <a:solidFill>
                  <a:srgbClr val="003399"/>
                </a:solidFill>
                <a:latin typeface="Arial Narrow" pitchFamily="34" charset="0"/>
                <a:ea typeface="Meiryo UI" pitchFamily="50" charset="-128"/>
              </a:rPr>
              <a:t>状況の把握</a:t>
            </a:r>
            <a:r>
              <a:rPr lang="en-US" altLang="ja-JP" sz="1800" kern="0" dirty="0">
                <a:solidFill>
                  <a:srgbClr val="003399"/>
                </a:solidFill>
                <a:latin typeface="Arial Narrow" pitchFamily="34" charset="0"/>
                <a:ea typeface="Meiryo UI" pitchFamily="50" charset="-128"/>
              </a:rPr>
              <a:t>(</a:t>
            </a:r>
            <a:r>
              <a:rPr lang="ja-JP" altLang="en-US" sz="1800" kern="0" dirty="0">
                <a:solidFill>
                  <a:srgbClr val="003399"/>
                </a:solidFill>
                <a:latin typeface="Arial Narrow" pitchFamily="34" charset="0"/>
                <a:ea typeface="Meiryo UI" pitchFamily="50" charset="-128"/>
              </a:rPr>
              <a:t>手引きに記載</a:t>
            </a:r>
            <a:r>
              <a:rPr lang="en-US" altLang="ja-JP" sz="1800" kern="0" dirty="0">
                <a:solidFill>
                  <a:srgbClr val="003399"/>
                </a:solidFill>
                <a:latin typeface="Arial Narrow" pitchFamily="34" charset="0"/>
                <a:ea typeface="Meiryo UI" pitchFamily="50" charset="-128"/>
              </a:rPr>
              <a:t>) 6</a:t>
            </a:r>
            <a:r>
              <a:rPr lang="ja-JP" altLang="en-US" sz="1800" kern="0" dirty="0">
                <a:solidFill>
                  <a:srgbClr val="003399"/>
                </a:solidFill>
                <a:latin typeface="Arial Narrow" pitchFamily="34" charset="0"/>
                <a:ea typeface="Meiryo UI" pitchFamily="50" charset="-128"/>
              </a:rPr>
              <a:t>分（表紙含め</a:t>
            </a:r>
            <a:r>
              <a:rPr lang="en-US" altLang="ja-JP" sz="1800" kern="0" dirty="0">
                <a:solidFill>
                  <a:srgbClr val="003399"/>
                </a:solidFill>
                <a:latin typeface="Arial Narrow" pitchFamily="34" charset="0"/>
                <a:ea typeface="Meiryo UI" pitchFamily="50" charset="-128"/>
              </a:rPr>
              <a:t>8</a:t>
            </a:r>
            <a:r>
              <a:rPr lang="ja-JP" altLang="en-US" sz="1800" kern="0" dirty="0">
                <a:solidFill>
                  <a:srgbClr val="003399"/>
                </a:solidFill>
                <a:latin typeface="Arial Narrow" pitchFamily="34" charset="0"/>
                <a:ea typeface="Meiryo UI" pitchFamily="50" charset="-128"/>
              </a:rPr>
              <a:t>ページ）</a:t>
            </a:r>
            <a:endParaRPr lang="en-US" altLang="ja-JP" sz="1800" kern="0" dirty="0">
              <a:solidFill>
                <a:srgbClr val="003399"/>
              </a:solidFill>
              <a:latin typeface="Arial Narrow" pitchFamily="34" charset="0"/>
              <a:ea typeface="Meiryo UI" pitchFamily="50" charset="-128"/>
            </a:endParaRPr>
          </a:p>
        </p:txBody>
      </p:sp>
    </p:spTree>
    <p:extLst>
      <p:ext uri="{BB962C8B-B14F-4D97-AF65-F5344CB8AC3E}">
        <p14:creationId xmlns:p14="http://schemas.microsoft.com/office/powerpoint/2010/main" val="116127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34722" y="91428"/>
            <a:ext cx="7886700" cy="644585"/>
          </a:xfrm>
        </p:spPr>
        <p:txBody>
          <a:bodyPr/>
          <a:lstStyle/>
          <a:p>
            <a:r>
              <a:rPr kumimoji="1" lang="ja-JP" altLang="en-US" dirty="0" smtClean="0"/>
              <a:t>問</a:t>
            </a:r>
            <a:r>
              <a:rPr kumimoji="1" lang="en-US" altLang="ja-JP" dirty="0" smtClean="0"/>
              <a:t>1</a:t>
            </a:r>
            <a:r>
              <a:rPr kumimoji="1" lang="ja-JP" altLang="en-US" dirty="0" smtClean="0"/>
              <a:t>：分析</a:t>
            </a:r>
            <a:endParaRPr kumimoji="1" lang="ja-JP" altLang="en-US" dirty="0"/>
          </a:p>
        </p:txBody>
      </p:sp>
      <p:sp>
        <p:nvSpPr>
          <p:cNvPr id="3" name="コンテンツ プレースホルダー 2"/>
          <p:cNvSpPr>
            <a:spLocks noGrp="1"/>
          </p:cNvSpPr>
          <p:nvPr>
            <p:ph idx="1"/>
          </p:nvPr>
        </p:nvSpPr>
        <p:spPr>
          <a:xfrm>
            <a:off x="549022" y="1332184"/>
            <a:ext cx="7772400" cy="5311502"/>
          </a:xfrm>
        </p:spPr>
        <p:txBody>
          <a:bodyPr>
            <a:normAutofit lnSpcReduction="10000"/>
          </a:bodyPr>
          <a:lstStyle/>
          <a:p>
            <a:pPr marL="0" indent="0">
              <a:lnSpc>
                <a:spcPct val="120000"/>
              </a:lnSpc>
              <a:buNone/>
            </a:pPr>
            <a:r>
              <a:rPr lang="ja-JP" altLang="en-US" sz="1800" dirty="0" smtClean="0"/>
              <a:t>選択肢</a:t>
            </a:r>
            <a:endParaRPr kumimoji="1" lang="en-US" altLang="ja-JP" sz="1800" dirty="0" smtClean="0"/>
          </a:p>
          <a:p>
            <a:pPr marL="385763" indent="-385763">
              <a:lnSpc>
                <a:spcPct val="120000"/>
              </a:lnSpc>
              <a:buFont typeface="+mj-lt"/>
              <a:buAutoNum type="arabicPeriod"/>
            </a:pPr>
            <a:r>
              <a:rPr lang="ja-JP" altLang="en-US" sz="1800" dirty="0" smtClean="0"/>
              <a:t>衣服</a:t>
            </a:r>
            <a:r>
              <a:rPr lang="en-US" altLang="ja-JP" sz="1800" dirty="0" smtClean="0"/>
              <a:t>A</a:t>
            </a:r>
            <a:r>
              <a:rPr lang="ja-JP" altLang="en-US" sz="1800" dirty="0" smtClean="0"/>
              <a:t>に異物（金属片）混入→製品の不備としてリコール対応することが決定</a:t>
            </a:r>
            <a:endParaRPr lang="en-US" altLang="ja-JP" sz="1800" dirty="0" smtClean="0"/>
          </a:p>
          <a:p>
            <a:pPr marL="385763" indent="-385763">
              <a:lnSpc>
                <a:spcPct val="120000"/>
              </a:lnSpc>
              <a:buFont typeface="+mj-lt"/>
              <a:buAutoNum type="arabicPeriod"/>
            </a:pPr>
            <a:r>
              <a:rPr lang="ja-JP" altLang="en-US" sz="1800" dirty="0" smtClean="0"/>
              <a:t>情勢</a:t>
            </a:r>
            <a:r>
              <a:rPr lang="ja-JP" altLang="en-US" sz="1800" dirty="0"/>
              <a:t>悪化に</a:t>
            </a:r>
            <a:r>
              <a:rPr lang="ja-JP" altLang="en-US" sz="1800" dirty="0" smtClean="0"/>
              <a:t>より工場が停止</a:t>
            </a:r>
            <a:endParaRPr lang="en-US" altLang="ja-JP" sz="1800" dirty="0" smtClean="0"/>
          </a:p>
          <a:p>
            <a:pPr marL="385763" indent="-385763">
              <a:lnSpc>
                <a:spcPct val="120000"/>
              </a:lnSpc>
              <a:buFont typeface="+mj-lt"/>
              <a:buAutoNum type="arabicPeriod"/>
            </a:pPr>
            <a:r>
              <a:rPr lang="ja-JP" altLang="en-US" sz="1800" dirty="0" smtClean="0"/>
              <a:t>原材料費の高騰</a:t>
            </a:r>
            <a:endParaRPr lang="en-US" altLang="ja-JP" sz="1800" dirty="0" smtClean="0"/>
          </a:p>
          <a:p>
            <a:pPr marL="385763" indent="-385763">
              <a:lnSpc>
                <a:spcPct val="120000"/>
              </a:lnSpc>
              <a:buFont typeface="+mj-lt"/>
              <a:buAutoNum type="arabicPeriod"/>
            </a:pPr>
            <a:r>
              <a:rPr kumimoji="1" lang="ja-JP" altLang="en-US" sz="1800" dirty="0" smtClean="0"/>
              <a:t>衣服</a:t>
            </a:r>
            <a:r>
              <a:rPr kumimoji="1" lang="en-US" altLang="ja-JP" sz="1800" dirty="0" smtClean="0"/>
              <a:t>B</a:t>
            </a:r>
            <a:r>
              <a:rPr kumimoji="1" lang="ja-JP" altLang="en-US" sz="1800" dirty="0" smtClean="0"/>
              <a:t>の実物と写真で色のイメージが違うというクレーム</a:t>
            </a:r>
            <a:endParaRPr lang="en-US" altLang="ja-JP" sz="1800" dirty="0" smtClean="0"/>
          </a:p>
          <a:p>
            <a:pPr marL="385763" indent="-385763">
              <a:lnSpc>
                <a:spcPct val="120000"/>
              </a:lnSpc>
              <a:buFont typeface="+mj-lt"/>
              <a:buAutoNum type="arabicPeriod"/>
            </a:pPr>
            <a:r>
              <a:rPr lang="ja-JP" altLang="en-US" sz="1800" dirty="0"/>
              <a:t>他社から「夏季休暇前に打合せをしたい」という</a:t>
            </a:r>
            <a:r>
              <a:rPr lang="ja-JP" altLang="en-US" sz="1800" dirty="0" smtClean="0"/>
              <a:t>メール</a:t>
            </a:r>
            <a:endParaRPr kumimoji="1" lang="en-US" altLang="ja-JP" sz="1800" dirty="0" smtClean="0"/>
          </a:p>
          <a:p>
            <a:pPr marL="385763" indent="-385763">
              <a:lnSpc>
                <a:spcPct val="120000"/>
              </a:lnSpc>
              <a:buFont typeface="+mj-lt"/>
              <a:buAutoNum type="arabicPeriod"/>
            </a:pPr>
            <a:r>
              <a:rPr lang="ja-JP" altLang="en-US" sz="1800" dirty="0" smtClean="0"/>
              <a:t>衣服</a:t>
            </a:r>
            <a:r>
              <a:rPr lang="en-US" altLang="ja-JP" sz="1800" dirty="0" smtClean="0"/>
              <a:t>C</a:t>
            </a:r>
            <a:r>
              <a:rPr lang="ja-JP" altLang="en-US" sz="1800" dirty="0" smtClean="0"/>
              <a:t>の評判が良かったのでまた一工夫して売りたいという相談（販売タイミング的にすぐに対応が必要）</a:t>
            </a:r>
            <a:endParaRPr lang="en-US" altLang="ja-JP" sz="1800" dirty="0" smtClean="0"/>
          </a:p>
          <a:p>
            <a:pPr marL="385763" indent="-385763">
              <a:lnSpc>
                <a:spcPct val="120000"/>
              </a:lnSpc>
              <a:buFont typeface="+mj-lt"/>
              <a:buAutoNum type="arabicPeriod"/>
            </a:pPr>
            <a:r>
              <a:rPr kumimoji="1" lang="ja-JP" altLang="en-US" sz="1800" dirty="0"/>
              <a:t>販売を</a:t>
            </a:r>
            <a:r>
              <a:rPr kumimoji="1" lang="ja-JP" altLang="en-US" sz="1800" dirty="0" smtClean="0"/>
              <a:t>始めた衣服</a:t>
            </a:r>
            <a:r>
              <a:rPr kumimoji="1" lang="en-US" altLang="ja-JP" sz="1800" dirty="0" smtClean="0"/>
              <a:t>D</a:t>
            </a:r>
            <a:r>
              <a:rPr kumimoji="1" lang="ja-JP" altLang="en-US" sz="1800" dirty="0" smtClean="0"/>
              <a:t>の伸縮性が悪い（実際の対応は来期になる）</a:t>
            </a:r>
            <a:endParaRPr kumimoji="1" lang="en-US" altLang="ja-JP" sz="1800" dirty="0" smtClean="0"/>
          </a:p>
          <a:p>
            <a:pPr marL="385763" indent="-385763">
              <a:lnSpc>
                <a:spcPct val="120000"/>
              </a:lnSpc>
              <a:buFont typeface="+mj-lt"/>
              <a:buAutoNum type="arabicPeriod"/>
            </a:pPr>
            <a:r>
              <a:rPr lang="ja-JP" altLang="en-US" sz="1800" dirty="0" smtClean="0"/>
              <a:t>ユニフォーム</a:t>
            </a:r>
            <a:r>
              <a:rPr lang="ja-JP" altLang="en-US" sz="1800" dirty="0"/>
              <a:t>と</a:t>
            </a:r>
            <a:r>
              <a:rPr lang="ja-JP" altLang="en-US" sz="1800" dirty="0" smtClean="0"/>
              <a:t>して採用したいという依頼</a:t>
            </a:r>
            <a:endParaRPr lang="en-US" altLang="ja-JP" sz="1800" dirty="0" smtClean="0"/>
          </a:p>
          <a:p>
            <a:pPr marL="385763" indent="-385763">
              <a:lnSpc>
                <a:spcPct val="120000"/>
              </a:lnSpc>
              <a:buFont typeface="+mj-lt"/>
              <a:buAutoNum type="arabicPeriod"/>
            </a:pPr>
            <a:r>
              <a:rPr kumimoji="1" lang="ja-JP" altLang="en-US" sz="1800" dirty="0"/>
              <a:t>他社とコラボ</a:t>
            </a:r>
            <a:r>
              <a:rPr kumimoji="1" lang="ja-JP" altLang="en-US" sz="1800" dirty="0" smtClean="0"/>
              <a:t>したトレーナーに関する問い合わせ</a:t>
            </a:r>
            <a:endParaRPr kumimoji="1" lang="en-US" altLang="ja-JP" sz="1800" dirty="0" smtClean="0"/>
          </a:p>
          <a:p>
            <a:pPr marL="385763" indent="-385763">
              <a:lnSpc>
                <a:spcPct val="120000"/>
              </a:lnSpc>
              <a:buFont typeface="+mj-lt"/>
              <a:buAutoNum type="arabicPeriod"/>
            </a:pPr>
            <a:r>
              <a:rPr lang="ja-JP" altLang="en-US" sz="1800" dirty="0" smtClean="0"/>
              <a:t>キャラモノ</a:t>
            </a:r>
            <a:r>
              <a:rPr lang="en-US" altLang="ja-JP" sz="1800" dirty="0" smtClean="0"/>
              <a:t>T</a:t>
            </a:r>
            <a:r>
              <a:rPr lang="ja-JP" altLang="en-US" sz="1800" dirty="0" smtClean="0"/>
              <a:t>シャツが売れているという報告</a:t>
            </a:r>
            <a:endParaRPr lang="en-US" altLang="ja-JP" sz="1800" dirty="0" smtClean="0"/>
          </a:p>
          <a:p>
            <a:pPr marL="385763" indent="-385763">
              <a:lnSpc>
                <a:spcPct val="120000"/>
              </a:lnSpc>
              <a:buFont typeface="+mj-lt"/>
              <a:buAutoNum type="arabicPeriod"/>
            </a:pPr>
            <a:r>
              <a:rPr lang="en-US" altLang="ja-JP" sz="1800" dirty="0" smtClean="0"/>
              <a:t>DX</a:t>
            </a:r>
            <a:r>
              <a:rPr lang="ja-JP" altLang="en-US" sz="1800" dirty="0" smtClean="0"/>
              <a:t>推進活動のメンバーになって欲しいという連絡</a:t>
            </a:r>
            <a:endParaRPr lang="en-US" altLang="ja-JP" sz="1800" dirty="0" smtClean="0"/>
          </a:p>
          <a:p>
            <a:pPr marL="385763" indent="-385763">
              <a:lnSpc>
                <a:spcPct val="120000"/>
              </a:lnSpc>
              <a:buFont typeface="+mj-lt"/>
              <a:buAutoNum type="arabicPeriod"/>
            </a:pPr>
            <a:r>
              <a:rPr kumimoji="1" lang="ja-JP" altLang="en-US" sz="1800" dirty="0" smtClean="0"/>
              <a:t>海外ブランドのコラボ商品について相談したい</a:t>
            </a:r>
            <a:endParaRPr kumimoji="1" lang="ja-JP" altLang="en-US" sz="1800" dirty="0"/>
          </a:p>
        </p:txBody>
      </p:sp>
      <p:sp>
        <p:nvSpPr>
          <p:cNvPr id="4" name="テキスト ボックス 3"/>
          <p:cNvSpPr txBox="1"/>
          <p:nvPr/>
        </p:nvSpPr>
        <p:spPr>
          <a:xfrm>
            <a:off x="324281" y="849433"/>
            <a:ext cx="6762319" cy="369332"/>
          </a:xfrm>
          <a:prstGeom prst="rect">
            <a:avLst/>
          </a:prstGeom>
          <a:noFill/>
        </p:spPr>
        <p:txBody>
          <a:bodyPr wrap="square" rtlCol="0">
            <a:spAutoFit/>
          </a:bodyPr>
          <a:lstStyle/>
          <a:p>
            <a:r>
              <a:rPr lang="ja-JP" altLang="en-US" sz="1800" dirty="0"/>
              <a:t>重要</a:t>
            </a:r>
            <a:r>
              <a:rPr lang="ja-JP" altLang="en-US" sz="1800" dirty="0"/>
              <a:t>な選択肢を重要度順に６つ選び、関係する案件番号を入れる</a:t>
            </a:r>
            <a:endParaRPr lang="ja-JP" altLang="en-US" sz="1800" dirty="0"/>
          </a:p>
        </p:txBody>
      </p:sp>
    </p:spTree>
    <p:extLst>
      <p:ext uri="{BB962C8B-B14F-4D97-AF65-F5344CB8AC3E}">
        <p14:creationId xmlns:p14="http://schemas.microsoft.com/office/powerpoint/2010/main" val="2526863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94644" y="90571"/>
            <a:ext cx="7886700" cy="611352"/>
          </a:xfrm>
        </p:spPr>
        <p:txBody>
          <a:bodyPr/>
          <a:lstStyle/>
          <a:p>
            <a:r>
              <a:rPr kumimoji="1" lang="ja-JP" altLang="en-US" dirty="0" smtClean="0"/>
              <a:t>問２：判断</a:t>
            </a:r>
            <a:endParaRPr kumimoji="1" lang="ja-JP" altLang="en-US" dirty="0"/>
          </a:p>
        </p:txBody>
      </p:sp>
      <p:sp>
        <p:nvSpPr>
          <p:cNvPr id="3" name="コンテンツ プレースホルダー 2"/>
          <p:cNvSpPr>
            <a:spLocks noGrp="1"/>
          </p:cNvSpPr>
          <p:nvPr>
            <p:ph idx="1"/>
          </p:nvPr>
        </p:nvSpPr>
        <p:spPr>
          <a:xfrm>
            <a:off x="379459" y="1508868"/>
            <a:ext cx="4282965" cy="5016931"/>
          </a:xfrm>
        </p:spPr>
        <p:txBody>
          <a:bodyPr>
            <a:noAutofit/>
          </a:bodyPr>
          <a:lstStyle/>
          <a:p>
            <a:pPr marL="385763" indent="-385763">
              <a:lnSpc>
                <a:spcPct val="120000"/>
              </a:lnSpc>
              <a:buFont typeface="+mj-lt"/>
              <a:buAutoNum type="arabicPeriod"/>
            </a:pPr>
            <a:r>
              <a:rPr kumimoji="1" lang="ja-JP" altLang="en-US" sz="1800" dirty="0" smtClean="0"/>
              <a:t>異物</a:t>
            </a:r>
            <a:r>
              <a:rPr kumimoji="1" lang="ja-JP" altLang="en-US" sz="1800" dirty="0" smtClean="0"/>
              <a:t>混入衣服のリコール対応</a:t>
            </a:r>
            <a:endParaRPr kumimoji="1" lang="en-US" altLang="ja-JP" sz="1800" dirty="0" smtClean="0"/>
          </a:p>
          <a:p>
            <a:pPr marL="685800" lvl="1" indent="-342900">
              <a:lnSpc>
                <a:spcPct val="120000"/>
              </a:lnSpc>
              <a:buFont typeface="+mj-lt"/>
              <a:buAutoNum type="arabicPeriod"/>
            </a:pPr>
            <a:r>
              <a:rPr kumimoji="1" lang="ja-JP" altLang="en-US" sz="1600" dirty="0" smtClean="0"/>
              <a:t>リコールの影響を調べる</a:t>
            </a:r>
            <a:endParaRPr kumimoji="1" lang="en-US" altLang="ja-JP" sz="1600" dirty="0" smtClean="0"/>
          </a:p>
          <a:p>
            <a:pPr marL="685800" lvl="1" indent="-342900">
              <a:lnSpc>
                <a:spcPct val="120000"/>
              </a:lnSpc>
              <a:buFont typeface="+mj-lt"/>
              <a:buAutoNum type="arabicPeriod"/>
            </a:pPr>
            <a:r>
              <a:rPr kumimoji="1" lang="ja-JP" altLang="en-US" sz="1600" dirty="0" smtClean="0"/>
              <a:t>生産計画を確認する</a:t>
            </a:r>
            <a:endParaRPr kumimoji="1" lang="en-US" altLang="ja-JP" sz="1600" dirty="0" smtClean="0"/>
          </a:p>
          <a:p>
            <a:pPr marL="685800" lvl="1" indent="-342900">
              <a:lnSpc>
                <a:spcPct val="120000"/>
              </a:lnSpc>
              <a:buFont typeface="+mj-lt"/>
              <a:buAutoNum type="arabicPeriod"/>
            </a:pPr>
            <a:r>
              <a:rPr lang="ja-JP" altLang="en-US" sz="1600" dirty="0" smtClean="0"/>
              <a:t>他</a:t>
            </a:r>
            <a:r>
              <a:rPr lang="en-US" altLang="ja-JP" sz="1600" dirty="0" smtClean="0"/>
              <a:t>5</a:t>
            </a:r>
            <a:r>
              <a:rPr lang="ja-JP" altLang="en-US" sz="1600" dirty="0" smtClean="0"/>
              <a:t>つ</a:t>
            </a:r>
            <a:endParaRPr kumimoji="1" lang="en-US" altLang="ja-JP" sz="1600" dirty="0" smtClean="0"/>
          </a:p>
          <a:p>
            <a:pPr marL="342900" indent="-342900">
              <a:lnSpc>
                <a:spcPct val="120000"/>
              </a:lnSpc>
              <a:buFont typeface="+mj-lt"/>
              <a:buAutoNum type="arabicPeriod"/>
            </a:pPr>
            <a:r>
              <a:rPr lang="ja-JP" altLang="en-US" sz="1800" dirty="0"/>
              <a:t>原材料費</a:t>
            </a:r>
            <a:r>
              <a:rPr lang="ja-JP" altLang="en-US" sz="1800" dirty="0" smtClean="0"/>
              <a:t>の高騰</a:t>
            </a:r>
            <a:endParaRPr lang="en-US" altLang="ja-JP" sz="1800" dirty="0" smtClean="0"/>
          </a:p>
          <a:p>
            <a:pPr marL="685800" lvl="1" indent="-342900">
              <a:lnSpc>
                <a:spcPct val="120000"/>
              </a:lnSpc>
              <a:buFont typeface="+mj-lt"/>
              <a:buAutoNum type="arabicPeriod"/>
            </a:pPr>
            <a:r>
              <a:rPr kumimoji="1" lang="ja-JP" altLang="en-US" sz="1600" dirty="0" smtClean="0"/>
              <a:t>原材料の残りがどのくらいあるか確認する</a:t>
            </a:r>
            <a:endParaRPr kumimoji="1" lang="en-US" altLang="ja-JP" sz="1600" dirty="0" smtClean="0"/>
          </a:p>
          <a:p>
            <a:pPr marL="685800" lvl="1" indent="-342900">
              <a:lnSpc>
                <a:spcPct val="120000"/>
              </a:lnSpc>
              <a:buFont typeface="+mj-lt"/>
              <a:buAutoNum type="arabicPeriod"/>
            </a:pPr>
            <a:r>
              <a:rPr lang="ja-JP" altLang="en-US" sz="1600" dirty="0"/>
              <a:t>価格</a:t>
            </a:r>
            <a:r>
              <a:rPr lang="ja-JP" altLang="en-US" sz="1600" dirty="0" smtClean="0"/>
              <a:t>がどのぐらい変わるか確認する</a:t>
            </a:r>
            <a:endParaRPr lang="en-US" altLang="ja-JP" sz="1600" dirty="0" smtClean="0"/>
          </a:p>
          <a:p>
            <a:pPr marL="685800" lvl="1" indent="-342900">
              <a:lnSpc>
                <a:spcPct val="120000"/>
              </a:lnSpc>
              <a:buFont typeface="+mj-lt"/>
              <a:buAutoNum type="arabicPeriod"/>
            </a:pPr>
            <a:r>
              <a:rPr kumimoji="1" lang="ja-JP" altLang="en-US" sz="1600" dirty="0"/>
              <a:t>デザイン</a:t>
            </a:r>
            <a:r>
              <a:rPr kumimoji="1" lang="ja-JP" altLang="en-US" sz="1600" dirty="0" smtClean="0"/>
              <a:t>の変更で対応できないか検討する</a:t>
            </a:r>
            <a:endParaRPr kumimoji="1" lang="en-US" altLang="ja-JP" sz="1600" dirty="0" smtClean="0"/>
          </a:p>
          <a:p>
            <a:pPr marL="685800" lvl="1" indent="-342900">
              <a:lnSpc>
                <a:spcPct val="120000"/>
              </a:lnSpc>
              <a:buFont typeface="+mj-lt"/>
              <a:buAutoNum type="arabicPeriod"/>
            </a:pPr>
            <a:r>
              <a:rPr lang="ja-JP" altLang="en-US" sz="1600" dirty="0"/>
              <a:t>製造済み</a:t>
            </a:r>
            <a:r>
              <a:rPr lang="ja-JP" altLang="en-US" sz="1600" dirty="0" smtClean="0"/>
              <a:t>の商品がどれだけあるか確認する</a:t>
            </a:r>
            <a:endParaRPr lang="en-US" altLang="ja-JP" sz="1600" dirty="0" smtClean="0"/>
          </a:p>
          <a:p>
            <a:pPr marL="685800" lvl="1" indent="-342900">
              <a:lnSpc>
                <a:spcPct val="120000"/>
              </a:lnSpc>
              <a:buFont typeface="+mj-lt"/>
              <a:buAutoNum type="arabicPeriod"/>
            </a:pPr>
            <a:r>
              <a:rPr kumimoji="1" lang="ja-JP" altLang="en-US" sz="1600" dirty="0" smtClean="0"/>
              <a:t>別の国から調達できないか確認する</a:t>
            </a:r>
            <a:endParaRPr kumimoji="1" lang="en-US" altLang="ja-JP" sz="1600" dirty="0" smtClean="0"/>
          </a:p>
          <a:p>
            <a:pPr marL="685800" lvl="1" indent="-342900">
              <a:lnSpc>
                <a:spcPct val="120000"/>
              </a:lnSpc>
              <a:buFont typeface="+mj-lt"/>
              <a:buAutoNum type="arabicPeriod"/>
            </a:pPr>
            <a:r>
              <a:rPr lang="ja-JP" altLang="en-US" sz="1600" dirty="0" smtClean="0"/>
              <a:t>同材料を作れる他の工場と打合せをセッティングする</a:t>
            </a:r>
            <a:endParaRPr lang="en-US" altLang="ja-JP" sz="1600" dirty="0" smtClean="0"/>
          </a:p>
          <a:p>
            <a:pPr marL="685800" lvl="1" indent="-342900">
              <a:lnSpc>
                <a:spcPct val="120000"/>
              </a:lnSpc>
              <a:buFont typeface="+mj-lt"/>
              <a:buAutoNum type="arabicPeriod"/>
            </a:pPr>
            <a:r>
              <a:rPr lang="ja-JP" altLang="en-US" sz="1600" dirty="0" smtClean="0"/>
              <a:t>他</a:t>
            </a:r>
            <a:r>
              <a:rPr lang="en-US" altLang="ja-JP" sz="1600" dirty="0" smtClean="0"/>
              <a:t>1</a:t>
            </a:r>
            <a:r>
              <a:rPr lang="ja-JP" altLang="en-US" sz="1600" dirty="0" smtClean="0"/>
              <a:t>つ</a:t>
            </a:r>
            <a:endParaRPr kumimoji="1" lang="en-US" altLang="ja-JP" sz="1600" dirty="0"/>
          </a:p>
        </p:txBody>
      </p:sp>
      <p:sp>
        <p:nvSpPr>
          <p:cNvPr id="4" name="テキスト ボックス 3"/>
          <p:cNvSpPr txBox="1"/>
          <p:nvPr/>
        </p:nvSpPr>
        <p:spPr>
          <a:xfrm>
            <a:off x="403108" y="714191"/>
            <a:ext cx="8198952" cy="757130"/>
          </a:xfrm>
          <a:prstGeom prst="rect">
            <a:avLst/>
          </a:prstGeom>
          <a:noFill/>
        </p:spPr>
        <p:txBody>
          <a:bodyPr wrap="square" rtlCol="0">
            <a:spAutoFit/>
          </a:bodyPr>
          <a:lstStyle/>
          <a:p>
            <a:pPr marL="0" indent="0">
              <a:lnSpc>
                <a:spcPct val="120000"/>
              </a:lnSpc>
              <a:buNone/>
            </a:pPr>
            <a:r>
              <a:rPr lang="ja-JP" altLang="en-US" sz="1800" dirty="0"/>
              <a:t>それぞれの課題に対して、７つの選択肢の中から３つの対応と、それぞれ誰に依頼するかを選ぶ</a:t>
            </a:r>
            <a:endParaRPr lang="en-US" altLang="ja-JP" sz="1800" dirty="0"/>
          </a:p>
        </p:txBody>
      </p:sp>
      <p:sp>
        <p:nvSpPr>
          <p:cNvPr id="5" name="コンテンツ プレースホルダー 2"/>
          <p:cNvSpPr txBox="1">
            <a:spLocks/>
          </p:cNvSpPr>
          <p:nvPr/>
        </p:nvSpPr>
        <p:spPr bwMode="auto">
          <a:xfrm>
            <a:off x="4662424" y="1483589"/>
            <a:ext cx="4260859" cy="50169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16531" indent="-316531" algn="l" rtl="0" eaLnBrk="1" fontAlgn="base" hangingPunct="1">
              <a:spcBef>
                <a:spcPct val="20000"/>
              </a:spcBef>
              <a:spcAft>
                <a:spcPct val="0"/>
              </a:spcAft>
              <a:buFont typeface="Wingdings" pitchFamily="2" charset="2"/>
              <a:buChar char="n"/>
              <a:defRPr kumimoji="1" sz="2400">
                <a:solidFill>
                  <a:srgbClr val="003399"/>
                </a:solidFill>
                <a:latin typeface="Meiryo UI" pitchFamily="50" charset="-128"/>
                <a:ea typeface="Meiryo UI" pitchFamily="50" charset="-128"/>
                <a:cs typeface="Meiryo UI" pitchFamily="50" charset="-128"/>
              </a:defRPr>
            </a:lvl1pPr>
            <a:lvl2pPr marL="685817" indent="-263776" algn="l" rtl="0" eaLnBrk="1" fontAlgn="base" hangingPunct="1">
              <a:spcBef>
                <a:spcPct val="20000"/>
              </a:spcBef>
              <a:spcAft>
                <a:spcPct val="0"/>
              </a:spcAft>
              <a:buChar char="–"/>
              <a:defRPr kumimoji="1" sz="2000">
                <a:solidFill>
                  <a:srgbClr val="003399"/>
                </a:solidFill>
                <a:latin typeface="Meiryo UI" pitchFamily="50" charset="-128"/>
                <a:ea typeface="Meiryo UI" pitchFamily="50" charset="-128"/>
                <a:cs typeface="Meiryo UI" pitchFamily="50" charset="-128"/>
              </a:defRPr>
            </a:lvl2pPr>
            <a:lvl3pPr marL="1055103" indent="-211021" algn="l" rtl="0" eaLnBrk="1" fontAlgn="base" hangingPunct="1">
              <a:spcBef>
                <a:spcPct val="20000"/>
              </a:spcBef>
              <a:spcAft>
                <a:spcPct val="0"/>
              </a:spcAft>
              <a:buChar char="•"/>
              <a:defRPr kumimoji="1" sz="1800">
                <a:solidFill>
                  <a:srgbClr val="003399"/>
                </a:solidFill>
                <a:latin typeface="Meiryo UI" pitchFamily="50" charset="-128"/>
                <a:ea typeface="Meiryo UI" pitchFamily="50" charset="-128"/>
                <a:cs typeface="Meiryo UI" pitchFamily="50" charset="-128"/>
              </a:defRPr>
            </a:lvl3pPr>
            <a:lvl4pPr marL="1477145" indent="-211021" algn="l" rtl="0" eaLnBrk="1" fontAlgn="base" hangingPunct="1">
              <a:spcBef>
                <a:spcPct val="20000"/>
              </a:spcBef>
              <a:spcAft>
                <a:spcPct val="0"/>
              </a:spcAft>
              <a:buChar char="–"/>
              <a:defRPr kumimoji="1" sz="1600">
                <a:solidFill>
                  <a:srgbClr val="003399"/>
                </a:solidFill>
                <a:latin typeface="Meiryo UI" pitchFamily="50" charset="-128"/>
                <a:ea typeface="Meiryo UI" pitchFamily="50" charset="-128"/>
                <a:cs typeface="Meiryo UI" pitchFamily="50" charset="-128"/>
              </a:defRPr>
            </a:lvl4pPr>
            <a:lvl5pPr marL="1899186" indent="-211021" algn="l" rtl="0" eaLnBrk="1" fontAlgn="base" hangingPunct="1">
              <a:spcBef>
                <a:spcPct val="20000"/>
              </a:spcBef>
              <a:spcAft>
                <a:spcPct val="0"/>
              </a:spcAft>
              <a:buChar char="»"/>
              <a:defRPr kumimoji="1" sz="1600">
                <a:solidFill>
                  <a:srgbClr val="003399"/>
                </a:solidFill>
                <a:latin typeface="Meiryo UI" pitchFamily="50" charset="-128"/>
                <a:ea typeface="Meiryo UI" pitchFamily="50" charset="-128"/>
                <a:cs typeface="Meiryo UI" pitchFamily="50" charset="-128"/>
              </a:defRPr>
            </a:lvl5pPr>
            <a:lvl6pPr marL="2321227" indent="-211021" algn="l" rtl="0" eaLnBrk="1" fontAlgn="base" hangingPunct="1">
              <a:spcBef>
                <a:spcPct val="20000"/>
              </a:spcBef>
              <a:spcAft>
                <a:spcPct val="0"/>
              </a:spcAft>
              <a:buChar char="»"/>
              <a:defRPr kumimoji="1" sz="1846">
                <a:solidFill>
                  <a:srgbClr val="003399"/>
                </a:solidFill>
                <a:latin typeface="+mn-lt"/>
                <a:ea typeface="+mn-ea"/>
              </a:defRPr>
            </a:lvl6pPr>
            <a:lvl7pPr marL="2743269" indent="-211021" algn="l" rtl="0" eaLnBrk="1" fontAlgn="base" hangingPunct="1">
              <a:spcBef>
                <a:spcPct val="20000"/>
              </a:spcBef>
              <a:spcAft>
                <a:spcPct val="0"/>
              </a:spcAft>
              <a:buChar char="»"/>
              <a:defRPr kumimoji="1" sz="1846">
                <a:solidFill>
                  <a:srgbClr val="003399"/>
                </a:solidFill>
                <a:latin typeface="+mn-lt"/>
                <a:ea typeface="+mn-ea"/>
              </a:defRPr>
            </a:lvl7pPr>
            <a:lvl8pPr marL="3165310" indent="-211021" algn="l" rtl="0" eaLnBrk="1" fontAlgn="base" hangingPunct="1">
              <a:spcBef>
                <a:spcPct val="20000"/>
              </a:spcBef>
              <a:spcAft>
                <a:spcPct val="0"/>
              </a:spcAft>
              <a:buChar char="»"/>
              <a:defRPr kumimoji="1" sz="1846">
                <a:solidFill>
                  <a:srgbClr val="003399"/>
                </a:solidFill>
                <a:latin typeface="+mn-lt"/>
                <a:ea typeface="+mn-ea"/>
              </a:defRPr>
            </a:lvl8pPr>
            <a:lvl9pPr marL="3587351" indent="-211021" algn="l" rtl="0" eaLnBrk="1" fontAlgn="base" hangingPunct="1">
              <a:spcBef>
                <a:spcPct val="20000"/>
              </a:spcBef>
              <a:spcAft>
                <a:spcPct val="0"/>
              </a:spcAft>
              <a:buChar char="»"/>
              <a:defRPr kumimoji="1" sz="1846">
                <a:solidFill>
                  <a:srgbClr val="003399"/>
                </a:solidFill>
                <a:latin typeface="+mn-lt"/>
                <a:ea typeface="+mn-ea"/>
              </a:defRPr>
            </a:lvl9pPr>
          </a:lstStyle>
          <a:p>
            <a:pPr marL="342900" indent="-342900">
              <a:lnSpc>
                <a:spcPct val="120000"/>
              </a:lnSpc>
              <a:buFont typeface="+mj-lt"/>
              <a:buAutoNum type="arabicPeriod" startAt="3"/>
            </a:pPr>
            <a:r>
              <a:rPr lang="ja-JP" altLang="en-US" sz="1800" kern="0" dirty="0" smtClean="0"/>
              <a:t>シャツの色がイメージと違うと</a:t>
            </a:r>
            <a:r>
              <a:rPr lang="en-US" altLang="ja-JP" sz="1800" kern="0" dirty="0" smtClean="0"/>
              <a:t>SNS</a:t>
            </a:r>
            <a:r>
              <a:rPr lang="ja-JP" altLang="en-US" sz="1800" kern="0" dirty="0" smtClean="0"/>
              <a:t>で評判が悪い</a:t>
            </a:r>
            <a:endParaRPr lang="en-US" altLang="ja-JP" sz="1800" kern="0" dirty="0" smtClean="0"/>
          </a:p>
          <a:p>
            <a:pPr marL="685800" lvl="1" indent="-342900">
              <a:lnSpc>
                <a:spcPct val="120000"/>
              </a:lnSpc>
              <a:buFont typeface="+mj-lt"/>
              <a:buAutoNum type="arabicPeriod"/>
            </a:pPr>
            <a:r>
              <a:rPr lang="ja-JP" altLang="en-US" sz="1600" kern="0" dirty="0" smtClean="0"/>
              <a:t>カスタマーコメントを調べる</a:t>
            </a:r>
            <a:endParaRPr lang="en-US" altLang="ja-JP" sz="1600" kern="0" dirty="0" smtClean="0"/>
          </a:p>
          <a:p>
            <a:pPr marL="685800" lvl="1" indent="-342900">
              <a:lnSpc>
                <a:spcPct val="120000"/>
              </a:lnSpc>
              <a:buFont typeface="+mj-lt"/>
              <a:buAutoNum type="arabicPeriod"/>
            </a:pPr>
            <a:r>
              <a:rPr lang="ja-JP" altLang="en-US" sz="1600" kern="0" dirty="0" smtClean="0"/>
              <a:t>特定の条件下で利用されていなかったか確認する</a:t>
            </a:r>
            <a:endParaRPr lang="en-US" altLang="ja-JP" sz="1600" kern="0" dirty="0" smtClean="0"/>
          </a:p>
          <a:p>
            <a:pPr marL="685800" lvl="1" indent="-342900">
              <a:lnSpc>
                <a:spcPct val="120000"/>
              </a:lnSpc>
              <a:buFont typeface="+mj-lt"/>
              <a:buAutoNum type="arabicPeriod"/>
            </a:pPr>
            <a:r>
              <a:rPr lang="ja-JP" altLang="en-US" sz="1600" kern="0" dirty="0" smtClean="0"/>
              <a:t>流行している世代の社員に聞き取り調査する</a:t>
            </a:r>
            <a:endParaRPr lang="en-US" altLang="ja-JP" sz="1600" kern="0" dirty="0" smtClean="0"/>
          </a:p>
          <a:p>
            <a:pPr marL="685800" lvl="1" indent="-342900">
              <a:lnSpc>
                <a:spcPct val="120000"/>
              </a:lnSpc>
              <a:buFont typeface="+mj-lt"/>
              <a:buAutoNum type="arabicPeriod"/>
            </a:pPr>
            <a:r>
              <a:rPr lang="ja-JP" altLang="en-US" sz="1600" kern="0" dirty="0" smtClean="0"/>
              <a:t>製造上の問題がなかったか確認する</a:t>
            </a:r>
            <a:endParaRPr lang="en-US" altLang="ja-JP" sz="1600" kern="0" dirty="0" smtClean="0"/>
          </a:p>
          <a:p>
            <a:pPr marL="685800" lvl="1" indent="-342900">
              <a:lnSpc>
                <a:spcPct val="120000"/>
              </a:lnSpc>
              <a:buFont typeface="+mj-lt"/>
              <a:buAutoNum type="arabicPeriod"/>
            </a:pPr>
            <a:r>
              <a:rPr lang="ja-JP" altLang="en-US" sz="1600" kern="0" dirty="0" smtClean="0"/>
              <a:t>他社の類似品を取り寄せて比較検討する</a:t>
            </a:r>
            <a:endParaRPr lang="en-US" altLang="ja-JP" sz="1600" kern="0" dirty="0" smtClean="0"/>
          </a:p>
          <a:p>
            <a:pPr marL="685800" lvl="1" indent="-342900">
              <a:lnSpc>
                <a:spcPct val="120000"/>
              </a:lnSpc>
              <a:buFont typeface="+mj-lt"/>
              <a:buAutoNum type="arabicPeriod"/>
            </a:pPr>
            <a:r>
              <a:rPr lang="ja-JP" altLang="en-US" sz="1600" kern="0" dirty="0" smtClean="0"/>
              <a:t>他</a:t>
            </a:r>
            <a:r>
              <a:rPr lang="en-US" altLang="ja-JP" sz="1600" kern="0" dirty="0" smtClean="0"/>
              <a:t>2</a:t>
            </a:r>
            <a:r>
              <a:rPr lang="ja-JP" altLang="en-US" sz="1600" kern="0" dirty="0" smtClean="0"/>
              <a:t>つ</a:t>
            </a:r>
            <a:endParaRPr lang="en-US" altLang="ja-JP" sz="1600" kern="0" dirty="0"/>
          </a:p>
        </p:txBody>
      </p:sp>
    </p:spTree>
    <p:extLst>
      <p:ext uri="{BB962C8B-B14F-4D97-AF65-F5344CB8AC3E}">
        <p14:creationId xmlns:p14="http://schemas.microsoft.com/office/powerpoint/2010/main" val="323886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ディスカッション</a:t>
            </a:r>
            <a:endParaRPr kumimoji="1" lang="ja-JP" altLang="en-US" dirty="0"/>
          </a:p>
        </p:txBody>
      </p:sp>
      <p:sp>
        <p:nvSpPr>
          <p:cNvPr id="5" name="コンテンツ プレースホルダー 4"/>
          <p:cNvSpPr>
            <a:spLocks noGrp="1"/>
          </p:cNvSpPr>
          <p:nvPr>
            <p:ph idx="1"/>
          </p:nvPr>
        </p:nvSpPr>
        <p:spPr/>
        <p:txBody>
          <a:bodyPr/>
          <a:lstStyle/>
          <a:p>
            <a:r>
              <a:rPr kumimoji="1" lang="ja-JP" altLang="en-US" dirty="0" smtClean="0"/>
              <a:t>アドバイス</a:t>
            </a:r>
            <a:r>
              <a:rPr lang="ja-JP" altLang="en-US" dirty="0" smtClean="0"/>
              <a:t>や質問など情報交換タイム</a:t>
            </a:r>
            <a:endParaRPr lang="en-US" altLang="ja-JP" dirty="0" smtClean="0"/>
          </a:p>
        </p:txBody>
      </p:sp>
    </p:spTree>
    <p:extLst>
      <p:ext uri="{BB962C8B-B14F-4D97-AF65-F5344CB8AC3E}">
        <p14:creationId xmlns:p14="http://schemas.microsoft.com/office/powerpoint/2010/main" val="331362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補足資料</a:t>
            </a:r>
            <a:endParaRPr kumimoji="1" lang="ja-JP" altLang="en-US" dirty="0"/>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35975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メモ</a:t>
            </a:r>
            <a:endParaRPr kumimoji="1" lang="ja-JP" altLang="en-US" dirty="0"/>
          </a:p>
        </p:txBody>
      </p:sp>
      <p:sp>
        <p:nvSpPr>
          <p:cNvPr id="5" name="コンテンツ プレースホルダー 4"/>
          <p:cNvSpPr>
            <a:spLocks noGrp="1"/>
          </p:cNvSpPr>
          <p:nvPr>
            <p:ph idx="1"/>
          </p:nvPr>
        </p:nvSpPr>
        <p:spPr/>
        <p:txBody>
          <a:bodyPr/>
          <a:lstStyle/>
          <a:p>
            <a:r>
              <a:rPr lang="ja-JP" altLang="en-US" dirty="0" smtClean="0"/>
              <a:t>重要な「</a:t>
            </a:r>
            <a:r>
              <a:rPr lang="ja-JP" altLang="en-US" dirty="0"/>
              <a:t>事象」は</a:t>
            </a:r>
            <a:r>
              <a:rPr lang="ja-JP" altLang="en-US" dirty="0" err="1" smtClean="0"/>
              <a:t>、、、、、</a:t>
            </a:r>
            <a:endParaRPr lang="en-US" altLang="ja-JP" dirty="0" smtClean="0"/>
          </a:p>
          <a:p>
            <a:pPr lvl="1"/>
            <a:r>
              <a:rPr lang="ja-JP" altLang="en-US" dirty="0" smtClean="0"/>
              <a:t>重要</a:t>
            </a:r>
            <a:r>
              <a:rPr lang="ja-JP" altLang="en-US" dirty="0"/>
              <a:t>な順に</a:t>
            </a:r>
            <a:r>
              <a:rPr lang="ja-JP" altLang="en-US" dirty="0" smtClean="0"/>
              <a:t>、</a:t>
            </a:r>
            <a:endParaRPr lang="ja-JP" altLang="en-US" dirty="0"/>
          </a:p>
          <a:p>
            <a:pPr lvl="1"/>
            <a:r>
              <a:rPr lang="ja-JP" altLang="en-US" dirty="0"/>
              <a:t>①人命などに関わる事象</a:t>
            </a:r>
            <a:r>
              <a:rPr lang="en-US" altLang="ja-JP" dirty="0"/>
              <a:t>(</a:t>
            </a:r>
            <a:r>
              <a:rPr lang="ja-JP" altLang="en-US" dirty="0"/>
              <a:t>例．製品が過熱、差別表現</a:t>
            </a:r>
            <a:r>
              <a:rPr lang="en-US" altLang="ja-JP" dirty="0"/>
              <a:t>)</a:t>
            </a:r>
            <a:r>
              <a:rPr lang="ja-JP" altLang="en-US" dirty="0" err="1"/>
              <a:t>。</a:t>
            </a:r>
            <a:endParaRPr lang="ja-JP" altLang="en-US" dirty="0"/>
          </a:p>
          <a:p>
            <a:pPr lvl="1"/>
            <a:r>
              <a:rPr lang="ja-JP" altLang="en-US" dirty="0"/>
              <a:t>②コンプライアンスに関わる事象</a:t>
            </a:r>
            <a:r>
              <a:rPr lang="en-US" altLang="ja-JP" dirty="0"/>
              <a:t>(</a:t>
            </a:r>
            <a:r>
              <a:rPr lang="ja-JP" altLang="en-US" dirty="0"/>
              <a:t>例．今後○</a:t>
            </a:r>
            <a:r>
              <a:rPr lang="en-US" altLang="ja-JP" dirty="0"/>
              <a:t>×</a:t>
            </a:r>
            <a:r>
              <a:rPr lang="ja-JP" altLang="en-US" dirty="0"/>
              <a:t>が禁止される</a:t>
            </a:r>
            <a:r>
              <a:rPr lang="en-US" altLang="ja-JP" dirty="0"/>
              <a:t>)</a:t>
            </a:r>
            <a:r>
              <a:rPr lang="ja-JP" altLang="en-US" dirty="0" err="1"/>
              <a:t>。</a:t>
            </a:r>
            <a:endParaRPr lang="ja-JP" altLang="en-US" dirty="0"/>
          </a:p>
          <a:p>
            <a:pPr lvl="1"/>
            <a:r>
              <a:rPr lang="ja-JP" altLang="en-US" dirty="0"/>
              <a:t>③大きなお金が動く「生産・販売」に関する事象</a:t>
            </a:r>
            <a:r>
              <a:rPr lang="en-US" altLang="ja-JP" dirty="0"/>
              <a:t>(</a:t>
            </a:r>
            <a:r>
              <a:rPr lang="ja-JP" altLang="en-US" dirty="0"/>
              <a:t>例．工場が止まった、原料が</a:t>
            </a:r>
            <a:r>
              <a:rPr lang="ja-JP" altLang="en-US" dirty="0" smtClean="0"/>
              <a:t>供給されない</a:t>
            </a:r>
            <a:r>
              <a:rPr lang="ja-JP" altLang="en-US" dirty="0"/>
              <a:t>、ホームページが分かりづらい</a:t>
            </a:r>
            <a:r>
              <a:rPr lang="en-US" altLang="ja-JP" dirty="0" smtClean="0"/>
              <a:t>)</a:t>
            </a:r>
            <a:endParaRPr lang="ja-JP" altLang="en-US" dirty="0"/>
          </a:p>
          <a:p>
            <a:pPr lvl="1"/>
            <a:endParaRPr kumimoji="1" lang="ja-JP" altLang="en-US" dirty="0"/>
          </a:p>
        </p:txBody>
      </p:sp>
    </p:spTree>
    <p:extLst>
      <p:ext uri="{BB962C8B-B14F-4D97-AF65-F5344CB8AC3E}">
        <p14:creationId xmlns:p14="http://schemas.microsoft.com/office/powerpoint/2010/main" val="3519324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参考　</a:t>
            </a:r>
            <a:r>
              <a:rPr kumimoji="1" lang="en-US" altLang="ja-JP" dirty="0" smtClean="0"/>
              <a:t>2021</a:t>
            </a:r>
            <a:endParaRPr kumimoji="1" lang="ja-JP" altLang="en-US" dirty="0"/>
          </a:p>
        </p:txBody>
      </p:sp>
      <p:sp>
        <p:nvSpPr>
          <p:cNvPr id="5" name="コンテンツ プレースホルダー 4"/>
          <p:cNvSpPr>
            <a:spLocks noGrp="1"/>
          </p:cNvSpPr>
          <p:nvPr>
            <p:ph idx="1"/>
          </p:nvPr>
        </p:nvSpPr>
        <p:spPr/>
        <p:txBody>
          <a:bodyPr/>
          <a:lstStyle/>
          <a:p>
            <a:r>
              <a:rPr lang="ja-JP" altLang="en-US" dirty="0"/>
              <a:t>配られるもの</a:t>
            </a:r>
            <a:endParaRPr lang="en-US" altLang="ja-JP" dirty="0"/>
          </a:p>
          <a:p>
            <a:pPr lvl="1"/>
            <a:r>
              <a:rPr lang="ja-JP" altLang="en-US" dirty="0"/>
              <a:t>①主人公の状況設定を説明する冊子</a:t>
            </a:r>
          </a:p>
          <a:p>
            <a:pPr lvl="1"/>
            <a:r>
              <a:rPr lang="ja-JP" altLang="en-US" dirty="0"/>
              <a:t>②問題冊子</a:t>
            </a:r>
          </a:p>
          <a:p>
            <a:pPr lvl="1"/>
            <a:r>
              <a:rPr lang="ja-JP" altLang="en-US" dirty="0"/>
              <a:t>③資料ファイル</a:t>
            </a:r>
            <a:r>
              <a:rPr lang="en-US" altLang="ja-JP" dirty="0"/>
              <a:t>(1</a:t>
            </a:r>
            <a:r>
              <a:rPr lang="ja-JP" altLang="en-US" dirty="0"/>
              <a:t>枚ずつの資料が</a:t>
            </a:r>
            <a:r>
              <a:rPr lang="en-US" altLang="ja-JP" dirty="0"/>
              <a:t>19</a:t>
            </a:r>
            <a:r>
              <a:rPr lang="ja-JP" altLang="en-US" dirty="0"/>
              <a:t>枚</a:t>
            </a:r>
            <a:r>
              <a:rPr lang="en-US" altLang="ja-JP" dirty="0"/>
              <a:t>)※</a:t>
            </a:r>
            <a:r>
              <a:rPr lang="ja-JP" altLang="en-US" dirty="0"/>
              <a:t>内容は</a:t>
            </a:r>
            <a:r>
              <a:rPr lang="en-US" altLang="ja-JP" dirty="0"/>
              <a:t>E</a:t>
            </a:r>
            <a:r>
              <a:rPr lang="ja-JP" altLang="en-US" dirty="0"/>
              <a:t>メールの文面など。</a:t>
            </a:r>
          </a:p>
          <a:p>
            <a:pPr lvl="1"/>
            <a:r>
              <a:rPr lang="ja-JP" altLang="en-US" dirty="0"/>
              <a:t>④回答を記入する</a:t>
            </a:r>
            <a:r>
              <a:rPr lang="ja-JP" altLang="en-US" dirty="0" smtClean="0"/>
              <a:t>マークシート</a:t>
            </a:r>
            <a:endParaRPr lang="en-US" altLang="ja-JP" dirty="0" smtClean="0"/>
          </a:p>
          <a:p>
            <a:r>
              <a:rPr lang="ja-JP" altLang="en-US" dirty="0" smtClean="0"/>
              <a:t>主人公の背景を読む（</a:t>
            </a:r>
            <a:r>
              <a:rPr lang="en-US" altLang="ja-JP" dirty="0" smtClean="0"/>
              <a:t>5</a:t>
            </a:r>
            <a:r>
              <a:rPr lang="ja-JP" altLang="en-US" dirty="0" smtClean="0"/>
              <a:t>分？）</a:t>
            </a:r>
            <a:endParaRPr lang="en-US" altLang="ja-JP" dirty="0" smtClean="0"/>
          </a:p>
          <a:p>
            <a:pPr marL="0" indent="0">
              <a:buNone/>
            </a:pPr>
            <a:r>
              <a:rPr lang="ja-JP" altLang="en-US" dirty="0" smtClean="0"/>
              <a:t>＜ここから回答タイム＞</a:t>
            </a:r>
            <a:endParaRPr lang="ja-JP" altLang="en-US" dirty="0"/>
          </a:p>
          <a:p>
            <a:r>
              <a:rPr lang="ja-JP" altLang="en-US" dirty="0" smtClean="0"/>
              <a:t>問</a:t>
            </a:r>
            <a:r>
              <a:rPr lang="en-US" altLang="ja-JP" dirty="0"/>
              <a:t>1</a:t>
            </a:r>
            <a:r>
              <a:rPr lang="ja-JP" altLang="en-US" dirty="0" smtClean="0"/>
              <a:t>：</a:t>
            </a:r>
            <a:r>
              <a:rPr lang="en-US" altLang="ja-JP" dirty="0" smtClean="0"/>
              <a:t>【</a:t>
            </a:r>
            <a:r>
              <a:rPr lang="ja-JP" altLang="en-US" dirty="0" smtClean="0"/>
              <a:t>課題発見：</a:t>
            </a:r>
            <a:r>
              <a:rPr lang="en-US" altLang="ja-JP" dirty="0" smtClean="0"/>
              <a:t>20</a:t>
            </a:r>
            <a:r>
              <a:rPr lang="ja-JP" altLang="en-US" dirty="0" smtClean="0"/>
              <a:t>分</a:t>
            </a:r>
            <a:r>
              <a:rPr lang="en-US" altLang="ja-JP" dirty="0" smtClean="0"/>
              <a:t>】</a:t>
            </a:r>
          </a:p>
          <a:p>
            <a:pPr lvl="1"/>
            <a:r>
              <a:rPr lang="en-US" altLang="ja-JP" dirty="0" smtClean="0"/>
              <a:t>18</a:t>
            </a:r>
            <a:r>
              <a:rPr lang="ja-JP" altLang="en-US" dirty="0"/>
              <a:t>件の案件から優先度の高い上位</a:t>
            </a:r>
            <a:r>
              <a:rPr lang="en-US" altLang="ja-JP" dirty="0"/>
              <a:t>6</a:t>
            </a:r>
            <a:r>
              <a:rPr lang="ja-JP" altLang="en-US" dirty="0"/>
              <a:t>件を選ぶ。</a:t>
            </a:r>
          </a:p>
          <a:p>
            <a:pPr lvl="2"/>
            <a:r>
              <a:rPr lang="ja-JP" altLang="en-US" dirty="0" smtClean="0"/>
              <a:t>選んだ</a:t>
            </a:r>
            <a:r>
              <a:rPr lang="ja-JP" altLang="en-US" dirty="0"/>
              <a:t>それぞれで関連する案件の番号を選ぶ</a:t>
            </a:r>
            <a:r>
              <a:rPr lang="ja-JP" altLang="en-US" dirty="0" smtClean="0"/>
              <a:t>。</a:t>
            </a:r>
            <a:endParaRPr lang="en-US" altLang="ja-JP" dirty="0" smtClean="0"/>
          </a:p>
          <a:p>
            <a:r>
              <a:rPr lang="ja-JP" altLang="en-US" dirty="0" smtClean="0"/>
              <a:t>問</a:t>
            </a:r>
            <a:r>
              <a:rPr lang="en-US" altLang="ja-JP" dirty="0"/>
              <a:t>2</a:t>
            </a:r>
            <a:r>
              <a:rPr lang="ja-JP" altLang="en-US" dirty="0" smtClean="0"/>
              <a:t>：</a:t>
            </a:r>
            <a:r>
              <a:rPr lang="en-US" altLang="ja-JP" dirty="0" smtClean="0"/>
              <a:t>【</a:t>
            </a:r>
            <a:r>
              <a:rPr lang="ja-JP" altLang="en-US" dirty="0" smtClean="0"/>
              <a:t>課題解決：</a:t>
            </a:r>
            <a:r>
              <a:rPr lang="en-US" altLang="ja-JP" dirty="0" smtClean="0"/>
              <a:t>15</a:t>
            </a:r>
            <a:r>
              <a:rPr lang="ja-JP" altLang="en-US" dirty="0" smtClean="0"/>
              <a:t>分</a:t>
            </a:r>
            <a:r>
              <a:rPr lang="en-US" altLang="ja-JP" dirty="0" smtClean="0"/>
              <a:t>】</a:t>
            </a:r>
          </a:p>
          <a:p>
            <a:pPr lvl="1"/>
            <a:r>
              <a:rPr lang="ja-JP" altLang="ja-JP" dirty="0"/>
              <a:t>「②問題冊子」に「課題」が</a:t>
            </a:r>
            <a:r>
              <a:rPr lang="en-US" altLang="ja-JP" dirty="0"/>
              <a:t>3</a:t>
            </a:r>
            <a:r>
              <a:rPr lang="ja-JP" altLang="ja-JP" dirty="0"/>
              <a:t>つ挙げられている</a:t>
            </a:r>
            <a:r>
              <a:rPr lang="ja-JP" altLang="ja-JP" dirty="0" smtClean="0"/>
              <a:t>。</a:t>
            </a:r>
            <a:r>
              <a:rPr lang="en-US" altLang="ja-JP" dirty="0" smtClean="0"/>
              <a:t>1</a:t>
            </a:r>
            <a:r>
              <a:rPr lang="ja-JP" altLang="ja-JP" dirty="0" err="1"/>
              <a:t>つの</a:t>
            </a:r>
            <a:r>
              <a:rPr lang="ja-JP" altLang="ja-JP" dirty="0"/>
              <a:t>課題ごとに「アクション」の選択肢が、</a:t>
            </a:r>
            <a:r>
              <a:rPr lang="en-US" altLang="ja-JP" dirty="0"/>
              <a:t>8</a:t>
            </a:r>
            <a:r>
              <a:rPr lang="ja-JP" altLang="ja-JP" dirty="0"/>
              <a:t>つくらい挙げられている。その中から、「状況を把握する」といつた「アクション」を</a:t>
            </a:r>
            <a:r>
              <a:rPr lang="en-US" altLang="ja-JP" dirty="0"/>
              <a:t>3</a:t>
            </a:r>
            <a:r>
              <a:rPr lang="ja-JP" altLang="ja-JP" dirty="0"/>
              <a:t>つ</a:t>
            </a:r>
            <a:r>
              <a:rPr lang="ja-JP" altLang="ja-JP" dirty="0" smtClean="0"/>
              <a:t>選ぶ</a:t>
            </a:r>
            <a:endParaRPr lang="en-US" altLang="ja-JP" dirty="0" smtClean="0"/>
          </a:p>
          <a:p>
            <a:pPr lvl="1"/>
            <a:r>
              <a:rPr lang="en-US" altLang="ja-JP" dirty="0"/>
              <a:t>1</a:t>
            </a:r>
            <a:r>
              <a:rPr lang="ja-JP" altLang="ja-JP" dirty="0"/>
              <a:t>つの「アクション」ごとに、「担当</a:t>
            </a:r>
            <a:r>
              <a:rPr lang="en-US" altLang="ja-JP" dirty="0"/>
              <a:t>(</a:t>
            </a:r>
            <a:r>
              <a:rPr lang="ja-JP" altLang="ja-JP" dirty="0"/>
              <a:t>部署または人</a:t>
            </a:r>
            <a:r>
              <a:rPr lang="en-US" altLang="ja-JP" dirty="0"/>
              <a:t>)</a:t>
            </a:r>
            <a:r>
              <a:rPr lang="ja-JP" altLang="ja-JP" dirty="0"/>
              <a:t>」の選択肢が、</a:t>
            </a:r>
            <a:r>
              <a:rPr lang="en-US" altLang="ja-JP" dirty="0"/>
              <a:t>5</a:t>
            </a:r>
            <a:r>
              <a:rPr lang="ja-JP" altLang="ja-JP" dirty="0"/>
              <a:t>つくらい挙げられている。その中から、最も適した「担当」を</a:t>
            </a:r>
            <a:r>
              <a:rPr lang="en-US" altLang="ja-JP" dirty="0"/>
              <a:t>1</a:t>
            </a:r>
            <a:r>
              <a:rPr lang="ja-JP" altLang="ja-JP" dirty="0"/>
              <a:t>つ選ぶ。</a:t>
            </a:r>
            <a:endParaRPr lang="ja-JP" altLang="en-US" dirty="0"/>
          </a:p>
        </p:txBody>
      </p:sp>
      <p:sp>
        <p:nvSpPr>
          <p:cNvPr id="2" name="正方形/長方形 1"/>
          <p:cNvSpPr/>
          <p:nvPr/>
        </p:nvSpPr>
        <p:spPr>
          <a:xfrm>
            <a:off x="4876223" y="3022160"/>
            <a:ext cx="4073813" cy="830997"/>
          </a:xfrm>
          <a:prstGeom prst="rect">
            <a:avLst/>
          </a:prstGeom>
        </p:spPr>
        <p:txBody>
          <a:bodyPr wrap="square">
            <a:spAutoFit/>
          </a:bodyPr>
          <a:lstStyle/>
          <a:p>
            <a:r>
              <a:rPr lang="en-US" altLang="ja-JP" dirty="0"/>
              <a:t>※</a:t>
            </a:r>
            <a:r>
              <a:rPr lang="ja-JP" altLang="en-US" dirty="0"/>
              <a:t>今回も２つの問題</a:t>
            </a:r>
            <a:r>
              <a:rPr lang="ja-JP" altLang="en-US" dirty="0" smtClean="0"/>
              <a:t>構成</a:t>
            </a:r>
            <a:endParaRPr lang="en-US" altLang="ja-JP" dirty="0" smtClean="0"/>
          </a:p>
          <a:p>
            <a:r>
              <a:rPr lang="ja-JP" altLang="en-US" dirty="0" smtClean="0"/>
              <a:t>（</a:t>
            </a:r>
            <a:r>
              <a:rPr lang="ja-JP" altLang="en-US" dirty="0"/>
              <a:t>計算問題と会話問題はなし）</a:t>
            </a:r>
          </a:p>
        </p:txBody>
      </p:sp>
    </p:spTree>
    <p:extLst>
      <p:ext uri="{BB962C8B-B14F-4D97-AF65-F5344CB8AC3E}">
        <p14:creationId xmlns:p14="http://schemas.microsoft.com/office/powerpoint/2010/main" val="3613921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参考　</a:t>
            </a:r>
            <a:r>
              <a:rPr kumimoji="1" lang="en-US" altLang="ja-JP" dirty="0" smtClean="0"/>
              <a:t>2021</a:t>
            </a:r>
            <a:endParaRPr kumimoji="1" lang="ja-JP" altLang="en-US" dirty="0"/>
          </a:p>
        </p:txBody>
      </p:sp>
      <p:sp>
        <p:nvSpPr>
          <p:cNvPr id="5" name="コンテンツ プレースホルダー 4"/>
          <p:cNvSpPr>
            <a:spLocks noGrp="1"/>
          </p:cNvSpPr>
          <p:nvPr>
            <p:ph idx="1"/>
          </p:nvPr>
        </p:nvSpPr>
        <p:spPr/>
        <p:txBody>
          <a:bodyPr/>
          <a:lstStyle/>
          <a:p>
            <a:pPr lvl="1"/>
            <a:r>
              <a:rPr lang="ja-JP" altLang="en-US" dirty="0" smtClean="0"/>
              <a:t>主人公</a:t>
            </a:r>
            <a:r>
              <a:rPr lang="ja-JP" altLang="en-US" dirty="0"/>
              <a:t>：さわやか飲料</a:t>
            </a:r>
            <a:r>
              <a:rPr lang="en-US" altLang="ja-JP" dirty="0"/>
              <a:t>(</a:t>
            </a:r>
            <a:r>
              <a:rPr lang="ja-JP" altLang="en-US" dirty="0"/>
              <a:t>株</a:t>
            </a:r>
            <a:r>
              <a:rPr lang="en-US" altLang="ja-JP" dirty="0"/>
              <a:t>)</a:t>
            </a:r>
            <a:r>
              <a:rPr lang="ja-JP" altLang="en-US" dirty="0"/>
              <a:t>の開発第一課</a:t>
            </a:r>
          </a:p>
          <a:p>
            <a:pPr lvl="2"/>
            <a:r>
              <a:rPr lang="ja-JP" altLang="en-US" dirty="0" smtClean="0"/>
              <a:t>お茶</a:t>
            </a:r>
            <a:r>
              <a:rPr lang="ja-JP" altLang="en-US" dirty="0"/>
              <a:t>や炭酸飲料を扱う商品開発部所属で、販売中の製品５～６個</a:t>
            </a:r>
            <a:r>
              <a:rPr lang="ja-JP" altLang="en-US" dirty="0" smtClean="0"/>
              <a:t>と新製品</a:t>
            </a:r>
            <a:r>
              <a:rPr lang="en-US" altLang="ja-JP" dirty="0"/>
              <a:t>2</a:t>
            </a:r>
            <a:r>
              <a:rPr lang="ja-JP" altLang="en-US" dirty="0"/>
              <a:t>つくらいを担当</a:t>
            </a:r>
          </a:p>
          <a:p>
            <a:pPr lvl="1"/>
            <a:r>
              <a:rPr lang="ja-JP" altLang="en-US" dirty="0" smtClean="0"/>
              <a:t>案件例</a:t>
            </a:r>
            <a:endParaRPr lang="ja-JP" altLang="en-US" dirty="0"/>
          </a:p>
          <a:p>
            <a:pPr lvl="2"/>
            <a:r>
              <a:rPr lang="ja-JP" altLang="en-US" dirty="0" smtClean="0"/>
              <a:t>厚生</a:t>
            </a:r>
            <a:r>
              <a:rPr lang="ja-JP" altLang="en-US" dirty="0"/>
              <a:t>労働省の規格が変わることにより、現在市場</a:t>
            </a:r>
            <a:r>
              <a:rPr lang="ja-JP" altLang="en-US" dirty="0" smtClean="0"/>
              <a:t>に出回って</a:t>
            </a:r>
            <a:r>
              <a:rPr lang="ja-JP" altLang="en-US" dirty="0"/>
              <a:t>いる製品や新製品に影響があるかもしれないので</a:t>
            </a:r>
            <a:r>
              <a:rPr lang="ja-JP" altLang="en-US" dirty="0" smtClean="0"/>
              <a:t>、検討</a:t>
            </a:r>
            <a:r>
              <a:rPr lang="ja-JP" altLang="en-US" dirty="0"/>
              <a:t>してください。</a:t>
            </a:r>
          </a:p>
          <a:p>
            <a:pPr lvl="2"/>
            <a:r>
              <a:rPr lang="en-US" altLang="ja-JP" dirty="0" smtClean="0"/>
              <a:t>SNS</a:t>
            </a:r>
            <a:r>
              <a:rPr lang="ja-JP" altLang="en-US" dirty="0"/>
              <a:t>でコメントに対して、女性蔑視などの批判が相次いでいる</a:t>
            </a:r>
            <a:r>
              <a:rPr lang="ja-JP" altLang="en-US" dirty="0" smtClean="0"/>
              <a:t>。対応</a:t>
            </a:r>
            <a:r>
              <a:rPr lang="ja-JP" altLang="en-US" dirty="0"/>
              <a:t>を検討してください。</a:t>
            </a:r>
          </a:p>
          <a:p>
            <a:pPr lvl="2"/>
            <a:r>
              <a:rPr lang="ja-JP" altLang="en-US" dirty="0" smtClean="0"/>
              <a:t>タイ</a:t>
            </a:r>
            <a:r>
              <a:rPr lang="ja-JP" altLang="en-US" dirty="0"/>
              <a:t>でデモが発生し、新製品の原料調達が難しく</a:t>
            </a:r>
            <a:r>
              <a:rPr lang="ja-JP" altLang="en-US" dirty="0" smtClean="0"/>
              <a:t>、 発売</a:t>
            </a:r>
            <a:r>
              <a:rPr lang="ja-JP" altLang="en-US" dirty="0"/>
              <a:t>に間に合わないかもしれない。</a:t>
            </a:r>
          </a:p>
          <a:p>
            <a:pPr lvl="2"/>
            <a:r>
              <a:rPr lang="ja-JP" altLang="en-US" dirty="0" smtClean="0"/>
              <a:t>現行の</a:t>
            </a:r>
            <a:r>
              <a:rPr lang="ja-JP" altLang="en-US" dirty="0"/>
              <a:t>製品</a:t>
            </a:r>
            <a:r>
              <a:rPr lang="en-US" altLang="ja-JP" dirty="0"/>
              <a:t>3</a:t>
            </a:r>
            <a:r>
              <a:rPr lang="ja-JP" altLang="en-US" dirty="0"/>
              <a:t>と製品</a:t>
            </a:r>
            <a:r>
              <a:rPr lang="en-US" altLang="ja-JP" dirty="0"/>
              <a:t>5</a:t>
            </a:r>
            <a:r>
              <a:rPr lang="ja-JP" altLang="en-US" dirty="0"/>
              <a:t>にお客様からクレームが届いている</a:t>
            </a:r>
            <a:r>
              <a:rPr lang="ja-JP" altLang="en-US" dirty="0" smtClean="0"/>
              <a:t>。    </a:t>
            </a:r>
            <a:r>
              <a:rPr lang="ja-JP" altLang="en-US" dirty="0"/>
              <a:t>その中には金属みたいな味がするというクレームがあった。</a:t>
            </a:r>
            <a:endParaRPr kumimoji="1" lang="ja-JP" altLang="en-US" dirty="0"/>
          </a:p>
        </p:txBody>
      </p:sp>
    </p:spTree>
    <p:extLst>
      <p:ext uri="{BB962C8B-B14F-4D97-AF65-F5344CB8AC3E}">
        <p14:creationId xmlns:p14="http://schemas.microsoft.com/office/powerpoint/2010/main" val="4125468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dirty="0" smtClean="0"/>
              <a:t>2018</a:t>
            </a:r>
            <a:r>
              <a:rPr lang="ja-JP" altLang="en-US" dirty="0"/>
              <a:t>～</a:t>
            </a:r>
            <a:r>
              <a:rPr lang="en-US" altLang="ja-JP" dirty="0" smtClean="0"/>
              <a:t>2020</a:t>
            </a:r>
            <a:r>
              <a:rPr lang="ja-JP" altLang="en-US" dirty="0" smtClean="0"/>
              <a:t>年の過去問レビュー</a:t>
            </a:r>
            <a:endParaRPr lang="en-US" altLang="ja-JP" dirty="0"/>
          </a:p>
        </p:txBody>
      </p:sp>
      <p:sp>
        <p:nvSpPr>
          <p:cNvPr id="5" name="コンテンツ プレースホルダー 4"/>
          <p:cNvSpPr>
            <a:spLocks noGrp="1"/>
          </p:cNvSpPr>
          <p:nvPr>
            <p:ph idx="1"/>
          </p:nvPr>
        </p:nvSpPr>
        <p:spPr/>
        <p:txBody>
          <a:bodyPr/>
          <a:lstStyle/>
          <a:p>
            <a:r>
              <a:rPr lang="ja-JP" altLang="en-US" sz="1800" dirty="0" smtClean="0"/>
              <a:t>設問</a:t>
            </a:r>
            <a:r>
              <a:rPr lang="en-US" altLang="ja-JP" sz="1800" dirty="0" smtClean="0"/>
              <a:t>1</a:t>
            </a:r>
            <a:r>
              <a:rPr lang="ja-JP" altLang="en-US" sz="1800" dirty="0" smtClean="0"/>
              <a:t>～</a:t>
            </a:r>
            <a:r>
              <a:rPr lang="en-US" altLang="ja-JP" sz="1800" dirty="0" smtClean="0"/>
              <a:t>4</a:t>
            </a:r>
            <a:r>
              <a:rPr lang="ja-JP" altLang="en-US" sz="1800" dirty="0" smtClean="0"/>
              <a:t>の概要</a:t>
            </a:r>
            <a:endParaRPr lang="en-US" altLang="ja-JP" sz="1800" dirty="0" smtClean="0"/>
          </a:p>
          <a:p>
            <a:pPr lvl="1"/>
            <a:r>
              <a:rPr lang="ja-JP" altLang="en-US" sz="1600" dirty="0" smtClean="0"/>
              <a:t>設問ごとに制限時間があります</a:t>
            </a:r>
            <a:endParaRPr lang="en-US" altLang="ja-JP" sz="1600" dirty="0" smtClean="0"/>
          </a:p>
          <a:p>
            <a:r>
              <a:rPr lang="ja-JP" altLang="en-US" sz="1800" dirty="0" smtClean="0"/>
              <a:t>設問</a:t>
            </a:r>
            <a:r>
              <a:rPr lang="en-US" altLang="ja-JP" sz="1800" dirty="0" smtClean="0"/>
              <a:t>1</a:t>
            </a:r>
          </a:p>
          <a:p>
            <a:pPr lvl="1"/>
            <a:r>
              <a:rPr lang="ja-JP" altLang="en-US" sz="1600" dirty="0" smtClean="0"/>
              <a:t>判断基準は何ですか、どのように分類しますか</a:t>
            </a:r>
            <a:endParaRPr lang="en-US" altLang="ja-JP" sz="1600" dirty="0" smtClean="0"/>
          </a:p>
          <a:p>
            <a:pPr lvl="1"/>
            <a:r>
              <a:rPr lang="ja-JP" altLang="en-US" sz="1600" dirty="0" smtClean="0"/>
              <a:t>何を優先させますか</a:t>
            </a:r>
            <a:endParaRPr lang="en-US" altLang="ja-JP" sz="1600" dirty="0" smtClean="0"/>
          </a:p>
          <a:p>
            <a:pPr lvl="1"/>
            <a:r>
              <a:rPr lang="ja-JP" altLang="en-US" sz="1600" dirty="0" smtClean="0"/>
              <a:t>期限がすぐの案件、重要な案件のどちらを優先させますか</a:t>
            </a:r>
            <a:endParaRPr lang="en-US" altLang="ja-JP" sz="1600" dirty="0" smtClean="0"/>
          </a:p>
          <a:p>
            <a:pPr lvl="1"/>
            <a:r>
              <a:rPr lang="ja-JP" altLang="en-US" sz="1600" dirty="0" smtClean="0"/>
              <a:t>関係する案件は</a:t>
            </a:r>
            <a:r>
              <a:rPr lang="en-US" altLang="ja-JP" sz="1600" dirty="0" smtClean="0"/>
              <a:t>1</a:t>
            </a:r>
            <a:r>
              <a:rPr lang="ja-JP" altLang="en-US" sz="1600" dirty="0" smtClean="0"/>
              <a:t>件とは限らず、複数の場合もあります</a:t>
            </a:r>
            <a:endParaRPr lang="en-US" altLang="ja-JP" sz="1600" dirty="0" smtClean="0"/>
          </a:p>
          <a:p>
            <a:r>
              <a:rPr lang="ja-JP" altLang="en-US" sz="1800" dirty="0" smtClean="0"/>
              <a:t>設問</a:t>
            </a:r>
            <a:r>
              <a:rPr lang="en-US" altLang="ja-JP" sz="1800" dirty="0" smtClean="0"/>
              <a:t>2</a:t>
            </a:r>
          </a:p>
          <a:p>
            <a:pPr lvl="1"/>
            <a:r>
              <a:rPr lang="ja-JP" altLang="en-US" sz="1600" dirty="0" smtClean="0"/>
              <a:t>関連部署、自部門内はどのような関係でしょうか</a:t>
            </a:r>
            <a:endParaRPr lang="en-US" altLang="ja-JP" sz="1600" dirty="0" smtClean="0"/>
          </a:p>
          <a:p>
            <a:pPr lvl="1"/>
            <a:r>
              <a:rPr lang="ja-JP" altLang="en-US" sz="1600" dirty="0" smtClean="0"/>
              <a:t>関連部署、自部門の依頼先は誰でしょうか</a:t>
            </a:r>
            <a:endParaRPr lang="en-US" altLang="ja-JP" sz="1600" dirty="0" smtClean="0"/>
          </a:p>
          <a:p>
            <a:pPr lvl="1"/>
            <a:r>
              <a:rPr lang="ja-JP" altLang="en-US" sz="1600" dirty="0" smtClean="0"/>
              <a:t>あなたが行う案件はどのようなものでしょうか</a:t>
            </a:r>
            <a:endParaRPr lang="en-US" altLang="ja-JP" sz="1600" dirty="0" smtClean="0"/>
          </a:p>
          <a:p>
            <a:pPr lvl="1"/>
            <a:r>
              <a:rPr lang="ja-JP" altLang="en-US" sz="1600" dirty="0" smtClean="0"/>
              <a:t>上司が行う案件はどのようなものでしょうか、リーダー、課長、部長の使い分けは？</a:t>
            </a:r>
            <a:endParaRPr lang="en-US" altLang="ja-JP" sz="1600" dirty="0" smtClean="0"/>
          </a:p>
          <a:p>
            <a:r>
              <a:rPr lang="ja-JP" altLang="en-US" sz="1800" dirty="0" smtClean="0"/>
              <a:t>設問</a:t>
            </a:r>
            <a:r>
              <a:rPr lang="en-US" altLang="ja-JP" sz="1800" dirty="0" smtClean="0"/>
              <a:t>3</a:t>
            </a:r>
          </a:p>
          <a:p>
            <a:pPr lvl="1"/>
            <a:r>
              <a:rPr lang="ja-JP" altLang="en-US" sz="1600" dirty="0" smtClean="0"/>
              <a:t>制約条件は何でしょうか、何を優先させますか</a:t>
            </a:r>
            <a:endParaRPr lang="en-US" altLang="ja-JP" sz="1600" dirty="0" smtClean="0"/>
          </a:p>
          <a:p>
            <a:pPr lvl="1"/>
            <a:r>
              <a:rPr lang="ja-JP" altLang="en-US" sz="1600" dirty="0" smtClean="0"/>
              <a:t>最適化問題はどのように解きますか</a:t>
            </a:r>
            <a:endParaRPr lang="en-US" altLang="ja-JP" sz="1600" dirty="0" smtClean="0"/>
          </a:p>
          <a:p>
            <a:pPr lvl="1"/>
            <a:r>
              <a:rPr lang="ja-JP" altLang="en-US" sz="1600" dirty="0" smtClean="0"/>
              <a:t>優先順位に基づいた数値にできるでしょうか（問</a:t>
            </a:r>
            <a:r>
              <a:rPr lang="en-US" altLang="ja-JP" sz="1600" dirty="0" smtClean="0"/>
              <a:t>1</a:t>
            </a:r>
            <a:r>
              <a:rPr lang="ja-JP" altLang="en-US" sz="1600" dirty="0" smtClean="0"/>
              <a:t>と問</a:t>
            </a:r>
            <a:r>
              <a:rPr lang="en-US" altLang="ja-JP" sz="1600" dirty="0" smtClean="0"/>
              <a:t>2</a:t>
            </a:r>
            <a:r>
              <a:rPr lang="ja-JP" altLang="en-US" sz="1600" dirty="0" smtClean="0"/>
              <a:t>の関係をどうしますか）</a:t>
            </a:r>
            <a:endParaRPr lang="en-US" altLang="ja-JP" sz="1600" dirty="0" smtClean="0"/>
          </a:p>
          <a:p>
            <a:r>
              <a:rPr lang="ja-JP" altLang="en-US" sz="1800" dirty="0" smtClean="0"/>
              <a:t>設問</a:t>
            </a:r>
            <a:r>
              <a:rPr lang="en-US" altLang="ja-JP" sz="1800" dirty="0" smtClean="0"/>
              <a:t>4</a:t>
            </a:r>
          </a:p>
          <a:p>
            <a:pPr lvl="1"/>
            <a:r>
              <a:rPr lang="ja-JP" altLang="en-US" sz="1600" dirty="0" smtClean="0"/>
              <a:t>どのような内容を報告しますか</a:t>
            </a:r>
            <a:endParaRPr lang="en-US" altLang="ja-JP" sz="1600" dirty="0" smtClean="0"/>
          </a:p>
          <a:p>
            <a:pPr lvl="1"/>
            <a:r>
              <a:rPr lang="ja-JP" altLang="en-US" sz="1600" dirty="0" smtClean="0"/>
              <a:t>意見を主張しますか、傾聴に徹しますか</a:t>
            </a:r>
            <a:endParaRPr lang="en-US" altLang="ja-JP" sz="1600" dirty="0" smtClean="0"/>
          </a:p>
          <a:p>
            <a:pPr lvl="1"/>
            <a:r>
              <a:rPr lang="ja-JP" altLang="en-US" sz="1600" dirty="0" smtClean="0"/>
              <a:t>してはいけない発言はどのようなものでしょうか</a:t>
            </a:r>
            <a:endParaRPr lang="en-US" altLang="ja-JP" sz="1600" dirty="0" smtClean="0"/>
          </a:p>
        </p:txBody>
      </p:sp>
    </p:spTree>
    <p:extLst>
      <p:ext uri="{BB962C8B-B14F-4D97-AF65-F5344CB8AC3E}">
        <p14:creationId xmlns:p14="http://schemas.microsoft.com/office/powerpoint/2010/main" val="272847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436907469"/>
      </p:ext>
    </p:extLst>
  </p:cSld>
  <p:clrMapOvr>
    <a:masterClrMapping/>
  </p:clrMapOvr>
</p:sld>
</file>

<file path=ppt/theme/theme1.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003399"/>
          </a:solidFill>
        </a:ln>
      </a:spPr>
      <a:bodyPr rtlCol="0" anchor="ctr"/>
      <a:lstStyle>
        <a:defPPr algn="ctr">
          <a:defRPr kumimoji="1" sz="2000" dirty="0" smtClean="0">
            <a:solidFill>
              <a:srgbClr val="003399"/>
            </a:solidFill>
            <a:latin typeface="Meiryo UI" pitchFamily="50" charset="-128"/>
            <a:ea typeface="Meiryo UI" pitchFamily="50" charset="-128"/>
            <a:cs typeface="Meiryo UI"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00339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smtClean="0">
            <a:solidFill>
              <a:srgbClr val="003399"/>
            </a:solidFill>
            <a:latin typeface="Meiryo UI" pitchFamily="50" charset="-128"/>
            <a:ea typeface="Meiryo UI" pitchFamily="50" charset="-128"/>
            <a:cs typeface="Meiryo UI" pitchFamily="50" charset="-128"/>
          </a:defRPr>
        </a:defPPr>
      </a:lstStyle>
    </a:txDef>
  </a:objectDefaults>
  <a:extraClrSchemeLst>
    <a:extraClrScheme>
      <a:clrScheme name="ブルー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ブルー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ブルー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ブルー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ブルー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ブルー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ブルー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中計検討_プリンティング_20180725.pptx" id="{EBF903B6-A3E2-4196-B057-CA826D888840}" vid="{9CC292E1-871F-4A6C-95E0-352E70E629F7}"/>
    </a:ext>
  </a:extLst>
</a:theme>
</file>

<file path=docProps/app.xml><?xml version="1.0" encoding="utf-8"?>
<Properties xmlns="http://schemas.openxmlformats.org/officeDocument/2006/extended-properties" xmlns:vt="http://schemas.openxmlformats.org/officeDocument/2006/docPropsVTypes">
  <Template>本部テンプレート</Template>
  <TotalTime>1354</TotalTime>
  <Words>1336</Words>
  <Application>Microsoft Office PowerPoint</Application>
  <PresentationFormat>画面に合わせる (4:3)</PresentationFormat>
  <Paragraphs>134</Paragraphs>
  <Slides>13</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13</vt:i4>
      </vt:variant>
    </vt:vector>
  </HeadingPairs>
  <TitlesOfParts>
    <vt:vector size="21" baseType="lpstr">
      <vt:lpstr>Meiryo UI</vt:lpstr>
      <vt:lpstr>ＭＳ Ｐゴシック</vt:lpstr>
      <vt:lpstr>MS UI Gothic</vt:lpstr>
      <vt:lpstr>Arial</vt:lpstr>
      <vt:lpstr>Arial Narrow</vt:lpstr>
      <vt:lpstr>Times New Roman</vt:lpstr>
      <vt:lpstr>Wingdings</vt:lpstr>
      <vt:lpstr>blank</vt:lpstr>
      <vt:lpstr>勉強会（インバスケットに関する共有）</vt:lpstr>
      <vt:lpstr>インバスケット</vt:lpstr>
      <vt:lpstr>どんな問題？</vt:lpstr>
      <vt:lpstr>2022インバスケット問題</vt:lpstr>
      <vt:lpstr>問1：分析</vt:lpstr>
      <vt:lpstr>問２：判断</vt:lpstr>
      <vt:lpstr>ディスカッション</vt:lpstr>
      <vt:lpstr>補足資料</vt:lpstr>
      <vt:lpstr>メモ</vt:lpstr>
      <vt:lpstr>参考　2021</vt:lpstr>
      <vt:lpstr>参考　2021</vt:lpstr>
      <vt:lpstr>2018～2020年の過去問レビュー</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インバスケット</dc:title>
  <dc:creator>033237</dc:creator>
  <cp:lastModifiedBy>032838</cp:lastModifiedBy>
  <cp:revision>35</cp:revision>
  <dcterms:created xsi:type="dcterms:W3CDTF">2019-08-02T03:48:31Z</dcterms:created>
  <dcterms:modified xsi:type="dcterms:W3CDTF">2023-07-31T23:11:17Z</dcterms:modified>
</cp:coreProperties>
</file>